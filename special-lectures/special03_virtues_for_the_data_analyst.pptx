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 id="272" r:id="rId23"/>
    <p:sldId id="273" r:id="rId24"/>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Special lecture 3: Virtues for the Data Analyst. We will go through how AI is changing what clients need from analysts, why technical skill alone no longer sets an analyst apart, and how four classic virtues (courage, wisdom, justice and restraint) describe what makes an analyst valuable.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how analytics used to work. A client or stakeholder had a need involving numbers and data, so they found an expert who understood both the domain and the quantitative methods. The expert worked with the client to define what could be answered with the resources available, ran the analysis with tools the client never saw, made sure the result was right, delivered a report and explained it in conversation. With AI, a growing number of clients skip the expert. They ask an AI tool, which runs the analysis, writes the report and even offers an interpretation. Now the AI is the black box, and the results get used or ignored with no one accountable for whether they're right. There's a better version: an expert works with both the client and the AI tools to align on the need, use resources well and produce a result, then makes sure it's correct and explains it in dialogue with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Expertise still matters. A quality result needs someone who understands the data, the methods and the domain. But if that expertise stays hidden from the client, it looks exactly like what an AI tool offers, and the client will choose the cheaper option. Expertise has to be integrated with the client's work: bringing insight, ensuring quality and helping with technical questions. Those are the same skills that already make good analysts valuable. Technical skills are necessary, but they create value only when combined with professional skills. Those are mostly soft skills that technical training doesn't consistently teach. I'd call them virtues.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Virtues are character traits, or dispositions, that help a person live well and act rightly. Unlike rules, which tell you what to do in a given case, virtues are habits you cultivate until they naturally incline you toward the good. This tradition comes from Aristotle and was developed by Thomas Aquinas. The four cardinal virtues are fortitude, or courage; prudence, or practical wisdom; justice; and temperance, or restraint. They are called cardinal because the others hinge on them. We can adapt them to describe what makes an analyst valuable in the age of 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Courage is the willingness to engage with technical complexity that's hard to understand, rather than avoiding it or handing it off to a tool you can't check. Wisdom is the ability to find the insights that matter and deliver value based on the client's context. Justice is always pursuing what is fair and accurate, whether or not it reflects well on you. Restraint is staying focused on what we need to know, not on what we find interesting.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Courage looks like starting a new technical skill when it's uncomfortable, and working through difficult concepts rather than skipping past them. Wisdom looks like applying results in ways the client actually values, and knowing when to say no to an analysis that won't help. Justice looks like admitting when something is wrong, including your own work, and doing an analysis the right way even when it's not the way you'd prefer. Restraint looks like knowing when a deep dive is worth it and when to leave it alone, and doing the job the client needs even when there's a different job you'd rather do.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Earlier in the course we said that all data problems are human problems. The other side is that all data needs are human needs. Behind every request is a person trying to make a decision. AI can supply capability, but not character. As Aristotle put it, virtue is a human thing: an excellence built through practice, and something only people bring. Courage, wisdom, justice and restraint are what make an analyst worth keeping in the loop. Like any virtue, they grow by practicing them, project by project.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write an answer drawn from their own experience and career, then ask two or three to share. Connect their examples back to this seminar's content. In an online section, post the same question to the discussion 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Week 14: Virtues for the Data Analyst</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Special Lecture 3</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work is changing</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Then: an expert does the analysis; the method is a black box</a:t>
            </a:r>
            <a:endParaRPr lang="en-US" sz="2400" dirty="0"/>
          </a:p>
          <a:p>
            <a:pPr algn="l" marL="342900" indent="-342900">
              <a:spcAft>
                <a:spcPts val="1000"/>
              </a:spcAft>
              <a:buSzPct val="100000"/>
              <a:buChar char="•"/>
            </a:pPr>
            <a:r>
              <a:rPr lang="en-US" sz="2400" dirty="0">
                <a:solidFill>
                  <a:srgbClr val="FFFFFF"/>
                </a:solidFill>
              </a:rPr>
              <a:t>Now: a client asks an AI tool; the AI is the black box</a:t>
            </a:r>
            <a:endParaRPr lang="en-US" sz="2400" dirty="0"/>
          </a:p>
          <a:p>
            <a:pPr algn="l" marL="342900" indent="-342900">
              <a:spcAft>
                <a:spcPts val="1000"/>
              </a:spcAft>
              <a:buSzPct val="100000"/>
              <a:buChar char="•"/>
            </a:pPr>
            <a:r>
              <a:rPr lang="en-US" sz="2400" dirty="0">
                <a:solidFill>
                  <a:srgbClr val="FFFFFF"/>
                </a:solidFill>
              </a:rPr>
              <a:t>Could be: an expert works with the client and the AI</a:t>
            </a:r>
            <a:endParaRPr lang="en-US" sz="2400" dirty="0"/>
          </a:p>
          <a:p>
            <a:pPr algn="l" marL="342900" indent="-342900">
              <a:spcAft>
                <a:spcPts val="1000"/>
              </a:spcAft>
              <a:buSzPct val="100000"/>
              <a:buChar char="•"/>
            </a:pPr>
            <a:r>
              <a:rPr lang="en-US" sz="2400" dirty="0">
                <a:solidFill>
                  <a:srgbClr val="FFFFFF"/>
                </a:solidFill>
              </a:rPr>
              <a:t>The expert ensures quality and explains the result</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What this means for analysts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Expertise is still needed for a quality, valuable result</a:t>
            </a:r>
            <a:endParaRPr lang="en-US" sz="2400" dirty="0"/>
          </a:p>
          <a:p>
            <a:pPr algn="l" marL="342900" indent="-342900">
              <a:spcAft>
                <a:spcPts val="1000"/>
              </a:spcAft>
              <a:buSzPct val="100000"/>
              <a:buChar char="•"/>
            </a:pPr>
            <a:r>
              <a:rPr lang="en-US" sz="2400" dirty="0">
                <a:solidFill>
                  <a:srgbClr val="FFFFFF"/>
                </a:solidFill>
              </a:rPr>
              <a:t>Expertise kept in a black box will be replaced by AI</a:t>
            </a:r>
            <a:endParaRPr lang="en-US" sz="2400" dirty="0"/>
          </a:p>
          <a:p>
            <a:pPr algn="l" marL="342900" indent="-342900">
              <a:spcAft>
                <a:spcPts val="1000"/>
              </a:spcAft>
              <a:buSzPct val="100000"/>
              <a:buChar char="•"/>
            </a:pPr>
            <a:r>
              <a:rPr lang="en-US" sz="2400" dirty="0">
                <a:solidFill>
                  <a:srgbClr val="FFFFFF"/>
                </a:solidFill>
              </a:rPr>
              <a:t>Value comes from insight, quality and guidance</a:t>
            </a:r>
            <a:endParaRPr lang="en-US" sz="2400" dirty="0"/>
          </a:p>
          <a:p>
            <a:pPr algn="l" marL="342900" indent="-342900">
              <a:spcAft>
                <a:spcPts val="1000"/>
              </a:spcAft>
              <a:buSzPct val="100000"/>
              <a:buChar char="•"/>
            </a:pPr>
            <a:r>
              <a:rPr lang="en-US" sz="2400" dirty="0">
                <a:solidFill>
                  <a:srgbClr val="FFFFFF"/>
                </a:solidFill>
              </a:rPr>
              <a:t>Technical skill matters, but not on its own</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What virtues are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Character traits that help a person live well and act rightly</a:t>
            </a:r>
            <a:endParaRPr lang="en-US" sz="2400" dirty="0"/>
          </a:p>
          <a:p>
            <a:pPr algn="l" marL="342900" indent="-342900">
              <a:spcAft>
                <a:spcPts val="1000"/>
              </a:spcAft>
              <a:buSzPct val="100000"/>
              <a:buChar char="•"/>
            </a:pPr>
            <a:r>
              <a:rPr lang="en-US" sz="2400" dirty="0">
                <a:solidFill>
                  <a:srgbClr val="FFFFFF"/>
                </a:solidFill>
              </a:rPr>
              <a:t>Cultivated habits, not rules to follow</a:t>
            </a:r>
            <a:endParaRPr lang="en-US" sz="2400" dirty="0"/>
          </a:p>
          <a:p>
            <a:pPr algn="l" marL="342900" indent="-342900">
              <a:spcAft>
                <a:spcPts val="1000"/>
              </a:spcAft>
              <a:buSzPct val="100000"/>
              <a:buChar char="•"/>
            </a:pPr>
            <a:r>
              <a:rPr lang="en-US" sz="2400" dirty="0">
                <a:solidFill>
                  <a:srgbClr val="FFFFFF"/>
                </a:solidFill>
              </a:rPr>
              <a:t>Rooted in Aristotle and Thomas Aquinas</a:t>
            </a:r>
            <a:endParaRPr lang="en-US" sz="2400" dirty="0"/>
          </a:p>
          <a:p>
            <a:pPr algn="l" marL="342900" indent="-342900">
              <a:spcAft>
                <a:spcPts val="1000"/>
              </a:spcAft>
              <a:buSzPct val="100000"/>
              <a:buChar char="•"/>
            </a:pPr>
            <a:r>
              <a:rPr lang="en-US" sz="2400" dirty="0">
                <a:solidFill>
                  <a:srgbClr val="FFFFFF"/>
                </a:solidFill>
              </a:rPr>
              <a:t>Four cardinal virtues: fortitude, prudence, justice, temperance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Four virtues for the data analyst</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Courage: take on difficult technical complexity</a:t>
            </a:r>
            <a:endParaRPr lang="en-US" sz="2400" dirty="0"/>
          </a:p>
          <a:p>
            <a:pPr algn="l" marL="342900" indent="-342900">
              <a:spcAft>
                <a:spcPts val="1000"/>
              </a:spcAft>
              <a:buSzPct val="100000"/>
              <a:buChar char="•"/>
            </a:pPr>
            <a:r>
              <a:rPr lang="en-US" sz="2400" dirty="0">
                <a:solidFill>
                  <a:srgbClr val="FFFFFF"/>
                </a:solidFill>
              </a:rPr>
              <a:t>Wisdom: find insights that matter in context</a:t>
            </a:r>
            <a:endParaRPr lang="en-US" sz="2400" dirty="0"/>
          </a:p>
          <a:p>
            <a:pPr algn="l" marL="342900" indent="-342900">
              <a:spcAft>
                <a:spcPts val="1000"/>
              </a:spcAft>
              <a:buSzPct val="100000"/>
              <a:buChar char="•"/>
            </a:pPr>
            <a:r>
              <a:rPr lang="en-US" sz="2400" dirty="0">
                <a:solidFill>
                  <a:srgbClr val="FFFFFF"/>
                </a:solidFill>
              </a:rPr>
              <a:t>Justice: pursue what is fair and accurate, even at a cost</a:t>
            </a:r>
            <a:endParaRPr lang="en-US" sz="2400" dirty="0"/>
          </a:p>
          <a:p>
            <a:pPr algn="l" marL="342900" indent="-342900">
              <a:spcAft>
                <a:spcPts val="1000"/>
              </a:spcAft>
              <a:buSzPct val="100000"/>
              <a:buChar char="•"/>
            </a:pPr>
            <a:r>
              <a:rPr lang="en-US" sz="2400" dirty="0">
                <a:solidFill>
                  <a:srgbClr val="FFFFFF"/>
                </a:solidFill>
              </a:rPr>
              <a:t>Restraint: focus on what we need to know</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the virtues show up at work</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Courage: learn new skills; engage with tricky concepts</a:t>
            </a:r>
            <a:endParaRPr lang="en-US" sz="2400" dirty="0"/>
          </a:p>
          <a:p>
            <a:pPr algn="l" marL="342900" indent="-342900">
              <a:spcAft>
                <a:spcPts val="1000"/>
              </a:spcAft>
              <a:buSzPct val="100000"/>
              <a:buChar char="•"/>
            </a:pPr>
            <a:r>
              <a:rPr lang="en-US" sz="2400" dirty="0">
                <a:solidFill>
                  <a:srgbClr val="FFFFFF"/>
                </a:solidFill>
              </a:rPr>
              <a:t>Wisdom: apply results the way the client values; know when to say no</a:t>
            </a:r>
            <a:endParaRPr lang="en-US" sz="2400" dirty="0"/>
          </a:p>
          <a:p>
            <a:pPr algn="l" marL="342900" indent="-342900">
              <a:spcAft>
                <a:spcPts val="1000"/>
              </a:spcAft>
              <a:buSzPct val="100000"/>
              <a:buChar char="•"/>
            </a:pPr>
            <a:r>
              <a:rPr lang="en-US" sz="2400" dirty="0">
                <a:solidFill>
                  <a:srgbClr val="FFFFFF"/>
                </a:solidFill>
              </a:rPr>
              <a:t>Justice: admit errors; do it the right way, not the easy way</a:t>
            </a:r>
            <a:endParaRPr lang="en-US" sz="2400" dirty="0"/>
          </a:p>
          <a:p>
            <a:pPr algn="l" marL="342900" indent="-342900">
              <a:spcAft>
                <a:spcPts val="1000"/>
              </a:spcAft>
              <a:buSzPct val="100000"/>
              <a:buChar char="•"/>
            </a:pPr>
            <a:r>
              <a:rPr lang="en-US" sz="2400" dirty="0">
                <a:solidFill>
                  <a:srgbClr val="FFFFFF"/>
                </a:solidFill>
              </a:rPr>
              <a:t>Restraint: know when to dig in; do the job the client needs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All data needs are human needs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All data problems are human problems</a:t>
            </a:r>
            <a:endParaRPr lang="en-US" sz="2400" dirty="0"/>
          </a:p>
          <a:p>
            <a:pPr algn="l" marL="342900" indent="-342900">
              <a:spcAft>
                <a:spcPts val="1000"/>
              </a:spcAft>
              <a:buSzPct val="100000"/>
              <a:buChar char="•"/>
            </a:pPr>
            <a:r>
              <a:rPr lang="en-US" sz="2400" dirty="0">
                <a:solidFill>
                  <a:srgbClr val="FFFFFF"/>
                </a:solidFill>
              </a:rPr>
              <a:t>All data needs are human needs</a:t>
            </a:r>
            <a:endParaRPr lang="en-US" sz="2400" dirty="0"/>
          </a:p>
          <a:p>
            <a:pPr algn="l" marL="342900" indent="-342900">
              <a:spcAft>
                <a:spcPts val="1000"/>
              </a:spcAft>
              <a:buSzPct val="100000"/>
              <a:buChar char="•"/>
            </a:pPr>
            <a:r>
              <a:rPr lang="en-US" sz="2400" dirty="0">
                <a:solidFill>
                  <a:srgbClr val="FFFFFF"/>
                </a:solidFill>
              </a:rPr>
              <a:t>AI can supply capability, but not character</a:t>
            </a:r>
            <a:endParaRPr lang="en-US" sz="2400" dirty="0"/>
          </a:p>
          <a:p>
            <a:pPr algn="l" marL="342900" indent="-342900">
              <a:spcAft>
                <a:spcPts val="1000"/>
              </a:spcAft>
              <a:buSzPct val="100000"/>
              <a:buChar char="•"/>
            </a:pPr>
            <a:r>
              <a:rPr lang="en-US" sz="2400" dirty="0">
                <a:solidFill>
                  <a:srgbClr val="FFFFFF"/>
                </a:solidFill>
              </a:rPr>
              <a:t>“Virtue is a human thing” – Aristotle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Discussion</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Which of the four virtues comes hardest to you in your work, and what would practicing it look like on your next project?</a:t>
            </a:r>
            <a:endParaRPr lang="en-US" sz="2400" dirty="0"/>
          </a:p>
          <a:p>
            <a:pPr algn="l" marL="342900" indent="-342900">
              <a:spcAft>
                <a:spcPts val="1000"/>
              </a:spcAft>
              <a:buSzPct val="100000"/>
              <a:buChar char="•"/>
            </a:pPr>
            <a:r>
              <a:rPr lang="en-US" sz="2400" dirty="0">
                <a:solidFill>
                  <a:srgbClr val="FFFFFF"/>
                </a:solidFill>
              </a:rPr>
              <a:t>Draw on your own experience and career, and apply today's seminar to that setting.</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Virtues for the Data Analyst</dc:title>
  <dc:subject>Special Lecture 3</dc:subject>
  <dc:creator>Health-Data-Analytics</dc:creator>
  <cp:lastModifiedBy>Health-Data-Analytics</cp:lastModifiedBy>
  <cp:revision>1</cp:revision>
  <dcterms:created xsi:type="dcterms:W3CDTF">2026-10-13T20:23:19Z</dcterms:created>
  <dcterms:modified xsi:type="dcterms:W3CDTF">2026-10-13T20:23:19Z</dcterms:modified>
</cp:coreProperties>
</file>