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4: Gen AI for Code Development.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coding tools are now standard for software developers: in a January 2026 JetBrains survey, about 90% of developers regularly used AI for coding, and 74% used specialized coding tools. GitHub Copilot, Cursor and Claude Code were the most used at work, with agent-style tools growing fastest. Analysts benefit the same way: drafting queries, fixing errors and translating code between languages.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quality of AI-generated SQL depends heavily on context. Pasting the schema and the exact metric definition prevents most errors. Build in small pieces and test each one, as in the QA seminars. Treat AI code like code from a new colleague: useful, but reviewed before anyone relies on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dangerous AI code runs without error and returns believable numbers. Typical problems: joining claim lines to headers and double-counting dollars, counting resubmitted claims as originals, or using the wrong measurement period. Each lab's AI step is designed to surface exactly these errors.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4: Gen AI for Code Development</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4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analysts code with AI</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Autocomplete and chat inside the editor</a:t>
            </a:r>
            <a:endParaRPr lang="en-US" sz="2400" dirty="0"/>
          </a:p>
          <a:p>
            <a:pPr algn="l" marL="342900" indent="-342900">
              <a:spcAft>
                <a:spcPts val="1000"/>
              </a:spcAft>
              <a:buSzPct val="100000"/>
              <a:buChar char="•"/>
            </a:pPr>
            <a:r>
              <a:rPr lang="en-US" sz="2400" dirty="0">
                <a:solidFill>
                  <a:srgbClr val="FFFFFF"/>
                </a:solidFill>
              </a:rPr>
              <a:t>Agents that read files, run code and fix errors</a:t>
            </a:r>
            <a:endParaRPr lang="en-US" sz="2400" dirty="0"/>
          </a:p>
          <a:p>
            <a:pPr algn="l" marL="342900" indent="-342900">
              <a:spcAft>
                <a:spcPts val="1000"/>
              </a:spcAft>
              <a:buSzPct val="100000"/>
              <a:buChar char="•"/>
            </a:pPr>
            <a:r>
              <a:rPr lang="en-US" sz="2400" dirty="0">
                <a:solidFill>
                  <a:srgbClr val="FFFFFF"/>
                </a:solidFill>
              </a:rPr>
              <a:t>Translating between SQL, Python, R and SAS</a:t>
            </a:r>
            <a:endParaRPr lang="en-US" sz="2400" dirty="0"/>
          </a:p>
          <a:p>
            <a:pPr algn="l" marL="342900" indent="-342900">
              <a:spcAft>
                <a:spcPts val="1000"/>
              </a:spcAft>
              <a:buSzPct val="100000"/>
              <a:buChar char="•"/>
            </a:pPr>
            <a:r>
              <a:rPr lang="en-US" sz="2400" dirty="0">
                <a:solidFill>
                  <a:srgbClr val="FFFFFF"/>
                </a:solidFill>
              </a:rPr>
              <a:t>Explaining unfamiliar code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Practices that work</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Give context: table names, columns, grain, definitions</a:t>
            </a:r>
            <a:endParaRPr lang="en-US" sz="2400" dirty="0"/>
          </a:p>
          <a:p>
            <a:pPr algn="l" marL="342900" indent="-342900">
              <a:spcAft>
                <a:spcPts val="1000"/>
              </a:spcAft>
              <a:buSzPct val="100000"/>
              <a:buChar char="•"/>
            </a:pPr>
            <a:r>
              <a:rPr lang="en-US" sz="2400" dirty="0">
                <a:solidFill>
                  <a:srgbClr val="FFFFFF"/>
                </a:solidFill>
              </a:rPr>
              <a:t>Ask for small steps you can test</a:t>
            </a:r>
            <a:endParaRPr lang="en-US" sz="2400" dirty="0"/>
          </a:p>
          <a:p>
            <a:pPr algn="l" marL="342900" indent="-342900">
              <a:spcAft>
                <a:spcPts val="1000"/>
              </a:spcAft>
              <a:buSzPct val="100000"/>
              <a:buChar char="•"/>
            </a:pPr>
            <a:r>
              <a:rPr lang="en-US" sz="2400" dirty="0">
                <a:solidFill>
                  <a:srgbClr val="FFFFFF"/>
                </a:solidFill>
              </a:rPr>
              <a:t>Run the code and check row counts and totals</a:t>
            </a:r>
            <a:endParaRPr lang="en-US" sz="2400" dirty="0"/>
          </a:p>
          <a:p>
            <a:pPr algn="l" marL="342900" indent="-342900">
              <a:spcAft>
                <a:spcPts val="1000"/>
              </a:spcAft>
              <a:buSzPct val="100000"/>
              <a:buChar char="•"/>
            </a:pPr>
            <a:r>
              <a:rPr lang="en-US" sz="2400" dirty="0">
                <a:solidFill>
                  <a:srgbClr val="FFFFFF"/>
                </a:solidFill>
              </a:rPr>
              <a:t>Read every line before it goes into production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Common failure modes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Joins at the wrong grain that inflate totals</a:t>
            </a:r>
            <a:endParaRPr lang="en-US" sz="2400" dirty="0"/>
          </a:p>
          <a:p>
            <a:pPr algn="l" marL="342900" indent="-342900">
              <a:spcAft>
                <a:spcPts val="1000"/>
              </a:spcAft>
              <a:buSzPct val="100000"/>
              <a:buChar char="•"/>
            </a:pPr>
            <a:r>
              <a:rPr lang="en-US" sz="2400" dirty="0">
                <a:solidFill>
                  <a:srgbClr val="FFFFFF"/>
                </a:solidFill>
              </a:rPr>
              <a:t>Invented column or table names</a:t>
            </a:r>
            <a:endParaRPr lang="en-US" sz="2400" dirty="0"/>
          </a:p>
          <a:p>
            <a:pPr algn="l" marL="342900" indent="-342900">
              <a:spcAft>
                <a:spcPts val="1000"/>
              </a:spcAft>
              <a:buSzPct val="100000"/>
              <a:buChar char="•"/>
            </a:pPr>
            <a:r>
              <a:rPr lang="en-US" sz="2400" dirty="0">
                <a:solidFill>
                  <a:srgbClr val="FFFFFF"/>
                </a:solidFill>
              </a:rPr>
              <a:t>Plausible but wrong metric definitions</a:t>
            </a:r>
            <a:endParaRPr lang="en-US" sz="2400" dirty="0"/>
          </a:p>
          <a:p>
            <a:pPr algn="l" marL="342900" indent="-342900">
              <a:spcAft>
                <a:spcPts val="1000"/>
              </a:spcAft>
              <a:buSzPct val="100000"/>
              <a:buChar char="•"/>
            </a:pPr>
            <a:r>
              <a:rPr lang="en-US" sz="2400" dirty="0">
                <a:solidFill>
                  <a:srgbClr val="FFFFFF"/>
                </a:solidFill>
              </a:rPr>
              <a:t>Code that runs but answers a different question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Think of a recurring report or query in your work. How would you use an AI coding tool to build it, and how would you check it?</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 AI for Code Development</dc:title>
  <dc:subject>Week 4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