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seminar for week 10: Supervised Learning Approaches: Ensemble, SVM, Gradient Boosting. We will go through the key ideas, current practice and what it means for healthcare analytics work.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Tree ensembles capture interactions and nonlinear effects without manual specification. Random forests are robust and easy to tune. Gradient boosted trees are often the most accurate choice for tabular healthcare data and are widely used for claims-based prediction.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SVMs were popular for text and smaller datasets. For large claims tables, boosted trees usually perform as well or better and scale more easily, so SVMs are less common in current healthcare practice. Knowing them helps when reading older studies.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Stakeholders want to know why a model flags someone. Feature importance shows which inputs matter overall; SHAP values show what drove a single prediction. Neither shows cause and effect. Transparency expectations for AI in healthcare are evolving, so documenting a model's inputs, intended use and limits remains good practice regardless of the rules.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write an answer drawn from their own experience and career, then ask two or three to share. Connect their examples back to this seminar's content. In an online section, post the same question to the discussion board.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Week 10: Supervised Learning Approaches: Ensemble, SVM, Gradient Boosting</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10 AI Seminar</a:t>
            </a:r>
            <a:endParaRPr lang="en-US" sz="22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Ensembles of trees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Decision trees split data into rules</a:t>
            </a:r>
            <a:endParaRPr lang="en-US" sz="2400" dirty="0"/>
          </a:p>
          <a:p>
            <a:pPr algn="l" marL="342900" indent="-342900">
              <a:spcAft>
                <a:spcPts val="1000"/>
              </a:spcAft>
              <a:buSzPct val="100000"/>
              <a:buChar char="•"/>
            </a:pPr>
            <a:r>
              <a:rPr lang="en-US" sz="2400" dirty="0">
                <a:solidFill>
                  <a:srgbClr val="FFFFFF"/>
                </a:solidFill>
              </a:rPr>
              <a:t>Random forests average many trees</a:t>
            </a:r>
            <a:endParaRPr lang="en-US" sz="2400" dirty="0"/>
          </a:p>
          <a:p>
            <a:pPr algn="l" marL="342900" indent="-342900">
              <a:spcAft>
                <a:spcPts val="1000"/>
              </a:spcAft>
              <a:buSzPct val="100000"/>
              <a:buChar char="•"/>
            </a:pPr>
            <a:r>
              <a:rPr lang="en-US" sz="2400" dirty="0">
                <a:solidFill>
                  <a:srgbClr val="FFFFFF"/>
                </a:solidFill>
              </a:rPr>
              <a:t>Gradient boosting builds trees that fix prior errors</a:t>
            </a:r>
            <a:endParaRPr lang="en-US" sz="2400" dirty="0"/>
          </a:p>
          <a:p>
            <a:pPr algn="l" marL="342900" indent="-342900">
              <a:spcAft>
                <a:spcPts val="1000"/>
              </a:spcAft>
              <a:buSzPct val="100000"/>
              <a:buChar char="•"/>
            </a:pPr>
            <a:r>
              <a:rPr lang="en-US" sz="2400" dirty="0">
                <a:solidFill>
                  <a:srgbClr val="FFFFFF"/>
                </a:solidFill>
              </a:rPr>
              <a:t>XGBoost, LightGBM, CatBoost, scikit-learn</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Support vector machines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Find the boundary that best separates classes</a:t>
            </a:r>
            <a:endParaRPr lang="en-US" sz="2400" dirty="0"/>
          </a:p>
          <a:p>
            <a:pPr algn="l" marL="342900" indent="-342900">
              <a:spcAft>
                <a:spcPts val="1000"/>
              </a:spcAft>
              <a:buSzPct val="100000"/>
              <a:buChar char="•"/>
            </a:pPr>
            <a:r>
              <a:rPr lang="en-US" sz="2400" dirty="0">
                <a:solidFill>
                  <a:srgbClr val="FFFFFF"/>
                </a:solidFill>
              </a:rPr>
              <a:t>Kernels handle nonlinear patterns</a:t>
            </a:r>
            <a:endParaRPr lang="en-US" sz="2400" dirty="0"/>
          </a:p>
          <a:p>
            <a:pPr algn="l" marL="342900" indent="-342900">
              <a:spcAft>
                <a:spcPts val="1000"/>
              </a:spcAft>
              <a:buSzPct val="100000"/>
              <a:buChar char="•"/>
            </a:pPr>
            <a:r>
              <a:rPr lang="en-US" sz="2400" dirty="0">
                <a:solidFill>
                  <a:srgbClr val="FFFFFF"/>
                </a:solidFill>
              </a:rPr>
              <a:t>Work well on smaller, high-dimensional data</a:t>
            </a:r>
            <a:endParaRPr lang="en-US" sz="2400" dirty="0"/>
          </a:p>
          <a:p>
            <a:pPr algn="l" marL="342900" indent="-342900">
              <a:spcAft>
                <a:spcPts val="1000"/>
              </a:spcAft>
              <a:buSzPct val="100000"/>
              <a:buChar char="•"/>
            </a:pPr>
            <a:r>
              <a:rPr lang="en-US" sz="2400" dirty="0">
                <a:solidFill>
                  <a:srgbClr val="FFFFFF"/>
                </a:solidFill>
              </a:rPr>
              <a:t>Less common now for large tabular data</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Explaining complex models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Feature importance and permutation importance</a:t>
            </a:r>
            <a:endParaRPr lang="en-US" sz="2400" dirty="0"/>
          </a:p>
          <a:p>
            <a:pPr algn="l" marL="342900" indent="-342900">
              <a:spcAft>
                <a:spcPts val="1000"/>
              </a:spcAft>
              <a:buSzPct val="100000"/>
              <a:buChar char="•"/>
            </a:pPr>
            <a:r>
              <a:rPr lang="en-US" sz="2400" dirty="0">
                <a:solidFill>
                  <a:srgbClr val="FFFFFF"/>
                </a:solidFill>
              </a:rPr>
              <a:t>SHAP values for individual predictions</a:t>
            </a:r>
            <a:endParaRPr lang="en-US" sz="2400" dirty="0"/>
          </a:p>
          <a:p>
            <a:pPr algn="l" marL="342900" indent="-342900">
              <a:spcAft>
                <a:spcPts val="1000"/>
              </a:spcAft>
              <a:buSzPct val="100000"/>
              <a:buChar char="•"/>
            </a:pPr>
            <a:r>
              <a:rPr lang="en-US" sz="2400" dirty="0">
                <a:solidFill>
                  <a:srgbClr val="FFFFFF"/>
                </a:solidFill>
              </a:rPr>
              <a:t>Importance is not causation</a:t>
            </a:r>
            <a:endParaRPr lang="en-US" sz="2400" dirty="0"/>
          </a:p>
          <a:p>
            <a:pPr algn="l" marL="342900" indent="-342900">
              <a:spcAft>
                <a:spcPts val="1000"/>
              </a:spcAft>
              <a:buSzPct val="100000"/>
              <a:buChar char="•"/>
            </a:pPr>
            <a:r>
              <a:rPr lang="en-US" sz="2400" dirty="0">
                <a:solidFill>
                  <a:srgbClr val="FFFFFF"/>
                </a:solidFill>
              </a:rPr>
              <a:t>Explainability matters for trust and regulation</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Discussion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When would you accept a less explainable model in your setting for better accuracy, and when wouldn't you?</a:t>
            </a:r>
            <a:endParaRPr lang="en-US" sz="2400" dirty="0"/>
          </a:p>
          <a:p>
            <a:pPr algn="l" marL="342900" indent="-342900">
              <a:spcAft>
                <a:spcPts val="1000"/>
              </a:spcAft>
              <a:buSzPct val="100000"/>
              <a:buChar char="•"/>
            </a:pPr>
            <a:r>
              <a:rPr lang="en-US" sz="2400" dirty="0">
                <a:solidFill>
                  <a:srgbClr val="FFFFFF"/>
                </a:solidFill>
              </a:rPr>
              <a:t>Draw on your own experience and career, and apply today's seminar to that setting.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Supervised Learning Approaches: Ensemble, SVM, Gradient Boosting</dc:title>
  <dc:subject>Week 10 AI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