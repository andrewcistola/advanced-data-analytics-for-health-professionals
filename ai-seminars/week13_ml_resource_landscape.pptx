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13: Current ML Resource Landscape.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open-source Python stack used in this course (scikit-learn, now at version 1.9, plus statsmodels and TensorFlow) is the industry standard for tabular ML. DuckDB and polars handle large data on a laptop. R and SAS remain common in research and some payer and government settings.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organizations run ML on cloud platforms that manage data, compute, experiment tracking and deployment. AutoML tools and AI agents can now build reasonable baseline models quickly, which shifts the analyst's work toward framing, validation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practice is to document every model's intended use, training data, performance and known limits, and to check performance across groups. Federal rules on AI transparency in certified health IT are being revised (a 2025 ONC proposal would remove some model documentation requirements), while states are adding rules on AI in coverage decisions. Strong internal governance doesn't depend on which rules are in force.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13: Current ML Resource Landscape</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13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Open-source foundations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Python: pandas, polars, scikit-learn, statsmodels</a:t>
            </a:r>
            <a:endParaRPr lang="en-US" sz="2400" dirty="0"/>
          </a:p>
          <a:p>
            <a:pPr algn="l" marL="342900" indent="-342900">
              <a:spcAft>
                <a:spcPts val="1000"/>
              </a:spcAft>
              <a:buSzPct val="100000"/>
              <a:buChar char="•"/>
            </a:pPr>
            <a:r>
              <a:rPr lang="en-US" sz="2400" dirty="0">
                <a:solidFill>
                  <a:srgbClr val="FFFFFF"/>
                </a:solidFill>
              </a:rPr>
              <a:t>Boosting: XGBoost, LightGBM, CatBoost</a:t>
            </a:r>
            <a:endParaRPr lang="en-US" sz="2400" dirty="0"/>
          </a:p>
          <a:p>
            <a:pPr algn="l" marL="342900" indent="-342900">
              <a:spcAft>
                <a:spcPts val="1000"/>
              </a:spcAft>
              <a:buSzPct val="100000"/>
              <a:buChar char="•"/>
            </a:pPr>
            <a:r>
              <a:rPr lang="en-US" sz="2400" dirty="0">
                <a:solidFill>
                  <a:srgbClr val="FFFFFF"/>
                </a:solidFill>
              </a:rPr>
              <a:t>Deep learning: PyTorch, TensorFlow/Keras</a:t>
            </a:r>
            <a:endParaRPr lang="en-US" sz="2400" dirty="0"/>
          </a:p>
          <a:p>
            <a:pPr algn="l" marL="342900" indent="-342900">
              <a:spcAft>
                <a:spcPts val="1000"/>
              </a:spcAft>
              <a:buSzPct val="100000"/>
              <a:buChar char="•"/>
            </a:pPr>
            <a:r>
              <a:rPr lang="en-US" sz="2400" dirty="0">
                <a:solidFill>
                  <a:srgbClr val="FFFFFF"/>
                </a:solidFill>
              </a:rPr>
              <a:t>R remains strong in health services research</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Platforms and AutoML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Cloud ML platforms: AWS, Azure, Google Cloud</a:t>
            </a:r>
            <a:endParaRPr lang="en-US" sz="2400" dirty="0"/>
          </a:p>
          <a:p>
            <a:pPr algn="l" marL="342900" indent="-342900">
              <a:spcAft>
                <a:spcPts val="1000"/>
              </a:spcAft>
              <a:buSzPct val="100000"/>
              <a:buChar char="•"/>
            </a:pPr>
            <a:r>
              <a:rPr lang="en-US" sz="2400" dirty="0">
                <a:solidFill>
                  <a:srgbClr val="FFFFFF"/>
                </a:solidFill>
              </a:rPr>
              <a:t>Data platforms: Databricks, Snowflake</a:t>
            </a:r>
            <a:endParaRPr lang="en-US" sz="2400" dirty="0"/>
          </a:p>
          <a:p>
            <a:pPr algn="l" marL="342900" indent="-342900">
              <a:spcAft>
                <a:spcPts val="1000"/>
              </a:spcAft>
              <a:buSzPct val="100000"/>
              <a:buChar char="•"/>
            </a:pPr>
            <a:r>
              <a:rPr lang="en-US" sz="2400" dirty="0">
                <a:solidFill>
                  <a:srgbClr val="FFFFFF"/>
                </a:solidFill>
              </a:rPr>
              <a:t>AutoML and AI agents that build models</a:t>
            </a:r>
            <a:endParaRPr lang="en-US" sz="2400" dirty="0"/>
          </a:p>
          <a:p>
            <a:pPr algn="l" marL="342900" indent="-342900">
              <a:spcAft>
                <a:spcPts val="1000"/>
              </a:spcAft>
              <a:buSzPct val="100000"/>
              <a:buChar char="•"/>
            </a:pPr>
            <a:r>
              <a:rPr lang="en-US" sz="2400" dirty="0">
                <a:solidFill>
                  <a:srgbClr val="FFFFFF"/>
                </a:solidFill>
              </a:rPr>
              <a:t>MLOps: tracking, deployment, monitoring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Governance and responsible use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Document models: purpose, data, performance, limits</a:t>
            </a:r>
            <a:endParaRPr lang="en-US" sz="2400" dirty="0"/>
          </a:p>
          <a:p>
            <a:pPr algn="l" marL="342900" indent="-342900">
              <a:spcAft>
                <a:spcPts val="1000"/>
              </a:spcAft>
              <a:buSzPct val="100000"/>
              <a:buChar char="•"/>
            </a:pPr>
            <a:r>
              <a:rPr lang="en-US" sz="2400" dirty="0">
                <a:solidFill>
                  <a:srgbClr val="FFFFFF"/>
                </a:solidFill>
              </a:rPr>
              <a:t>Check fairness across groups</a:t>
            </a:r>
            <a:endParaRPr lang="en-US" sz="2400" dirty="0"/>
          </a:p>
          <a:p>
            <a:pPr algn="l" marL="342900" indent="-342900">
              <a:spcAft>
                <a:spcPts val="1000"/>
              </a:spcAft>
              <a:buSzPct val="100000"/>
              <a:buChar char="•"/>
            </a:pPr>
            <a:r>
              <a:rPr lang="en-US" sz="2400" dirty="0">
                <a:solidFill>
                  <a:srgbClr val="FFFFFF"/>
                </a:solidFill>
              </a:rPr>
              <a:t>Monitor for drift after deployment</a:t>
            </a:r>
            <a:endParaRPr lang="en-US" sz="2400" dirty="0"/>
          </a:p>
          <a:p>
            <a:pPr algn="l" marL="342900" indent="-342900">
              <a:spcAft>
                <a:spcPts val="1000"/>
              </a:spcAft>
              <a:buSzPct val="100000"/>
              <a:buChar char="•"/>
            </a:pPr>
            <a:r>
              <a:rPr lang="en-US" sz="2400" dirty="0">
                <a:solidFill>
                  <a:srgbClr val="FFFFFF"/>
                </a:solidFill>
              </a:rPr>
              <a:t>Federal and state rules are still evolving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ML tools does your organization use or plan to use, and what skills would your team need to use them responsibly?</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ML Resource Landscape</dc:title>
  <dc:subject>Week 13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