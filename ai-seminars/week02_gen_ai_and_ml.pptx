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seminar for week 2: Gen AI and ML. We will go through the key ideas, current practice and what it means for healthcare analytics work.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Classic ML (regression, trees, neural networks, clustering) learns from structured data, usually tables. A readmission model, for example, uses age, diagnoses and prior admissions to estimate the probability of returning within 30 days. Its quality is measured on held-out data with metrics like accuracy, AUC or calibration.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LLMs are trained on large amounts of text and code to predict what comes next, then tuned to follow instructions. They are good at language, summarization and code, but can state wrong facts confidently (hallucination). Modern tools can search, run code and take multi-step actions (agents), which raises both their usefulness and the need for checks.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risk model scoring 500,000 members each month should be a validated ML model, not an LLM prompt. Writing the SQL to prepare its features, or a first draft of the memo explaining it, is a good generative AI task. Many real workflows combine both.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Week 2: Gen AI and ML</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2 AI Seminar</a:t>
            </a:r>
            <a:endParaRPr lang="en-US" sz="2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How machine learning works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Learns a mapping from inputs (features) to an outcome</a:t>
            </a:r>
            <a:endParaRPr lang="en-US" sz="2400" dirty="0"/>
          </a:p>
          <a:p>
            <a:pPr algn="l" marL="342900" indent="-342900">
              <a:spcAft>
                <a:spcPts val="1000"/>
              </a:spcAft>
              <a:buSzPct val="100000"/>
              <a:buChar char="•"/>
            </a:pPr>
            <a:r>
              <a:rPr lang="en-US" sz="2400" dirty="0">
                <a:solidFill>
                  <a:srgbClr val="FFFFFF"/>
                </a:solidFill>
              </a:rPr>
              <a:t>Trained on historical, labeled examples</a:t>
            </a:r>
            <a:endParaRPr lang="en-US" sz="2400" dirty="0"/>
          </a:p>
          <a:p>
            <a:pPr algn="l" marL="342900" indent="-342900">
              <a:spcAft>
                <a:spcPts val="1000"/>
              </a:spcAft>
              <a:buSzPct val="100000"/>
              <a:buChar char="•"/>
            </a:pPr>
            <a:r>
              <a:rPr lang="en-US" sz="2400" dirty="0">
                <a:solidFill>
                  <a:srgbClr val="FFFFFF"/>
                </a:solidFill>
              </a:rPr>
              <a:t>Output: a prediction, probability or group</a:t>
            </a:r>
            <a:endParaRPr lang="en-US" sz="2400" dirty="0"/>
          </a:p>
          <a:p>
            <a:pPr algn="l" marL="342900" indent="-342900">
              <a:spcAft>
                <a:spcPts val="1000"/>
              </a:spcAft>
              <a:buSzPct val="100000"/>
              <a:buChar char="•"/>
            </a:pPr>
            <a:r>
              <a:rPr lang="en-US" sz="2400" dirty="0">
                <a:solidFill>
                  <a:srgbClr val="FFFFFF"/>
                </a:solidFill>
              </a:rPr>
              <a:t>Evaluated on data it hasn't seen</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How generative AI works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LLMs predict the next token from enormous text training sets</a:t>
            </a:r>
            <a:endParaRPr lang="en-US" sz="2400" dirty="0"/>
          </a:p>
          <a:p>
            <a:pPr algn="l" marL="342900" indent="-342900">
              <a:spcAft>
                <a:spcPts val="1000"/>
              </a:spcAft>
              <a:buSzPct val="100000"/>
              <a:buChar char="•"/>
            </a:pPr>
            <a:r>
              <a:rPr lang="en-US" sz="2400" dirty="0">
                <a:solidFill>
                  <a:srgbClr val="FFFFFF"/>
                </a:solidFill>
              </a:rPr>
              <a:t>Prompts steer the output; context improves it</a:t>
            </a:r>
            <a:endParaRPr lang="en-US" sz="2400" dirty="0"/>
          </a:p>
          <a:p>
            <a:pPr algn="l" marL="342900" indent="-342900">
              <a:spcAft>
                <a:spcPts val="1000"/>
              </a:spcAft>
              <a:buSzPct val="100000"/>
              <a:buChar char="•"/>
            </a:pPr>
            <a:r>
              <a:rPr lang="en-US" sz="2400" dirty="0">
                <a:solidFill>
                  <a:srgbClr val="FFFFFF"/>
                </a:solidFill>
              </a:rPr>
              <a:t>Fluent is not the same as correct</a:t>
            </a:r>
            <a:endParaRPr lang="en-US" sz="2400" dirty="0"/>
          </a:p>
          <a:p>
            <a:pPr algn="l" marL="342900" indent="-342900">
              <a:spcAft>
                <a:spcPts val="1000"/>
              </a:spcAft>
              <a:buSzPct val="100000"/>
              <a:buChar char="•"/>
            </a:pPr>
            <a:r>
              <a:rPr lang="en-US" sz="2400" dirty="0">
                <a:solidFill>
                  <a:srgbClr val="FFFFFF"/>
                </a:solidFill>
              </a:rPr>
              <a:t>Can call tools, run code and act as agents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Choosing between them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Structured prediction at scale → ML</a:t>
            </a:r>
            <a:endParaRPr lang="en-US" sz="2400" dirty="0"/>
          </a:p>
          <a:p>
            <a:pPr algn="l" marL="342900" indent="-342900">
              <a:spcAft>
                <a:spcPts val="1000"/>
              </a:spcAft>
              <a:buSzPct val="100000"/>
              <a:buChar char="•"/>
            </a:pPr>
            <a:r>
              <a:rPr lang="en-US" sz="2400" dirty="0">
                <a:solidFill>
                  <a:srgbClr val="FFFFFF"/>
                </a:solidFill>
              </a:rPr>
              <a:t>Drafting, explaining, coding, summarizing → generative AI</a:t>
            </a:r>
            <a:endParaRPr lang="en-US" sz="2400" dirty="0"/>
          </a:p>
          <a:p>
            <a:pPr algn="l" marL="342900" indent="-342900">
              <a:spcAft>
                <a:spcPts val="1000"/>
              </a:spcAft>
              <a:buSzPct val="100000"/>
              <a:buChar char="•"/>
            </a:pPr>
            <a:r>
              <a:rPr lang="en-US" sz="2400" dirty="0">
                <a:solidFill>
                  <a:srgbClr val="FFFFFF"/>
                </a:solidFill>
              </a:rPr>
              <a:t>Often combined: AI helps write the ML pipeline</a:t>
            </a:r>
            <a:endParaRPr lang="en-US" sz="2400" dirty="0"/>
          </a:p>
          <a:p>
            <a:pPr algn="l" marL="342900" indent="-342900">
              <a:spcAft>
                <a:spcPts val="1000"/>
              </a:spcAft>
              <a:buSzPct val="100000"/>
              <a:buChar char="•"/>
            </a:pPr>
            <a:r>
              <a:rPr lang="en-US" sz="2400" dirty="0">
                <a:solidFill>
                  <a:srgbClr val="FFFFFF"/>
                </a:solidFill>
              </a:rPr>
              <a:t>Neither replaces a clear question and good data</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Pick a task from your work. Would you solve it with a predictive model, a generative AI tool, or neither, and why?</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 AI and ML</dc:title>
  <dc:subject>Week 2 AI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