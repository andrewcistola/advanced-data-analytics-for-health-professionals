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seminar for week 9: Supervised Learning Approaches: Regression. We will go through the key ideas, current practice and what it means for healthcare analytics work.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Regression remains the workhorse of healthcare analytics and health services research. Logistic regression coefficients become odds ratios, which clinicians and policy audiences recognize. Many risk adjustment models, including CMS-HCC, are regression models.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regression can serve two purposes. For prediction, what matters is out-of-sample performance. For explanation, such as estimating whether a program worked, what matters is adjusting for the factors that drove who got the program. Regression adjusts only for what you measure, so designs like difference-in-differences strengthen causal claims.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hundreds of candidate features, penalized regression (lasso, ridge, elastic net) keeps models stable. Reporting confidence intervals and translating odds ratios into absolute differences ("about 40 fewer readmissions a year") makes results usable for decision makers.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9: Supervised Learning Approaches: Regression</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9 AI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Linear and logistic regression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Linear: predicts a number (cost, length of stay)</a:t>
            </a:r>
            <a:endParaRPr lang="en-US" sz="2400" dirty="0"/>
          </a:p>
          <a:p>
            <a:pPr algn="l" marL="342900" indent="-342900">
              <a:spcAft>
                <a:spcPts val="1000"/>
              </a:spcAft>
              <a:buSzPct val="100000"/>
              <a:buChar char="•"/>
            </a:pPr>
            <a:r>
              <a:rPr lang="en-US" sz="2400" dirty="0">
                <a:solidFill>
                  <a:srgbClr val="FFFFFF"/>
                </a:solidFill>
              </a:rPr>
              <a:t>Logistic: predicts a probability (readmission, denial)</a:t>
            </a:r>
            <a:endParaRPr lang="en-US" sz="2400" dirty="0"/>
          </a:p>
          <a:p>
            <a:pPr algn="l" marL="342900" indent="-342900">
              <a:spcAft>
                <a:spcPts val="1000"/>
              </a:spcAft>
              <a:buSzPct val="100000"/>
              <a:buChar char="•"/>
            </a:pPr>
            <a:r>
              <a:rPr lang="en-US" sz="2400" dirty="0">
                <a:solidFill>
                  <a:srgbClr val="FFFFFF"/>
                </a:solidFill>
              </a:rPr>
              <a:t>Coefficients show direction and size of each factor</a:t>
            </a:r>
            <a:endParaRPr lang="en-US" sz="2400" dirty="0"/>
          </a:p>
          <a:p>
            <a:pPr algn="l" marL="342900" indent="-342900">
              <a:spcAft>
                <a:spcPts val="1000"/>
              </a:spcAft>
              <a:buSzPct val="100000"/>
              <a:buChar char="•"/>
            </a:pPr>
            <a:r>
              <a:rPr lang="en-US" sz="2400" dirty="0">
                <a:solidFill>
                  <a:srgbClr val="FFFFFF"/>
                </a:solidFill>
              </a:rPr>
              <a:t>Fast, transparent and widely trusted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Prediction vs. explanation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Prediction: how well does it forecast?</a:t>
            </a:r>
            <a:endParaRPr lang="en-US" sz="2400" dirty="0"/>
          </a:p>
          <a:p>
            <a:pPr algn="l" marL="342900" indent="-342900">
              <a:spcAft>
                <a:spcPts val="1000"/>
              </a:spcAft>
              <a:buSzPct val="100000"/>
              <a:buChar char="•"/>
            </a:pPr>
            <a:r>
              <a:rPr lang="en-US" sz="2400" dirty="0">
                <a:solidFill>
                  <a:srgbClr val="FFFFFF"/>
                </a:solidFill>
              </a:rPr>
              <a:t>Explanation: what is the effect of one factor?</a:t>
            </a:r>
            <a:endParaRPr lang="en-US" sz="2400" dirty="0"/>
          </a:p>
          <a:p>
            <a:pPr algn="l" marL="342900" indent="-342900">
              <a:spcAft>
                <a:spcPts val="1000"/>
              </a:spcAft>
              <a:buSzPct val="100000"/>
              <a:buChar char="•"/>
            </a:pPr>
            <a:r>
              <a:rPr lang="en-US" sz="2400" dirty="0">
                <a:solidFill>
                  <a:srgbClr val="FFFFFF"/>
                </a:solidFill>
              </a:rPr>
              <a:t>Adjusting for confounders reduces bias</a:t>
            </a:r>
            <a:endParaRPr lang="en-US" sz="2400" dirty="0"/>
          </a:p>
          <a:p>
            <a:pPr algn="l" marL="342900" indent="-342900">
              <a:spcAft>
                <a:spcPts val="1000"/>
              </a:spcAft>
              <a:buSzPct val="100000"/>
              <a:buChar char="•"/>
            </a:pPr>
            <a:r>
              <a:rPr lang="en-US" sz="2400" dirty="0">
                <a:solidFill>
                  <a:srgbClr val="FFFFFF"/>
                </a:solidFill>
              </a:rPr>
              <a:t>Causal claims need a design, not just a model</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Regularization and good practice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Lasso and ridge prevent overfitting with many features</a:t>
            </a:r>
            <a:endParaRPr lang="en-US" sz="2400" dirty="0"/>
          </a:p>
          <a:p>
            <a:pPr algn="l" marL="342900" indent="-342900">
              <a:spcAft>
                <a:spcPts val="1000"/>
              </a:spcAft>
              <a:buSzPct val="100000"/>
              <a:buChar char="•"/>
            </a:pPr>
            <a:r>
              <a:rPr lang="en-US" sz="2400" dirty="0">
                <a:solidFill>
                  <a:srgbClr val="FFFFFF"/>
                </a:solidFill>
              </a:rPr>
              <a:t>Check assumptions and influential observations</a:t>
            </a:r>
            <a:endParaRPr lang="en-US" sz="2400" dirty="0"/>
          </a:p>
          <a:p>
            <a:pPr algn="l" marL="342900" indent="-342900">
              <a:spcAft>
                <a:spcPts val="1000"/>
              </a:spcAft>
              <a:buSzPct val="100000"/>
              <a:buChar char="•"/>
            </a:pPr>
            <a:r>
              <a:rPr lang="en-US" sz="2400" dirty="0">
                <a:solidFill>
                  <a:srgbClr val="FFFFFF"/>
                </a:solidFill>
              </a:rPr>
              <a:t>Report uncertainty with confidence intervals</a:t>
            </a:r>
            <a:endParaRPr lang="en-US" sz="2400" dirty="0"/>
          </a:p>
          <a:p>
            <a:pPr algn="l" marL="342900" indent="-342900">
              <a:spcAft>
                <a:spcPts val="1000"/>
              </a:spcAft>
              <a:buSzPct val="100000"/>
              <a:buChar char="•"/>
            </a:pPr>
            <a:r>
              <a:rPr lang="en-US" sz="2400" dirty="0">
                <a:solidFill>
                  <a:srgbClr val="FFFFFF"/>
                </a:solidFill>
              </a:rPr>
              <a:t>Translate effects into plain terms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Think of a program or policy in your field. What would you need to adjust for to estimate its true effect?</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 Approaches: Regression</dc:title>
  <dc:subject>Week 9 AI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