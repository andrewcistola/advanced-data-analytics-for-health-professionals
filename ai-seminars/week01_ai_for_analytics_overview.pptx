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1: AI for Analytics Overview.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(ML) has been part of healthcare analytics for decades: risk scores, readmission models, fraud detection. Generative AI, built on large language models (LLMs), is newer and works differently: it produces text, code and summaries from prompts. In this course, the technical seminars and labs build ML models, and every lab includes a step where students use a generative AI tool and check its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2026, AI is built into routine healthcare operations. Medicare's WISeR model lets contractors use AI to review prior authorization requests, with a clinician reviewing every denial. Several states passed laws in 2026 (for example Washington, Iowa, Alabama, Colorado, Georgia and Utah) that bar AI from being the sole basis for denying care and require disclosure or human review. Analysts increasingly use AI assistants to write and debug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for the term: AI changes how fast work gets done, not who is responsible for it. Students should use AI where they can verify the result, and slow down where they can't. This connects to the special lecture at the end of the course on liability over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 AI for Analytics Overview</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Two kinds of AI in analytics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Machine learning: models learn patterns from your data</a:t>
            </a:r>
            <a:endParaRPr lang="en-US" sz="2400" dirty="0"/>
          </a:p>
          <a:p>
            <a:pPr algn="l" marL="342900" indent="-342900">
              <a:spcAft>
                <a:spcPts val="1000"/>
              </a:spcAft>
              <a:buSzPct val="100000"/>
              <a:buChar char="•"/>
            </a:pPr>
            <a:r>
              <a:rPr lang="en-US" sz="2400" dirty="0">
                <a:solidFill>
                  <a:srgbClr val="FFFFFF"/>
                </a:solidFill>
              </a:rPr>
              <a:t>Generative AI: large language models produce text and code</a:t>
            </a:r>
            <a:endParaRPr lang="en-US" sz="2400" dirty="0"/>
          </a:p>
          <a:p>
            <a:pPr algn="l" marL="342900" indent="-342900">
              <a:spcAft>
                <a:spcPts val="1000"/>
              </a:spcAft>
              <a:buSzPct val="100000"/>
              <a:buChar char="•"/>
            </a:pPr>
            <a:r>
              <a:rPr lang="en-US" sz="2400" dirty="0">
                <a:solidFill>
                  <a:srgbClr val="FFFFFF"/>
                </a:solidFill>
              </a:rPr>
              <a:t>ML predicts and classifies; generative AI drafts and explains</a:t>
            </a:r>
            <a:endParaRPr lang="en-US" sz="2400" dirty="0"/>
          </a:p>
          <a:p>
            <a:pPr algn="l" marL="342900" indent="-342900">
              <a:spcAft>
                <a:spcPts val="1000"/>
              </a:spcAft>
              <a:buSzPct val="100000"/>
              <a:buChar char="•"/>
            </a:pPr>
            <a:r>
              <a:rPr lang="en-US" sz="2400" dirty="0">
                <a:solidFill>
                  <a:srgbClr val="FFFFFF"/>
                </a:solidFill>
              </a:rPr>
              <a:t>This course uses both, and checks both</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AI shows up in healthcare today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Payers: prior authorization review, claims edits, fraud detection</a:t>
            </a:r>
            <a:endParaRPr lang="en-US" sz="2400" dirty="0"/>
          </a:p>
          <a:p>
            <a:pPr algn="l" marL="342900" indent="-342900">
              <a:spcAft>
                <a:spcPts val="1000"/>
              </a:spcAft>
              <a:buSzPct val="100000"/>
              <a:buChar char="•"/>
            </a:pPr>
            <a:r>
              <a:rPr lang="en-US" sz="2400" dirty="0">
                <a:solidFill>
                  <a:srgbClr val="FFFFFF"/>
                </a:solidFill>
              </a:rPr>
              <a:t>Providers: documentation, coding support, patient messages</a:t>
            </a:r>
            <a:endParaRPr lang="en-US" sz="2400" dirty="0"/>
          </a:p>
          <a:p>
            <a:pPr algn="l" marL="342900" indent="-342900">
              <a:spcAft>
                <a:spcPts val="1000"/>
              </a:spcAft>
              <a:buSzPct val="100000"/>
              <a:buChar char="•"/>
            </a:pPr>
            <a:r>
              <a:rPr lang="en-US" sz="2400" dirty="0">
                <a:solidFill>
                  <a:srgbClr val="FFFFFF"/>
                </a:solidFill>
              </a:rPr>
              <a:t>Analytics teams: writing SQL and Python, summarizing results</a:t>
            </a:r>
            <a:endParaRPr lang="en-US" sz="2400" dirty="0"/>
          </a:p>
          <a:p>
            <a:pPr algn="l" marL="342900" indent="-342900">
              <a:spcAft>
                <a:spcPts val="1000"/>
              </a:spcAft>
              <a:buSzPct val="100000"/>
              <a:buChar char="•"/>
            </a:pPr>
            <a:r>
              <a:rPr lang="en-US" sz="2400" dirty="0">
                <a:solidFill>
                  <a:srgbClr val="FFFFFF"/>
                </a:solidFill>
              </a:rPr>
              <a:t>Regulators: rules on AI in coverage decisions are spreading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analyst's job with AI</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Frame the question before using any tool</a:t>
            </a:r>
            <a:endParaRPr lang="en-US" sz="2400" dirty="0"/>
          </a:p>
          <a:p>
            <a:pPr algn="l" marL="342900" indent="-342900">
              <a:spcAft>
                <a:spcPts val="1000"/>
              </a:spcAft>
              <a:buSzPct val="100000"/>
              <a:buChar char="•"/>
            </a:pPr>
            <a:r>
              <a:rPr lang="en-US" sz="2400" dirty="0">
                <a:solidFill>
                  <a:srgbClr val="FFFFFF"/>
                </a:solidFill>
              </a:rPr>
              <a:t>Use AI to speed up work you can check</a:t>
            </a:r>
            <a:endParaRPr lang="en-US" sz="2400" dirty="0"/>
          </a:p>
          <a:p>
            <a:pPr algn="l" marL="342900" indent="-342900">
              <a:spcAft>
                <a:spcPts val="1000"/>
              </a:spcAft>
              <a:buSzPct val="100000"/>
              <a:buChar char="•"/>
            </a:pPr>
            <a:r>
              <a:rPr lang="en-US" sz="2400" dirty="0">
                <a:solidFill>
                  <a:srgbClr val="FFFFFF"/>
                </a:solidFill>
              </a:rPr>
              <a:t>Verify outputs against data, documentation and judgment</a:t>
            </a:r>
            <a:endParaRPr lang="en-US" sz="2400" dirty="0"/>
          </a:p>
          <a:p>
            <a:pPr algn="l" marL="342900" indent="-342900">
              <a:spcAft>
                <a:spcPts val="1000"/>
              </a:spcAft>
              <a:buSzPct val="100000"/>
              <a:buChar char="•"/>
            </a:pPr>
            <a:r>
              <a:rPr lang="en-US" sz="2400" dirty="0">
                <a:solidFill>
                  <a:srgbClr val="FFFFFF"/>
                </a:solidFill>
              </a:rPr>
              <a:t>You remain accountable for the result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Where in your work could AI save the most time, and where would an AI mistake do the most harm?</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Analytics Overview</dc:title>
  <dc:subject>Week 1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