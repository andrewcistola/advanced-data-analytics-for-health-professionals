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seminar for week 11: Supervised Learning Approaches: Neural Networks. We will go through the key ideas, current practice and what it means for healthcare analytics work.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neural network passes inputs through layers that combine and transform them, adjusting weights to reduce error. The same idea, scaled up enormously, underlies large language models. Frameworks like TensorFlow (with Keras) and PyTorch make building them accessible.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Neural networks lead in imaging, clinical text and speech. For typical claims and enrollment tables, well-tuned gradient boosting often matches or beats them with less effort. Always compare against a simpler baseline before choosing a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Neural networks are less transparent, so documentation and validation carry more weight. Check performance across subgroups (age, payer, region) to catch uneven accuracy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11: Supervised Learning Approaches: Neural Networks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11 AI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neural networks work</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Layers of weighted connections learn representations</a:t>
            </a:r>
            <a:endParaRPr lang="en-US" sz="2400" dirty="0"/>
          </a:p>
          <a:p>
            <a:pPr algn="l" marL="342900" indent="-342900">
              <a:spcAft>
                <a:spcPts val="1000"/>
              </a:spcAft>
              <a:buSzPct val="100000"/>
              <a:buChar char="•"/>
            </a:pPr>
            <a:r>
              <a:rPr lang="en-US" sz="2400" dirty="0">
                <a:solidFill>
                  <a:srgbClr val="FFFFFF"/>
                </a:solidFill>
              </a:rPr>
              <a:t>Trained by gradient descent on prediction errors</a:t>
            </a:r>
            <a:endParaRPr lang="en-US" sz="2400" dirty="0"/>
          </a:p>
          <a:p>
            <a:pPr algn="l" marL="342900" indent="-342900">
              <a:spcAft>
                <a:spcPts val="1000"/>
              </a:spcAft>
              <a:buSzPct val="100000"/>
              <a:buChar char="•"/>
            </a:pPr>
            <a:r>
              <a:rPr lang="en-US" sz="2400" dirty="0">
                <a:solidFill>
                  <a:srgbClr val="FFFFFF"/>
                </a:solidFill>
              </a:rPr>
              <a:t>Many parameters; need more data and tuning</a:t>
            </a:r>
            <a:endParaRPr lang="en-US" sz="2400" dirty="0"/>
          </a:p>
          <a:p>
            <a:pPr algn="l" marL="342900" indent="-342900">
              <a:spcAft>
                <a:spcPts val="1000"/>
              </a:spcAft>
              <a:buSzPct val="100000"/>
              <a:buChar char="•"/>
            </a:pPr>
            <a:r>
              <a:rPr lang="en-US" sz="2400" dirty="0">
                <a:solidFill>
                  <a:srgbClr val="FFFFFF"/>
                </a:solidFill>
              </a:rPr>
              <a:t>TensorFlow/Keras and PyTorch are the main frameworks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they shine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Images, text, audio and signals</a:t>
            </a:r>
            <a:endParaRPr lang="en-US" sz="2400" dirty="0"/>
          </a:p>
          <a:p>
            <a:pPr algn="l" marL="342900" indent="-342900">
              <a:spcAft>
                <a:spcPts val="1000"/>
              </a:spcAft>
              <a:buSzPct val="100000"/>
              <a:buChar char="•"/>
            </a:pPr>
            <a:r>
              <a:rPr lang="en-US" sz="2400" dirty="0">
                <a:solidFill>
                  <a:srgbClr val="FFFFFF"/>
                </a:solidFill>
              </a:rPr>
              <a:t>Very large, complex datasets</a:t>
            </a:r>
            <a:endParaRPr lang="en-US" sz="2400" dirty="0"/>
          </a:p>
          <a:p>
            <a:pPr algn="l" marL="342900" indent="-342900">
              <a:spcAft>
                <a:spcPts val="1000"/>
              </a:spcAft>
              <a:buSzPct val="100000"/>
              <a:buChar char="•"/>
            </a:pPr>
            <a:r>
              <a:rPr lang="en-US" sz="2400" dirty="0">
                <a:solidFill>
                  <a:srgbClr val="FFFFFF"/>
                </a:solidFill>
              </a:rPr>
              <a:t>Foundation models adapted to new tasks</a:t>
            </a:r>
            <a:endParaRPr lang="en-US" sz="2400" dirty="0"/>
          </a:p>
          <a:p>
            <a:pPr algn="l" marL="342900" indent="-342900">
              <a:spcAft>
                <a:spcPts val="1000"/>
              </a:spcAft>
              <a:buSzPct val="100000"/>
              <a:buChar char="•"/>
            </a:pPr>
            <a:r>
              <a:rPr lang="en-US" sz="2400" dirty="0">
                <a:solidFill>
                  <a:srgbClr val="FFFFFF"/>
                </a:solidFill>
              </a:rPr>
              <a:t>On small tabular data, often no better than boosting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Practical cautions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Harder to explain and audit</a:t>
            </a:r>
            <a:endParaRPr lang="en-US" sz="2400" dirty="0"/>
          </a:p>
          <a:p>
            <a:pPr algn="l" marL="342900" indent="-342900">
              <a:spcAft>
                <a:spcPts val="1000"/>
              </a:spcAft>
              <a:buSzPct val="100000"/>
              <a:buChar char="•"/>
            </a:pPr>
            <a:r>
              <a:rPr lang="en-US" sz="2400" dirty="0">
                <a:solidFill>
                  <a:srgbClr val="FFFFFF"/>
                </a:solidFill>
              </a:rPr>
              <a:t>Sensitive to scaling and tuning choices</a:t>
            </a:r>
            <a:endParaRPr lang="en-US" sz="2400" dirty="0"/>
          </a:p>
          <a:p>
            <a:pPr algn="l" marL="342900" indent="-342900">
              <a:spcAft>
                <a:spcPts val="1000"/>
              </a:spcAft>
              <a:buSzPct val="100000"/>
              <a:buChar char="•"/>
            </a:pPr>
            <a:r>
              <a:rPr lang="en-US" sz="2400" dirty="0">
                <a:solidFill>
                  <a:srgbClr val="FFFFFF"/>
                </a:solidFill>
              </a:rPr>
              <a:t>Results vary between runs; set random seeds</a:t>
            </a:r>
            <a:endParaRPr lang="en-US" sz="2400" dirty="0"/>
          </a:p>
          <a:p>
            <a:pPr algn="l" marL="342900" indent="-342900">
              <a:spcAft>
                <a:spcPts val="1000"/>
              </a:spcAft>
              <a:buSzPct val="100000"/>
              <a:buChar char="•"/>
            </a:pPr>
            <a:r>
              <a:rPr lang="en-US" sz="2400" dirty="0">
                <a:solidFill>
                  <a:srgbClr val="FFFFFF"/>
                </a:solidFill>
              </a:rPr>
              <a:t>Validate on held-out data and subgroups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What data in your setting (text, images, location or tables) might justify a neural network, and what would you compare it against?</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Approaches: Neural Networks</dc:title>
  <dc:subject>Week 11 AI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