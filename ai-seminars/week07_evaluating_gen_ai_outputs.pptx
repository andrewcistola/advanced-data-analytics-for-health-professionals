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17"/>
    <p:sldId id="267" r:id="rId18"/>
    <p:sldId id="268" r:id="rId19"/>
    <p:sldId id="269" r:id="rId20"/>
    <p:sldId id="270" r:id="rId2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seminar for week 7: Evaluating Gen AI outputs. We will go through the key ideas, current practice and what it means for healthcare analytics work. Provide opening remarks 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LLMs generate the most likely text, not verified facts. They can invent a citation, describe a superseded regulation, or write SQL that runs but miscounts. Their tone is equally confident whether right or wrong, so confidence is not evidence.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same QA from the management seminars, applied to AI output. Reconcile numbers to finance or enrollment reports, look up rules on CMS or state sites, and run cases where you already know the answer. A second reviewer, or computing a result a second way, catches most remaining errors.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short record of AI use (tool, prompt, checks performed, edits made) makes work auditable and protects the analyst. Some organizations and states require disclosure of AI use. Whatever the tool did, the person who delivers the result is accountable for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write an answer drawn from their own experience and career, then ask two or three to share. Connect their examples back to this seminar's content. In an online section, post the same question to the discussion board.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rtlCol="0"/>
          <a:lstStyle>
            <a:lvl1pPr algn="l" indent="0" marL="0">
              <a:buNone/>
              <a:defRPr lang="en-US" sz="2200" dirty="0">
                <a:solidFill>
                  <a:srgbClr val="FFFFFF"/>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lstStyle>
            <a:lvl1pPr algn="l" indent="0" marL="0">
              <a:spcAft>
                <a:spcPts val="1000"/>
              </a:spcAft>
              <a:buNone/>
              <a:defRPr lang="en-US" sz="2400" dirty="0">
                <a:solidFill>
                  <a:srgbClr val="FFFFFF"/>
                </a:solidFill>
              </a:defRPr>
            </a:lvl1pPr>
          </a:lstStyle>
          <a:p>
            <a:pPr algn="l" indent="0" marL="0">
              <a:spcAft>
                <a:spcPts val="1000"/>
              </a:spcAft>
              <a:buNone/>
            </a:pP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000" b="1" dirty="0">
                <a:solidFill>
                  <a:srgbClr val="FFFFFF"/>
                </a:solidFill>
              </a:rPr>
              <a:t>Week 7: Evaluating Gen AI outputs</a:t>
            </a: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lIns="0" tIns="0" rIns="0" bIns="0" rtlCol="0" anchor="t"/>
          <a:lstStyle/>
          <a:p>
            <a:pPr algn="l" indent="0" marL="0">
              <a:buNone/>
            </a:pPr>
            <a:r>
              <a:rPr lang="en-US" sz="2200" dirty="0">
                <a:solidFill>
                  <a:srgbClr val="FFFFFF"/>
                </a:solidFill>
              </a:rPr>
              <a:t>Health Data Analytics · Week 7 AI Seminar</a:t>
            </a:r>
            <a:endParaRPr lang="en-US" sz="220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What can go wrong</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Hallucinated facts, citations and column names</a:t>
            </a:r>
            <a:endParaRPr lang="en-US" sz="2400" dirty="0"/>
          </a:p>
          <a:p>
            <a:pPr algn="l" marL="342900" indent="-342900">
              <a:spcAft>
                <a:spcPts val="1000"/>
              </a:spcAft>
              <a:buSzPct val="100000"/>
              <a:buChar char="•"/>
            </a:pPr>
            <a:r>
              <a:rPr lang="en-US" sz="2400" dirty="0">
                <a:solidFill>
                  <a:srgbClr val="FFFFFF"/>
                </a:solidFill>
              </a:rPr>
              <a:t>Outdated rules, codes or deadlines</a:t>
            </a:r>
            <a:endParaRPr lang="en-US" sz="2400" dirty="0"/>
          </a:p>
          <a:p>
            <a:pPr algn="l" marL="342900" indent="-342900">
              <a:spcAft>
                <a:spcPts val="1000"/>
              </a:spcAft>
              <a:buSzPct val="100000"/>
              <a:buChar char="•"/>
            </a:pPr>
            <a:r>
              <a:rPr lang="en-US" sz="2400" dirty="0">
                <a:solidFill>
                  <a:srgbClr val="FFFFFF"/>
                </a:solidFill>
              </a:rPr>
              <a:t>Correct-looking code with wrong logic</a:t>
            </a:r>
            <a:endParaRPr lang="en-US" sz="2400" dirty="0"/>
          </a:p>
          <a:p>
            <a:pPr algn="l" marL="342900" indent="-342900">
              <a:spcAft>
                <a:spcPts val="1000"/>
              </a:spcAft>
              <a:buSzPct val="100000"/>
              <a:buChar char="•"/>
            </a:pPr>
            <a:r>
              <a:rPr lang="en-US" sz="2400" dirty="0">
                <a:solidFill>
                  <a:srgbClr val="FFFFFF"/>
                </a:solidFill>
              </a:rPr>
              <a:t>Confident tone regardless of accuracy</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2</a:t>
            </a:fld>
            <a:endParaRPr lang="en-US"/>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A practical checklist</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Run the code; reconcile totals to a trusted source</a:t>
            </a:r>
            <a:endParaRPr lang="en-US" sz="2400" dirty="0"/>
          </a:p>
          <a:p>
            <a:pPr algn="l" marL="342900" indent="-342900">
              <a:spcAft>
                <a:spcPts val="1000"/>
              </a:spcAft>
              <a:buSzPct val="100000"/>
              <a:buChar char="•"/>
            </a:pPr>
            <a:r>
              <a:rPr lang="en-US" sz="2400" dirty="0">
                <a:solidFill>
                  <a:srgbClr val="FFFFFF"/>
                </a:solidFill>
              </a:rPr>
              <a:t>Check facts against primary sources</a:t>
            </a:r>
            <a:endParaRPr lang="en-US" sz="2400" dirty="0"/>
          </a:p>
          <a:p>
            <a:pPr algn="l" marL="342900" indent="-342900">
              <a:spcAft>
                <a:spcPts val="1000"/>
              </a:spcAft>
              <a:buSzPct val="100000"/>
              <a:buChar char="•"/>
            </a:pPr>
            <a:r>
              <a:rPr lang="en-US" sz="2400" dirty="0">
                <a:solidFill>
                  <a:srgbClr val="FFFFFF"/>
                </a:solidFill>
              </a:rPr>
              <a:t>Test edge cases and known answers</a:t>
            </a:r>
            <a:endParaRPr lang="en-US" sz="2400" dirty="0"/>
          </a:p>
          <a:p>
            <a:pPr algn="l" marL="342900" indent="-342900">
              <a:spcAft>
                <a:spcPts val="1000"/>
              </a:spcAft>
              <a:buSzPct val="100000"/>
              <a:buChar char="•"/>
            </a:pPr>
            <a:r>
              <a:rPr lang="en-US" sz="2400" dirty="0">
                <a:solidFill>
                  <a:srgbClr val="FFFFFF"/>
                </a:solidFill>
              </a:rPr>
              <a:t>Ask a second person or a second method</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3</a:t>
            </a:fld>
            <a:endParaRPr lang="en-US"/>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Document and stay accountable</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Record which tool and prompt produced what</a:t>
            </a:r>
            <a:endParaRPr lang="en-US" sz="2400" dirty="0"/>
          </a:p>
          <a:p>
            <a:pPr algn="l" marL="342900" indent="-342900">
              <a:spcAft>
                <a:spcPts val="1000"/>
              </a:spcAft>
              <a:buSzPct val="100000"/>
              <a:buChar char="•"/>
            </a:pPr>
            <a:r>
              <a:rPr lang="en-US" sz="2400" dirty="0">
                <a:solidFill>
                  <a:srgbClr val="FFFFFF"/>
                </a:solidFill>
              </a:rPr>
              <a:t>Note what you checked and changed</a:t>
            </a:r>
            <a:endParaRPr lang="en-US" sz="2400" dirty="0"/>
          </a:p>
          <a:p>
            <a:pPr algn="l" marL="342900" indent="-342900">
              <a:spcAft>
                <a:spcPts val="1000"/>
              </a:spcAft>
              <a:buSzPct val="100000"/>
              <a:buChar char="•"/>
            </a:pPr>
            <a:r>
              <a:rPr lang="en-US" sz="2400" dirty="0">
                <a:solidFill>
                  <a:srgbClr val="FFFFFF"/>
                </a:solidFill>
              </a:rPr>
              <a:t>Disclose AI use where policy requires</a:t>
            </a:r>
            <a:endParaRPr lang="en-US" sz="2400" dirty="0"/>
          </a:p>
          <a:p>
            <a:pPr algn="l" marL="342900" indent="-342900">
              <a:spcAft>
                <a:spcPts val="1000"/>
              </a:spcAft>
              <a:buSzPct val="100000"/>
              <a:buChar char="•"/>
            </a:pPr>
            <a:r>
              <a:rPr lang="en-US" sz="2400" dirty="0">
                <a:solidFill>
                  <a:srgbClr val="FFFFFF"/>
                </a:solidFill>
              </a:rPr>
              <a:t>You own the final result</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4</a:t>
            </a:fld>
            <a:endParaRPr lang="en-US"/>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Discussion</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How would you check an AI-generated analysis before sharing it with a leader in your organization?</a:t>
            </a:r>
            <a:endParaRPr lang="en-US" sz="2400" dirty="0"/>
          </a:p>
          <a:p>
            <a:pPr algn="l" marL="342900" indent="-342900">
              <a:spcAft>
                <a:spcPts val="1000"/>
              </a:spcAft>
              <a:buSzPct val="100000"/>
              <a:buChar char="•"/>
            </a:pPr>
            <a:r>
              <a:rPr lang="en-US" sz="2400" dirty="0">
                <a:solidFill>
                  <a:srgbClr val="FFFFFF"/>
                </a:solidFill>
              </a:rPr>
              <a:t>Draw on your own experience and career, and apply today's seminar to that setting.</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Evaluating Gen AI outputs</dc:title>
  <dc:subject>Week 7 AI Seminar</dc:subject>
  <dc:creator>Health-Data-Analytics</dc:creator>
  <cp:lastModifiedBy>Health-Data-Analytics</cp:lastModifiedBy>
  <cp:revision>1</cp:revision>
  <dcterms:created xsi:type="dcterms:W3CDTF">2026-10-13T20:23:19Z</dcterms:created>
  <dcterms:modified xsi:type="dcterms:W3CDTF">2026-10-13T20:23:19Z</dcterms:modified>
</cp:coreProperties>
</file>