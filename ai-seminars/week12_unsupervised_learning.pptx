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seminar for week 12: Unsupervised Learning Approaches. We will go through the key ideas, current practice and what it means for healthcare analytics work.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Unsupervised methods are used when there is no labeled outcome, which is common in healthcare: no one has labeled which providers are committing fraud or which members form natural segments. The methods group similar records or flag unusual ones.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Payers cluster members to design programs, and special investigations units use clustering and anomaly detection to prioritize audits. Results are leads for humans to investigate, not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Clustering always produces clusters, even in random data. Scaling, choosing k with elbow or silhouette checks, and describing each cluster in plain terms make the results usable. Subject-matter experts should confirm that the groups make sense before anyone acts on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12: Unsupervised Learning Approaches</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12 AI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Finding structure without labels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No outcome variable; the model finds patterns</a:t>
            </a:r>
            <a:endParaRPr lang="en-US" sz="2400" dirty="0"/>
          </a:p>
          <a:p>
            <a:pPr algn="l" marL="342900" indent="-342900">
              <a:spcAft>
                <a:spcPts val="1000"/>
              </a:spcAft>
              <a:buSzPct val="100000"/>
              <a:buChar char="•"/>
            </a:pPr>
            <a:r>
              <a:rPr lang="en-US" sz="2400" dirty="0">
                <a:solidFill>
                  <a:srgbClr val="FFFFFF"/>
                </a:solidFill>
              </a:rPr>
              <a:t>Clustering: k-means, hierarchical, DBSCAN</a:t>
            </a:r>
            <a:endParaRPr lang="en-US" sz="2400" dirty="0"/>
          </a:p>
          <a:p>
            <a:pPr algn="l" marL="342900" indent="-342900">
              <a:spcAft>
                <a:spcPts val="1000"/>
              </a:spcAft>
              <a:buSzPct val="100000"/>
              <a:buChar char="•"/>
            </a:pPr>
            <a:r>
              <a:rPr lang="en-US" sz="2400" dirty="0">
                <a:solidFill>
                  <a:srgbClr val="FFFFFF"/>
                </a:solidFill>
              </a:rPr>
              <a:t>Dimension reduction: PCA, UMAP</a:t>
            </a:r>
            <a:endParaRPr lang="en-US" sz="2400" dirty="0"/>
          </a:p>
          <a:p>
            <a:pPr algn="l" marL="342900" indent="-342900">
              <a:spcAft>
                <a:spcPts val="1000"/>
              </a:spcAft>
              <a:buSzPct val="100000"/>
              <a:buChar char="•"/>
            </a:pPr>
            <a:r>
              <a:rPr lang="en-US" sz="2400" dirty="0">
                <a:solidFill>
                  <a:srgbClr val="FFFFFF"/>
                </a:solidFill>
              </a:rPr>
              <a:t>Anomaly detection: isolation forest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Healthcare uses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Member segmentation for outreach</a:t>
            </a:r>
            <a:endParaRPr lang="en-US" sz="2400" dirty="0"/>
          </a:p>
          <a:p>
            <a:pPr algn="l" marL="342900" indent="-342900">
              <a:spcAft>
                <a:spcPts val="1000"/>
              </a:spcAft>
              <a:buSzPct val="100000"/>
              <a:buChar char="•"/>
            </a:pPr>
            <a:r>
              <a:rPr lang="en-US" sz="2400" dirty="0">
                <a:solidFill>
                  <a:srgbClr val="FFFFFF"/>
                </a:solidFill>
              </a:rPr>
              <a:t>Provider peer groups and outlier detection</a:t>
            </a:r>
            <a:endParaRPr lang="en-US" sz="2400" dirty="0"/>
          </a:p>
          <a:p>
            <a:pPr algn="l" marL="342900" indent="-342900">
              <a:spcAft>
                <a:spcPts val="1000"/>
              </a:spcAft>
              <a:buSzPct val="100000"/>
              <a:buChar char="•"/>
            </a:pPr>
            <a:r>
              <a:rPr lang="en-US" sz="2400" dirty="0">
                <a:solidFill>
                  <a:srgbClr val="FFFFFF"/>
                </a:solidFill>
              </a:rPr>
              <a:t>Fraud, waste and abuse leads</a:t>
            </a:r>
            <a:endParaRPr lang="en-US" sz="2400" dirty="0"/>
          </a:p>
          <a:p>
            <a:pPr algn="l" marL="342900" indent="-342900">
              <a:spcAft>
                <a:spcPts val="1000"/>
              </a:spcAft>
              <a:buSzPct val="100000"/>
              <a:buChar char="•"/>
            </a:pPr>
            <a:r>
              <a:rPr lang="en-US" sz="2400" dirty="0">
                <a:solidFill>
                  <a:srgbClr val="FFFFFF"/>
                </a:solidFill>
              </a:rPr>
              <a:t>Patterns in utilization and care pathways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Making results meaningful</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Scale features before clustering</a:t>
            </a:r>
            <a:endParaRPr lang="en-US" sz="2400" dirty="0"/>
          </a:p>
          <a:p>
            <a:pPr algn="l" marL="342900" indent="-342900">
              <a:spcAft>
                <a:spcPts val="1000"/>
              </a:spcAft>
              <a:buSzPct val="100000"/>
              <a:buChar char="•"/>
            </a:pPr>
            <a:r>
              <a:rPr lang="en-US" sz="2400" dirty="0">
                <a:solidFill>
                  <a:srgbClr val="FFFFFF"/>
                </a:solidFill>
              </a:rPr>
              <a:t>Choose the number of clusters with evidence and judgment</a:t>
            </a:r>
            <a:endParaRPr lang="en-US" sz="2400" dirty="0"/>
          </a:p>
          <a:p>
            <a:pPr algn="l" marL="342900" indent="-342900">
              <a:spcAft>
                <a:spcPts val="1000"/>
              </a:spcAft>
              <a:buSzPct val="100000"/>
              <a:buChar char="•"/>
            </a:pPr>
            <a:r>
              <a:rPr lang="en-US" sz="2400" dirty="0">
                <a:solidFill>
                  <a:srgbClr val="FFFFFF"/>
                </a:solidFill>
              </a:rPr>
              <a:t>Profile and name each cluster</a:t>
            </a:r>
            <a:endParaRPr lang="en-US" sz="2400" dirty="0"/>
          </a:p>
          <a:p>
            <a:pPr algn="l" marL="342900" indent="-342900">
              <a:spcAft>
                <a:spcPts val="1000"/>
              </a:spcAft>
              <a:buSzPct val="100000"/>
              <a:buChar char="•"/>
            </a:pPr>
            <a:r>
              <a:rPr lang="en-US" sz="2400" dirty="0">
                <a:solidFill>
                  <a:srgbClr val="FFFFFF"/>
                </a:solidFill>
              </a:rPr>
              <a:t>Validate with subject experts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What group or pattern in your setting would be worth discovering without a predefined label, and what would you do with it?</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Unsupervised Learning Approaches</dc:title>
  <dc:subject>Week 12 AI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