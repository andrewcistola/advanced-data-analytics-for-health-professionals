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3: Current Gen AI Resource Landscape.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 assistants from OpenAI (ChatGPT), Anthropic (Claude), Google (Gemini) and Microsoft (Copilot) dominate general use, and each now offers agent features that browse, run code or work with files. AI is also embedded in tools analysts already use, such as Office, EHR vendors, BI platforms and databases. Model versions change every few months, so teach the categories and check current versions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Open-weight models can be downloaded and run privately, which matters when data can't leave the organization. Mid-sized models now run on a well-equipped laptop or workstation. Weights are open but training data usually isn't, and licenses vary, so review terms before use. Quality on public benchmarks doesn't guarantee quality on healthcare tasks.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paste protected health information into a consumer AI account. Organizations that allow AI with PHI use enterprise agreements, including a HIPAA business associate agreement, with controls over data retention and training use. Many health systems and payers now have AI governance committees that approve tools and uses. The synthetic data in this course avoids that issue, which is why students can use any tool in labs.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3: Current Gen AI Resource Landscape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3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major tool families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Chat assistants: ChatGPT, Claude, Gemini, Microsoft Copilot</a:t>
            </a:r>
            <a:endParaRPr lang="en-US" sz="2400" dirty="0"/>
          </a:p>
          <a:p>
            <a:pPr algn="l" marL="342900" indent="-342900">
              <a:spcAft>
                <a:spcPts val="1000"/>
              </a:spcAft>
              <a:buSzPct val="100000"/>
              <a:buChar char="•"/>
            </a:pPr>
            <a:r>
              <a:rPr lang="en-US" sz="2400" dirty="0">
                <a:solidFill>
                  <a:srgbClr val="FFFFFF"/>
                </a:solidFill>
              </a:rPr>
              <a:t>Coding assistants and agents in editors and terminals</a:t>
            </a:r>
            <a:endParaRPr lang="en-US" sz="2400" dirty="0"/>
          </a:p>
          <a:p>
            <a:pPr algn="l" marL="342900" indent="-342900">
              <a:spcAft>
                <a:spcPts val="1000"/>
              </a:spcAft>
              <a:buSzPct val="100000"/>
              <a:buChar char="•"/>
            </a:pPr>
            <a:r>
              <a:rPr lang="en-US" sz="2400" dirty="0">
                <a:solidFill>
                  <a:srgbClr val="FFFFFF"/>
                </a:solidFill>
              </a:rPr>
              <a:t>AI built into Office, EHR, BI and database tools</a:t>
            </a:r>
            <a:endParaRPr lang="en-US" sz="2400" dirty="0"/>
          </a:p>
          <a:p>
            <a:pPr algn="l" marL="342900" indent="-342900">
              <a:spcAft>
                <a:spcPts val="1000"/>
              </a:spcAft>
              <a:buSzPct val="100000"/>
              <a:buChar char="•"/>
            </a:pPr>
            <a:r>
              <a:rPr lang="en-US" sz="2400" dirty="0">
                <a:solidFill>
                  <a:srgbClr val="FFFFFF"/>
                </a:solidFill>
              </a:rPr>
              <a:t>Open-weight models you can run locally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Open-weight and local models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Families include Llama, Qwen, DeepSeek, Mistral, Gemma</a:t>
            </a:r>
            <a:endParaRPr lang="en-US" sz="2400" dirty="0"/>
          </a:p>
          <a:p>
            <a:pPr algn="l" marL="342900" indent="-342900">
              <a:spcAft>
                <a:spcPts val="1000"/>
              </a:spcAft>
              <a:buSzPct val="100000"/>
              <a:buChar char="•"/>
            </a:pPr>
            <a:r>
              <a:rPr lang="en-US" sz="2400" dirty="0">
                <a:solidFill>
                  <a:srgbClr val="FFFFFF"/>
                </a:solidFill>
              </a:rPr>
              <a:t>Can run on your own hardware or private cloud</a:t>
            </a:r>
            <a:endParaRPr lang="en-US" sz="2400" dirty="0"/>
          </a:p>
          <a:p>
            <a:pPr algn="l" marL="342900" indent="-342900">
              <a:spcAft>
                <a:spcPts val="1000"/>
              </a:spcAft>
              <a:buSzPct val="100000"/>
              <a:buChar char="•"/>
            </a:pPr>
            <a:r>
              <a:rPr lang="en-US" sz="2400" dirty="0">
                <a:solidFill>
                  <a:srgbClr val="FFFFFF"/>
                </a:solidFill>
              </a:rPr>
              <a:t>Keeps sensitive data in-house</a:t>
            </a:r>
            <a:endParaRPr lang="en-US" sz="2400" dirty="0"/>
          </a:p>
          <a:p>
            <a:pPr algn="l" marL="342900" indent="-342900">
              <a:spcAft>
                <a:spcPts val="1000"/>
              </a:spcAft>
              <a:buSzPct val="100000"/>
              <a:buChar char="•"/>
            </a:pPr>
            <a:r>
              <a:rPr lang="en-US" sz="2400" dirty="0">
                <a:solidFill>
                  <a:srgbClr val="FFFFFF"/>
                </a:solidFill>
              </a:rPr>
              <a:t>Check licenses and test on your own tasks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Choosing a tool for healthcare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PHI requires an approved, contracted tool (BAA)</a:t>
            </a:r>
            <a:endParaRPr lang="en-US" sz="2400" dirty="0"/>
          </a:p>
          <a:p>
            <a:pPr algn="l" marL="342900" indent="-342900">
              <a:spcAft>
                <a:spcPts val="1000"/>
              </a:spcAft>
              <a:buSzPct val="100000"/>
              <a:buChar char="•"/>
            </a:pPr>
            <a:r>
              <a:rPr lang="en-US" sz="2400" dirty="0">
                <a:solidFill>
                  <a:srgbClr val="FFFFFF"/>
                </a:solidFill>
              </a:rPr>
              <a:t>Enterprise versions vs. consumer accounts</a:t>
            </a:r>
            <a:endParaRPr lang="en-US" sz="2400" dirty="0"/>
          </a:p>
          <a:p>
            <a:pPr algn="l" marL="342900" indent="-342900">
              <a:spcAft>
                <a:spcPts val="1000"/>
              </a:spcAft>
              <a:buSzPct val="100000"/>
              <a:buChar char="•"/>
            </a:pPr>
            <a:r>
              <a:rPr lang="en-US" sz="2400" dirty="0">
                <a:solidFill>
                  <a:srgbClr val="FFFFFF"/>
                </a:solidFill>
              </a:rPr>
              <a:t>Data retention and training-use settings</a:t>
            </a:r>
            <a:endParaRPr lang="en-US" sz="2400" dirty="0"/>
          </a:p>
          <a:p>
            <a:pPr algn="l" marL="342900" indent="-342900">
              <a:spcAft>
                <a:spcPts val="1000"/>
              </a:spcAft>
              <a:buSzPct val="100000"/>
              <a:buChar char="•"/>
            </a:pPr>
            <a:r>
              <a:rPr lang="en-US" sz="2400" dirty="0">
                <a:solidFill>
                  <a:srgbClr val="FFFFFF"/>
                </a:solidFill>
              </a:rPr>
              <a:t>Follow your organization's AI policy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generative AI tools does your organization allow, and what rules govern using them with patient or member data?</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Gen AI Resource Landscape</dc:title>
  <dc:subject>Week 3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