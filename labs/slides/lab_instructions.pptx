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notesMasterIdLst>
    <p:notesMasterId r:id="rId3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25d59df1-9a0e-bda0-791e-6bd29d1e510b}">
          <p14:sldIdLst>
            <p14:sldId id="256"/>
            <p14:sldId id="257"/>
            <p14:sldId id="258"/>
            <p14:sldId id="259"/>
            <p14:sldId id="260"/>
          </p14:sldIdLst>
        </p14:section>
        <p14:section name="Phase 1: Foundations: SQL and the revenue cycle" id="{5f34a49d-9995-ffc0-c572-232bd9682ec4}">
          <p14:sldIdLst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</p14:sldIdLst>
        </p14:section>
        <p14:section name="Phase 2: Value-based payment and quality" id="{847ee207-a6b6-7edf-116d-7c20987bcb04}">
          <p14:sldIdLst>
            <p14:sldId id="270"/>
            <p14:sldId id="271"/>
            <p14:sldId id="272"/>
            <p14:sldId id="273"/>
            <p14:sldId id="274"/>
            <p14:sldId id="275"/>
            <p14:sldId id="276"/>
          </p14:sldIdLst>
        </p14:section>
        <p14:section name="Phase 3: Machine learning for population health" id="{4f37148c-414e-2485-f19d-d3cda66c36fa}">
          <p14:sldIdLst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</p14:sldIdLst>
        </p14:section>
        <p14:section name="Phase 4: Putting it together" id="{6a48071d-d7d4-2fa2-a2b8-d45182982ac5}">
          <p14:sldIdLst>
            <p14:sldId id="288"/>
            <p14:sldId id="289"/>
            <p14:sldId id="290"/>
          </p14:sldIdLst>
        </p14:section>
        <p14:section name="Wrap-up" id="{7b1494f8-74e0-8c51-fbde-6c782160ccd5}">
          <p14:sldIdLst>
            <p14:sldId id="29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Overview deck: one overview slide and one instruction slide per lab. Each lab's full handout, solution and expected results are in labs/labNN_*/ in the repository.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lab includes an AI step where students use a generative AI tool and check its output, and ends with a short written answer for a stakeholder, not just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Column-level descriptions are built into the database (DBeaver Properties tab, or duckdb_columns()). The full data dictionary is in synthetic-data/docs/data_dictionary.md.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Troubleshooting tips are in software-setup/troubleshooting.md. Lab 1's first task confirms the setup.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Labs 1–7 run in DBeaver (SQL). Labs 8–13 run in JupyterLab (Python with scikit-learn, statsmodels and TensorFlow).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handout: labs/lab01_software_tour/README.md. Solution and expected results are in the same folder.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Condensed from labs/lab01_software_tour/README.md, which has the exact definitions, code lists and starter code. Time: about 60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handout: labs/lab02_querying_claims/README.md. Solution and expected results are in the same folder.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Condensed from labs/lab02_querying_claims/README.md, which has the exact definitions, code lists and starter code. Time: about 60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handout: labs/lab03_claim_denials/README.md. Solution and expected results are in the same folder.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Condensed from labs/lab03_claim_denials/README.md, which has the exact definitions, code lists and starter code. Time: about 60–75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handout: labs/lab04_prior_authorization/README.md. Solution and expected results are in the same folder.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Condensed from labs/lab04_prior_authorization/README.md, which has the exact definitions, code lists and starter code. Time: about 60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handout: labs/lab05_attribution/README.md. Solution and expected results are in the same folder.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Condensed from labs/lab05_attribution/README.md, which has the exact definitions, code lists and starter code. Time: about 75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handout: labs/lab06_hedis/README.md. Solution and expected results are in the same folder.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Condensed from labs/lab06_hedis/README.md, which has the exact definitions, code lists and starter code. Time: about 75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handout: labs/lab07_provider_performance/README.md. Solution and expected results are in the same folder.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Condensed from labs/lab07_provider_performance/README.md, which has the exact definitions, code lists and starter code. Time: about 75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handout: labs/lab08_coding_gaps/README.md. Solution and expected results are in the same folder.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Condensed from labs/lab08_coding_gaps/README.md, which has the exact definitions, code lists and starter code. Time: about 75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handout: labs/lab09_readmissions/README.md. Solution and expected results are in the same folder.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Condensed from labs/lab09_readmissions/README.md, which has the exact definitions, code lists and starter code. Time: about 75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handout: labs/lab10_diabetes_complications/README.md. Solution and expected results are in the same folder.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Condensed from labs/lab10_diabetes_complications/README.md, which has the exact definitions, code lists and starter code. Time: about 75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handout: labs/lab11_high_risk_zips/README.md. Solution and expected results are in the same folder.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Condensed from labs/lab11_high_risk_zips/README.md, which has the exact definitions, code lists and starter code. Time: about 75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handout: labs/lab12_fraud_detection/README.md. Solution and expected results are in the same folder.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Condensed from labs/lab12_fraud_detection/README.md, which has the exact definitions, code lists and starter code. Time: about 75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handout: labs/lab13_finding_an_intervention/README.md. Solution and expected results are in the same folder.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Condensed from labs/lab13_finding_an_intervention/README.md, which has the exact definitions, code lists and starter code. Time: about 75–90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03120"/>
            <a:ext cx="96012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749040"/>
            <a:ext cx="86868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accent6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377440"/>
            <a:ext cx="749808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840480"/>
            <a:ext cx="694944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accent6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85800"/>
            <a:ext cx="11094415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Health Data Analytics Labs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image" Target="../media/image-36-3.png"/><Relationship Id="rId4" Type="http://schemas.openxmlformats.org/officeDocument/2006/relationships/image" Target="../media/image-36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0312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Health Data Analytics Labs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749040"/>
            <a:ext cx="8686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Thirteen hands-on labs with a synthetic health plan and hospital data warehouse</a:t>
            </a:r>
            <a:endParaRPr lang="en-US" sz="2000" dirty="0"/>
          </a:p>
        </p:txBody>
      </p:sp>
      <p:sp>
        <p:nvSpPr>
          <p:cNvPr id="4" name="icon circle"/>
          <p:cNvSpPr/>
          <p:nvPr/>
        </p:nvSpPr>
        <p:spPr>
          <a:xfrm>
            <a:off x="548640" y="100584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mage 0" descr="FaTre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123" y="1214323"/>
            <a:ext cx="451714" cy="45171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HOW THE LABS WORK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858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Each week's ideas meet in one hands-on lab</a:t>
            </a:r>
            <a:endParaRPr lang="en-US" sz="3200" dirty="0"/>
          </a:p>
        </p:txBody>
      </p:sp>
      <p:sp>
        <p:nvSpPr>
          <p:cNvPr id="4" name="strand card"/>
          <p:cNvSpPr/>
          <p:nvPr/>
        </p:nvSpPr>
        <p:spPr>
          <a:xfrm>
            <a:off x="548640" y="1737360"/>
            <a:ext cx="2514600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5" name="icon circle"/>
          <p:cNvSpPr/>
          <p:nvPr/>
        </p:nvSpPr>
        <p:spPr>
          <a:xfrm>
            <a:off x="822960" y="201168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FaProjectDia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2176272"/>
            <a:ext cx="356616" cy="35661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28346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Project management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218688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Requirements, stakeholders, QA and deliverables</a:t>
            </a:r>
            <a:endParaRPr lang="en-US" sz="1400" dirty="0"/>
          </a:p>
        </p:txBody>
      </p:sp>
      <p:sp>
        <p:nvSpPr>
          <p:cNvPr id="9" name="strand card"/>
          <p:cNvSpPr/>
          <p:nvPr/>
        </p:nvSpPr>
        <p:spPr>
          <a:xfrm>
            <a:off x="3337560" y="1737360"/>
            <a:ext cx="2514600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0" name="icon circle"/>
          <p:cNvSpPr/>
          <p:nvPr/>
        </p:nvSpPr>
        <p:spPr>
          <a:xfrm>
            <a:off x="3611880" y="201168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mage 1" descr="FaRobo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6472" y="2176272"/>
            <a:ext cx="356616" cy="35661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611880" y="28346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AI in analytics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3611880" y="3218688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Using generative AI to write code, and checking its work</a:t>
            </a:r>
            <a:endParaRPr lang="en-US" sz="1400" dirty="0"/>
          </a:p>
        </p:txBody>
      </p:sp>
      <p:sp>
        <p:nvSpPr>
          <p:cNvPr id="14" name="strand card"/>
          <p:cNvSpPr/>
          <p:nvPr/>
        </p:nvSpPr>
        <p:spPr>
          <a:xfrm>
            <a:off x="6126480" y="1737360"/>
            <a:ext cx="2514600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5" name="icon circle"/>
          <p:cNvSpPr/>
          <p:nvPr/>
        </p:nvSpPr>
        <p:spPr>
          <a:xfrm>
            <a:off x="6400800" y="201168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Image 2" descr="FaHeartbea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5392" y="2176272"/>
            <a:ext cx="356616" cy="35661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400800" y="28346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Domain seminar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6400800" y="3218688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Revenue cycle, value-based payment, population health</a:t>
            </a:r>
            <a:endParaRPr lang="en-US" sz="1400" dirty="0"/>
          </a:p>
        </p:txBody>
      </p:sp>
      <p:sp>
        <p:nvSpPr>
          <p:cNvPr id="19" name="strand card"/>
          <p:cNvSpPr/>
          <p:nvPr/>
        </p:nvSpPr>
        <p:spPr>
          <a:xfrm>
            <a:off x="8915400" y="1737360"/>
            <a:ext cx="2514600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20" name="icon circle"/>
          <p:cNvSpPr/>
          <p:nvPr/>
        </p:nvSpPr>
        <p:spPr>
          <a:xfrm>
            <a:off x="9189720" y="201168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1" name="Image 3" descr="FaCod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4312" y="2176272"/>
            <a:ext cx="356616" cy="356616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189720" y="28346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Technical seminar</a:t>
            </a:r>
            <a:endParaRPr lang="en-US" sz="1700" dirty="0"/>
          </a:p>
        </p:txBody>
      </p:sp>
      <p:sp>
        <p:nvSpPr>
          <p:cNvPr id="23" name="Text 17"/>
          <p:cNvSpPr txBox="1"/>
          <p:nvPr/>
        </p:nvSpPr>
        <p:spPr>
          <a:xfrm>
            <a:off x="9189720" y="3218688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SQL in DBeaver, then Python and ML in JupyterLab</a:t>
            </a:r>
            <a:endParaRPr lang="en-US" sz="1400" dirty="0"/>
          </a:p>
        </p:txBody>
      </p:sp>
      <p:sp>
        <p:nvSpPr>
          <p:cNvPr id="24" name="lab card"/>
          <p:cNvSpPr/>
          <p:nvPr/>
        </p:nvSpPr>
        <p:spPr>
          <a:xfrm>
            <a:off x="548640" y="4434840"/>
            <a:ext cx="11094415" cy="1600200"/>
          </a:xfrm>
          <a:prstGeom prst="roundRect">
            <a:avLst>
              <a:gd name="adj" fmla="val 6857"/>
            </a:avLst>
          </a:prstGeom>
          <a:solidFill>
            <a:schemeClr val="tx2"/>
          </a:solidFill>
          <a:ln/>
        </p:spPr>
      </p:sp>
      <p:sp>
        <p:nvSpPr>
          <p:cNvPr id="25" name="icon circle"/>
          <p:cNvSpPr/>
          <p:nvPr/>
        </p:nvSpPr>
        <p:spPr>
          <a:xfrm>
            <a:off x="868680" y="4846320"/>
            <a:ext cx="777240" cy="7772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6" name="Image 4" descr="FaFlask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5218" y="5032858"/>
            <a:ext cx="404165" cy="404165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920240" y="4572000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The lab: </a:t>
            </a:r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one business question, one realistic dataset all term. </a:t>
            </a:r>
            <a:pPr indent="0" marL="0">
              <a:buNone/>
            </a:pPr>
            <a:r>
              <a:rPr lang="en-US" sz="1700" dirty="0">
                <a:solidFill>
                  <a:schemeClr val="accent6"/>
                </a:solidFill>
              </a:rPr>
              <a:t>Every lab has the same rhythm:</a:t>
            </a:r>
            <a:endParaRPr lang="en-US" sz="1700" dirty="0"/>
          </a:p>
        </p:txBody>
      </p:sp>
      <p:sp>
        <p:nvSpPr>
          <p:cNvPr id="28" name="Text 21"/>
          <p:cNvSpPr txBox="1"/>
          <p:nvPr/>
        </p:nvSpPr>
        <p:spPr>
          <a:xfrm>
            <a:off x="1920240" y="51206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1 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Read the question</a:t>
            </a:r>
            <a:endParaRPr lang="en-US" sz="1500" dirty="0"/>
          </a:p>
        </p:txBody>
      </p:sp>
      <p:sp>
        <p:nvSpPr>
          <p:cNvPr id="29" name="Text 22"/>
          <p:cNvSpPr txBox="1"/>
          <p:nvPr/>
        </p:nvSpPr>
        <p:spPr>
          <a:xfrm>
            <a:off x="4297680" y="51206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2 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Query or model</a:t>
            </a:r>
            <a:endParaRPr lang="en-US" sz="1500" dirty="0"/>
          </a:p>
        </p:txBody>
      </p:sp>
      <p:sp>
        <p:nvSpPr>
          <p:cNvPr id="30" name="Text 23"/>
          <p:cNvSpPr txBox="1"/>
          <p:nvPr/>
        </p:nvSpPr>
        <p:spPr>
          <a:xfrm>
            <a:off x="6675120" y="51206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3 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Check the AI's work</a:t>
            </a:r>
            <a:endParaRPr lang="en-US" sz="1500" dirty="0"/>
          </a:p>
        </p:txBody>
      </p:sp>
      <p:sp>
        <p:nvSpPr>
          <p:cNvPr id="31" name="Text 24"/>
          <p:cNvSpPr txBox="1"/>
          <p:nvPr/>
        </p:nvSpPr>
        <p:spPr>
          <a:xfrm>
            <a:off x="9052560" y="51206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4 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Write for a stakeholder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THE DATA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858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One synthetic data warehouse for every lab</a:t>
            </a:r>
            <a:endParaRPr lang="en-US" sz="3200" dirty="0"/>
          </a:p>
        </p:txBody>
      </p:sp>
      <p:sp>
        <p:nvSpPr>
          <p:cNvPr id="4" name="stat card"/>
          <p:cNvSpPr/>
          <p:nvPr/>
        </p:nvSpPr>
        <p:spPr>
          <a:xfrm>
            <a:off x="548640" y="1691640"/>
            <a:ext cx="242316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856232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25,000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5603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members</a:t>
            </a:r>
            <a:endParaRPr lang="en-US" sz="1400" dirty="0"/>
          </a:p>
        </p:txBody>
      </p:sp>
      <p:sp>
        <p:nvSpPr>
          <p:cNvPr id="7" name="stat card"/>
          <p:cNvSpPr/>
          <p:nvPr/>
        </p:nvSpPr>
        <p:spPr>
          <a:xfrm>
            <a:off x="3200400" y="1691640"/>
            <a:ext cx="242316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429000" y="1856232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years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3429000" y="25603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2021–2025</a:t>
            </a:r>
            <a:endParaRPr lang="en-US" sz="1400" dirty="0"/>
          </a:p>
        </p:txBody>
      </p:sp>
      <p:sp>
        <p:nvSpPr>
          <p:cNvPr id="10" name="stat card"/>
          <p:cNvSpPr/>
          <p:nvPr/>
        </p:nvSpPr>
        <p:spPr>
          <a:xfrm>
            <a:off x="548640" y="3291840"/>
            <a:ext cx="242316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3456432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41605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tables</a:t>
            </a:r>
            <a:endParaRPr lang="en-US" sz="1400" dirty="0"/>
          </a:p>
        </p:txBody>
      </p:sp>
      <p:sp>
        <p:nvSpPr>
          <p:cNvPr id="13" name="stat card"/>
          <p:cNvSpPr/>
          <p:nvPr/>
        </p:nvSpPr>
        <p:spPr>
          <a:xfrm>
            <a:off x="3200400" y="3291840"/>
            <a:ext cx="242316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429000" y="3456432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640K</a:t>
            </a:r>
            <a:endParaRPr lang="en-US" sz="3600" dirty="0"/>
          </a:p>
        </p:txBody>
      </p:sp>
      <p:sp>
        <p:nvSpPr>
          <p:cNvPr id="15" name="Text 13"/>
          <p:cNvSpPr txBox="1"/>
          <p:nvPr/>
        </p:nvSpPr>
        <p:spPr>
          <a:xfrm>
            <a:off x="3429000" y="41605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medical claims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029200"/>
            <a:ext cx="5074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4"/>
                </a:solidFill>
              </a:rPr>
              <a:t>Understory Health is a fictional regional system: a medical center, a community hospital and an ACO, Understory Health Partners. Plans include Longleaf Medicare Advantage. No real person, provider or plan is represented.</a:t>
            </a:r>
            <a:endParaRPr lang="en-US" sz="1300" dirty="0"/>
          </a:p>
        </p:txBody>
      </p:sp>
      <p:sp>
        <p:nvSpPr>
          <p:cNvPr id="17" name="icon circle"/>
          <p:cNvSpPr/>
          <p:nvPr/>
        </p:nvSpPr>
        <p:spPr>
          <a:xfrm>
            <a:off x="6263640" y="16916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8" name="Image 0" descr="FaUse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17259" y="1845259"/>
            <a:ext cx="332842" cy="332842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7132320" y="167335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Members and coverage</a:t>
            </a:r>
            <a:endParaRPr lang="en-US" sz="1700" dirty="0"/>
          </a:p>
        </p:txBody>
      </p:sp>
      <p:sp>
        <p:nvSpPr>
          <p:cNvPr id="20" name="Text 17"/>
          <p:cNvSpPr txBox="1"/>
          <p:nvPr/>
        </p:nvSpPr>
        <p:spPr>
          <a:xfrm>
            <a:off x="7132320" y="2020824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Demographics and monthly enrollment across commercial, Marketplace, Medicaid and Medicare</a:t>
            </a:r>
            <a:endParaRPr lang="en-US" sz="1400" dirty="0"/>
          </a:p>
        </p:txBody>
      </p:sp>
      <p:sp>
        <p:nvSpPr>
          <p:cNvPr id="21" name="icon circle"/>
          <p:cNvSpPr/>
          <p:nvPr/>
        </p:nvSpPr>
        <p:spPr>
          <a:xfrm>
            <a:off x="6263640" y="2807208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2" name="Image 1" descr="FaFileMedica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7259" y="2960827"/>
            <a:ext cx="332842" cy="332842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7132320" y="278892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Claims</a:t>
            </a:r>
            <a:endParaRPr lang="en-US" sz="1700" dirty="0"/>
          </a:p>
        </p:txBody>
      </p:sp>
      <p:sp>
        <p:nvSpPr>
          <p:cNvPr id="24" name="Text 20"/>
          <p:cNvSpPr txBox="1"/>
          <p:nvPr/>
        </p:nvSpPr>
        <p:spPr>
          <a:xfrm>
            <a:off x="7132320" y="3136392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Medical claim headers and lines, denials and resubmissions, and pharmacy claims</a:t>
            </a:r>
            <a:endParaRPr lang="en-US" sz="1400" dirty="0"/>
          </a:p>
        </p:txBody>
      </p:sp>
      <p:sp>
        <p:nvSpPr>
          <p:cNvPr id="25" name="icon circle"/>
          <p:cNvSpPr/>
          <p:nvPr/>
        </p:nvSpPr>
        <p:spPr>
          <a:xfrm>
            <a:off x="6263640" y="3922776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6" name="Image 2" descr="FaCog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7259" y="4076395"/>
            <a:ext cx="332842" cy="332842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7132320" y="390448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Operations</a:t>
            </a:r>
            <a:endParaRPr lang="en-US" sz="1700" dirty="0"/>
          </a:p>
        </p:txBody>
      </p:sp>
      <p:sp>
        <p:nvSpPr>
          <p:cNvPr id="28" name="Text 23"/>
          <p:cNvSpPr txBox="1"/>
          <p:nvPr/>
        </p:nvSpPr>
        <p:spPr>
          <a:xfrm>
            <a:off x="7132320" y="425196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Prior authorizations, care management enrollments and a hospital ledger</a:t>
            </a:r>
            <a:endParaRPr lang="en-US" sz="1400" dirty="0"/>
          </a:p>
        </p:txBody>
      </p:sp>
      <p:sp>
        <p:nvSpPr>
          <p:cNvPr id="29" name="icon circle"/>
          <p:cNvSpPr/>
          <p:nvPr/>
        </p:nvSpPr>
        <p:spPr>
          <a:xfrm>
            <a:off x="6263640" y="5038344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0" name="Image 3" descr="FaMapMarkerAl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7259" y="5191963"/>
            <a:ext cx="332842" cy="332842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7132320" y="5020056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Context</a:t>
            </a:r>
            <a:endParaRPr lang="en-US" sz="1700" dirty="0"/>
          </a:p>
        </p:txBody>
      </p:sp>
      <p:sp>
        <p:nvSpPr>
          <p:cNvPr id="32" name="Text 26"/>
          <p:cNvSpPr txBox="1"/>
          <p:nvPr/>
        </p:nvSpPr>
        <p:spPr>
          <a:xfrm>
            <a:off x="7132320" y="5367528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Provider directory and zip-level social and resource measures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BEFORE LAB 1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858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Set up three free, open-source tools</a:t>
            </a:r>
            <a:endParaRPr lang="en-US" sz="3200" dirty="0"/>
          </a:p>
        </p:txBody>
      </p:sp>
      <p:sp>
        <p:nvSpPr>
          <p:cNvPr id="4" name="tool card"/>
          <p:cNvSpPr/>
          <p:nvPr/>
        </p:nvSpPr>
        <p:spPr>
          <a:xfrm>
            <a:off x="548640" y="1691640"/>
            <a:ext cx="3502152" cy="27432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5" name="icon circle"/>
          <p:cNvSpPr/>
          <p:nvPr/>
        </p:nvSpPr>
        <p:spPr>
          <a:xfrm>
            <a:off x="822960" y="19659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FaDatabas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2130552"/>
            <a:ext cx="356616" cy="35661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280720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DuckDB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227832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database. One file, health_analytics.duckdb, that runs on your laptop. No server or account.</a:t>
            </a:r>
            <a:endParaRPr lang="en-US" sz="1400" dirty="0"/>
          </a:p>
        </p:txBody>
      </p:sp>
      <p:sp>
        <p:nvSpPr>
          <p:cNvPr id="9" name="tool card"/>
          <p:cNvSpPr/>
          <p:nvPr/>
        </p:nvSpPr>
        <p:spPr>
          <a:xfrm>
            <a:off x="4325112" y="1691640"/>
            <a:ext cx="3502152" cy="27432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10" name="icon circle"/>
          <p:cNvSpPr/>
          <p:nvPr/>
        </p:nvSpPr>
        <p:spPr>
          <a:xfrm>
            <a:off x="4599432" y="19659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mage 1" descr="FaTab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4024" y="2130552"/>
            <a:ext cx="356616" cy="35661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99432" y="280720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DBeaver Community</a:t>
            </a:r>
            <a:endParaRPr lang="en-US" sz="1900" dirty="0"/>
          </a:p>
        </p:txBody>
      </p:sp>
      <p:sp>
        <p:nvSpPr>
          <p:cNvPr id="13" name="Text 9"/>
          <p:cNvSpPr txBox="1"/>
          <p:nvPr/>
        </p:nvSpPr>
        <p:spPr>
          <a:xfrm>
            <a:off x="4599432" y="3227832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SQL editor for Labs 1–7. Connect with duckdb.read_only=true so several tools can open the file at once.</a:t>
            </a:r>
            <a:endParaRPr lang="en-US" sz="1400" dirty="0"/>
          </a:p>
        </p:txBody>
      </p:sp>
      <p:sp>
        <p:nvSpPr>
          <p:cNvPr id="14" name="tool card"/>
          <p:cNvSpPr/>
          <p:nvPr/>
        </p:nvSpPr>
        <p:spPr>
          <a:xfrm>
            <a:off x="8101584" y="1691640"/>
            <a:ext cx="3502152" cy="27432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15" name="icon circle"/>
          <p:cNvSpPr/>
          <p:nvPr/>
        </p:nvSpPr>
        <p:spPr>
          <a:xfrm>
            <a:off x="8375904" y="19659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Image 2" descr="FaBoo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0496" y="2130552"/>
            <a:ext cx="356616" cy="35661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75904" y="280720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JupyterLab</a:t>
            </a:r>
            <a:endParaRPr lang="en-US" sz="1900" dirty="0"/>
          </a:p>
        </p:txBody>
      </p:sp>
      <p:sp>
        <p:nvSpPr>
          <p:cNvPr id="18" name="Text 13"/>
          <p:cNvSpPr txBox="1"/>
          <p:nvPr/>
        </p:nvSpPr>
        <p:spPr>
          <a:xfrm>
            <a:off x="8375904" y="3227832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Python notebooks for Labs 8–13, installed with Miniforge in the health-analytics conda environment.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548640" y="47548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Follow software-setup/ in the repository: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get the data, install DBeaver and JupyterLab, then run check_setup.py. It should report 19 tables and 639,612 medical claims.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THE LABS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858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Thirteen labs in four phases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1463040" y="160020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Foundations: SQL and the revenue cycle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965960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Relational databases and SQL in DBeaver, applied to claims, denials and prior authorization.</a:t>
            </a:r>
            <a:endParaRPr lang="en-US" sz="1300" dirty="0"/>
          </a:p>
        </p:txBody>
      </p:sp>
      <p:sp>
        <p:nvSpPr>
          <p:cNvPr id="7" name="lab chip"/>
          <p:cNvSpPr/>
          <p:nvPr/>
        </p:nvSpPr>
        <p:spPr>
          <a:xfrm>
            <a:off x="7315200" y="1673352"/>
            <a:ext cx="713232" cy="71323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0" y="1673352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9" name="lab chip"/>
          <p:cNvSpPr/>
          <p:nvPr/>
        </p:nvSpPr>
        <p:spPr>
          <a:xfrm>
            <a:off x="8183880" y="1673352"/>
            <a:ext cx="713232" cy="71323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183880" y="1673352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lab chip"/>
          <p:cNvSpPr/>
          <p:nvPr/>
        </p:nvSpPr>
        <p:spPr>
          <a:xfrm>
            <a:off x="9052560" y="1673352"/>
            <a:ext cx="713232" cy="71323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052560" y="1673352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3" name="lab chip"/>
          <p:cNvSpPr/>
          <p:nvPr/>
        </p:nvSpPr>
        <p:spPr>
          <a:xfrm>
            <a:off x="9921240" y="1673352"/>
            <a:ext cx="713232" cy="71323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921240" y="1673352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274320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600" dirty="0"/>
          </a:p>
        </p:txBody>
      </p:sp>
      <p:sp>
        <p:nvSpPr>
          <p:cNvPr id="16" name="Text 14"/>
          <p:cNvSpPr txBox="1"/>
          <p:nvPr/>
        </p:nvSpPr>
        <p:spPr>
          <a:xfrm>
            <a:off x="1463040" y="274320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Value-based payment and quality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3108960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Joins, subqueries and query optimization, applied to attribution, quality measures and provider scorecards.</a:t>
            </a:r>
            <a:endParaRPr lang="en-US" sz="1300" dirty="0"/>
          </a:p>
        </p:txBody>
      </p:sp>
      <p:sp>
        <p:nvSpPr>
          <p:cNvPr id="18" name="lab chip"/>
          <p:cNvSpPr/>
          <p:nvPr/>
        </p:nvSpPr>
        <p:spPr>
          <a:xfrm>
            <a:off x="7315200" y="2816352"/>
            <a:ext cx="713232" cy="71323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315200" y="2816352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20" name="lab chip"/>
          <p:cNvSpPr/>
          <p:nvPr/>
        </p:nvSpPr>
        <p:spPr>
          <a:xfrm>
            <a:off x="8183880" y="2816352"/>
            <a:ext cx="713232" cy="71323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183880" y="2816352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6</a:t>
            </a:r>
            <a:endParaRPr lang="en-US" sz="1800" dirty="0"/>
          </a:p>
        </p:txBody>
      </p:sp>
      <p:sp>
        <p:nvSpPr>
          <p:cNvPr id="22" name="lab chip"/>
          <p:cNvSpPr/>
          <p:nvPr/>
        </p:nvSpPr>
        <p:spPr>
          <a:xfrm>
            <a:off x="9052560" y="2816352"/>
            <a:ext cx="713232" cy="71323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052560" y="2816352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7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388620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600" dirty="0"/>
          </a:p>
        </p:txBody>
      </p:sp>
      <p:sp>
        <p:nvSpPr>
          <p:cNvPr id="25" name="Text 23"/>
          <p:cNvSpPr txBox="1"/>
          <p:nvPr/>
        </p:nvSpPr>
        <p:spPr>
          <a:xfrm>
            <a:off x="1463040" y="388620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Machine learning for population health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1463040" y="4251960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Python in JupyterLab: regression, trees, random forests, neural networks and clustering.</a:t>
            </a:r>
            <a:endParaRPr lang="en-US" sz="1300" dirty="0"/>
          </a:p>
        </p:txBody>
      </p:sp>
      <p:sp>
        <p:nvSpPr>
          <p:cNvPr id="27" name="lab chip"/>
          <p:cNvSpPr/>
          <p:nvPr/>
        </p:nvSpPr>
        <p:spPr>
          <a:xfrm>
            <a:off x="7315200" y="3959352"/>
            <a:ext cx="713232" cy="71323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315200" y="3959352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8</a:t>
            </a:r>
            <a:endParaRPr lang="en-US" sz="1800" dirty="0"/>
          </a:p>
        </p:txBody>
      </p:sp>
      <p:sp>
        <p:nvSpPr>
          <p:cNvPr id="29" name="lab chip"/>
          <p:cNvSpPr/>
          <p:nvPr/>
        </p:nvSpPr>
        <p:spPr>
          <a:xfrm>
            <a:off x="8183880" y="3959352"/>
            <a:ext cx="713232" cy="71323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183880" y="3959352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9</a:t>
            </a:r>
            <a:endParaRPr lang="en-US" sz="1800" dirty="0"/>
          </a:p>
        </p:txBody>
      </p:sp>
      <p:sp>
        <p:nvSpPr>
          <p:cNvPr id="31" name="lab chip"/>
          <p:cNvSpPr/>
          <p:nvPr/>
        </p:nvSpPr>
        <p:spPr>
          <a:xfrm>
            <a:off x="9052560" y="3959352"/>
            <a:ext cx="713232" cy="71323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052560" y="3959352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10</a:t>
            </a:r>
            <a:endParaRPr lang="en-US" sz="1800" dirty="0"/>
          </a:p>
        </p:txBody>
      </p:sp>
      <p:sp>
        <p:nvSpPr>
          <p:cNvPr id="33" name="lab chip"/>
          <p:cNvSpPr/>
          <p:nvPr/>
        </p:nvSpPr>
        <p:spPr>
          <a:xfrm>
            <a:off x="9921240" y="3959352"/>
            <a:ext cx="713232" cy="71323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9921240" y="3959352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11</a:t>
            </a:r>
            <a:endParaRPr lang="en-US" sz="1800" dirty="0"/>
          </a:p>
        </p:txBody>
      </p:sp>
      <p:sp>
        <p:nvSpPr>
          <p:cNvPr id="35" name="lab chip"/>
          <p:cNvSpPr/>
          <p:nvPr/>
        </p:nvSpPr>
        <p:spPr>
          <a:xfrm>
            <a:off x="10789920" y="3959352"/>
            <a:ext cx="713232" cy="71323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10789920" y="3959352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12</a:t>
            </a:r>
            <a:endParaRPr lang="en-US" sz="1800" dirty="0"/>
          </a:p>
        </p:txBody>
      </p:sp>
      <p:sp>
        <p:nvSpPr>
          <p:cNvPr id="37" name="Text 35"/>
          <p:cNvSpPr txBox="1"/>
          <p:nvPr/>
        </p:nvSpPr>
        <p:spPr>
          <a:xfrm>
            <a:off x="548640" y="502920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600" dirty="0"/>
          </a:p>
        </p:txBody>
      </p:sp>
      <p:sp>
        <p:nvSpPr>
          <p:cNvPr id="38" name="Text 36"/>
          <p:cNvSpPr txBox="1"/>
          <p:nvPr/>
        </p:nvSpPr>
        <p:spPr>
          <a:xfrm>
            <a:off x="1463040" y="502920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Putting it together</a:t>
            </a:r>
            <a:endParaRPr lang="en-US" sz="1800" dirty="0"/>
          </a:p>
        </p:txBody>
      </p:sp>
      <p:sp>
        <p:nvSpPr>
          <p:cNvPr id="39" name="Text 37"/>
          <p:cNvSpPr txBox="1"/>
          <p:nvPr/>
        </p:nvSpPr>
        <p:spPr>
          <a:xfrm>
            <a:off x="1463040" y="5394960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 multi-model workflow that turns predictions into an intervention decision with an estimated return.</a:t>
            </a:r>
            <a:endParaRPr lang="en-US" sz="1300" dirty="0"/>
          </a:p>
        </p:txBody>
      </p:sp>
      <p:sp>
        <p:nvSpPr>
          <p:cNvPr id="40" name="lab chip"/>
          <p:cNvSpPr/>
          <p:nvPr/>
        </p:nvSpPr>
        <p:spPr>
          <a:xfrm>
            <a:off x="7315200" y="5102352"/>
            <a:ext cx="713232" cy="713232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7315200" y="5102352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13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3"/>
                </a:solidFill>
              </a:rPr>
              <a:t>PHASE 01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377440"/>
            <a:ext cx="7498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Foundations: SQL and the revenue cycle</a:t>
            </a:r>
            <a:endParaRPr lang="en-US" sz="40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3840480"/>
            <a:ext cx="694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Relational databases and SQL in DBeaver, applied to claims, denials and prior authorization.</a:t>
            </a:r>
            <a:endParaRPr lang="en-US" sz="1800" dirty="0"/>
          </a:p>
        </p:txBody>
      </p:sp>
      <p:sp>
        <p:nvSpPr>
          <p:cNvPr id="5" name="lab chip"/>
          <p:cNvSpPr/>
          <p:nvPr/>
        </p:nvSpPr>
        <p:spPr>
          <a:xfrm>
            <a:off x="8412480" y="1463040"/>
            <a:ext cx="621792" cy="62179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12480" y="146304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89720" y="1463040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Software Tour</a:t>
            </a:r>
            <a:endParaRPr lang="en-US" sz="1500" dirty="0"/>
          </a:p>
        </p:txBody>
      </p:sp>
      <p:sp>
        <p:nvSpPr>
          <p:cNvPr id="8" name="lab chip"/>
          <p:cNvSpPr/>
          <p:nvPr/>
        </p:nvSpPr>
        <p:spPr>
          <a:xfrm>
            <a:off x="8412480" y="2304288"/>
            <a:ext cx="621792" cy="62179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412480" y="230428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9189720" y="2304288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Querying Claims Data</a:t>
            </a:r>
            <a:endParaRPr lang="en-US" sz="1500" dirty="0"/>
          </a:p>
        </p:txBody>
      </p:sp>
      <p:sp>
        <p:nvSpPr>
          <p:cNvPr id="11" name="lab chip"/>
          <p:cNvSpPr/>
          <p:nvPr/>
        </p:nvSpPr>
        <p:spPr>
          <a:xfrm>
            <a:off x="8412480" y="3145536"/>
            <a:ext cx="621792" cy="62179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412480" y="3145536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9189720" y="3145536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Claim Denials</a:t>
            </a:r>
            <a:endParaRPr lang="en-US" sz="1500" dirty="0"/>
          </a:p>
        </p:txBody>
      </p:sp>
      <p:sp>
        <p:nvSpPr>
          <p:cNvPr id="14" name="lab chip"/>
          <p:cNvSpPr/>
          <p:nvPr/>
        </p:nvSpPr>
        <p:spPr>
          <a:xfrm>
            <a:off x="8412480" y="3986784"/>
            <a:ext cx="621792" cy="62179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412480" y="398678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9189720" y="3986784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Tracking Electronic Prior Authorization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LAB 1 · FOUNDATIONS: SQL AND THE REVENUE CYCLE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858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Lab 1: Software Tour</a:t>
            </a:r>
            <a:endParaRPr lang="en-US" sz="3200" dirty="0"/>
          </a:p>
        </p:txBody>
      </p:sp>
      <p:sp>
        <p:nvSpPr>
          <p:cNvPr id="4" name="question card"/>
          <p:cNvSpPr/>
          <p:nvPr/>
        </p:nvSpPr>
        <p:spPr>
          <a:xfrm>
            <a:off x="548640" y="1691640"/>
            <a:ext cx="6675120" cy="4343400"/>
          </a:xfrm>
          <a:prstGeom prst="roundRect">
            <a:avLst>
              <a:gd name="adj" fmla="val 3158"/>
            </a:avLst>
          </a:prstGeom>
          <a:solidFill>
            <a:schemeClr val="tx2"/>
          </a:solidFill>
          <a:ln/>
        </p:spPr>
      </p:sp>
      <p:sp>
        <p:nvSpPr>
          <p:cNvPr id="5" name="icon circle"/>
          <p:cNvSpPr/>
          <p:nvPr/>
        </p:nvSpPr>
        <p:spPr>
          <a:xfrm>
            <a:off x="960120" y="210312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FaDatabas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9576" y="2322576"/>
            <a:ext cx="475488" cy="47548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60120" y="324612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THE BUSINESS QUESTION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960120" y="3611880"/>
            <a:ext cx="5852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in this data warehouse, and how do the tables connect?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7635240" y="169164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SKILLS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7635240" y="1984248"/>
            <a:ext cx="4023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Tables, rows, primary and foreign keys; finding your way around DBeaver and JupyterLab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7635240" y="341985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TOOL AND TIME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7635240" y="3712464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DBeaver and JupyterLab · About 60 minutes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7635240" y="459943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DATA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7635240" y="4892040"/>
            <a:ext cx="40233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whole database, mainly beneficiaries, coverage_member_months, medical_claims, medical_claim_lines, pharmacy_claims and providers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LAB 1 · INSTRUCTIONS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858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Lab 1: What to do</a:t>
            </a:r>
            <a:endParaRPr lang="en-US" sz="3200" dirty="0"/>
          </a:p>
        </p:txBody>
      </p:sp>
      <p:sp>
        <p:nvSpPr>
          <p:cNvPr id="4" name="task number"/>
          <p:cNvSpPr/>
          <p:nvPr/>
        </p:nvSpPr>
        <p:spPr>
          <a:xfrm>
            <a:off x="548640" y="16916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73736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Confirm your setup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2103120"/>
            <a:ext cx="640080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Run check_setup.py and the 00_getting_started notebook from software-setup/. Take a screenshot of the checker output.</a:t>
            </a:r>
            <a:endParaRPr lang="en-US" sz="1400" dirty="0"/>
          </a:p>
        </p:txBody>
      </p:sp>
      <p:sp>
        <p:nvSpPr>
          <p:cNvPr id="8" name="task number"/>
          <p:cNvSpPr/>
          <p:nvPr/>
        </p:nvSpPr>
        <p:spPr>
          <a:xfrm>
            <a:off x="548640" y="31699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3169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321564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Find the keys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3581400"/>
            <a:ext cx="640080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Open main → View Diagram. Name the primary keys of beneficiaries, medical_claims and providers, and prove each is unique (COUNT(*) vs. COUNT(DISTINCT …)). Name two foreign-key links and write a join for each.</a:t>
            </a:r>
            <a:endParaRPr lang="en-US" sz="1400" dirty="0"/>
          </a:p>
        </p:txBody>
      </p:sp>
      <p:sp>
        <p:nvSpPr>
          <p:cNvPr id="12" name="task number"/>
          <p:cNvSpPr/>
          <p:nvPr/>
        </p:nvSpPr>
        <p:spPr>
          <a:xfrm>
            <a:off x="548640" y="46482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648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469392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Trace one member's story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5059680"/>
            <a:ext cx="640080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Pick a member with both medical and pharmacy claims. Using only SQL, describe who they are, their coverage over time, and their care: claims by setting, top diagnoses and prescriptions.</a:t>
            </a:r>
            <a:endParaRPr lang="en-US" sz="1400" dirty="0"/>
          </a:p>
        </p:txBody>
      </p:sp>
      <p:sp>
        <p:nvSpPr>
          <p:cNvPr id="16" name="AI step card"/>
          <p:cNvSpPr/>
          <p:nvPr/>
        </p:nvSpPr>
        <p:spPr>
          <a:xfrm>
            <a:off x="8092440" y="1691640"/>
            <a:ext cx="3550615" cy="2103120"/>
          </a:xfrm>
          <a:prstGeom prst="roundRect">
            <a:avLst>
              <a:gd name="adj" fmla="val 5217"/>
            </a:avLst>
          </a:prstGeom>
          <a:solidFill>
            <a:schemeClr val="accent3">
              <a:alpha val="18000"/>
            </a:schemeClr>
          </a:solidFill>
          <a:ln/>
        </p:spPr>
      </p:sp>
      <p:sp>
        <p:nvSpPr>
          <p:cNvPr id="17" name="icon circle"/>
          <p:cNvSpPr/>
          <p:nvPr/>
        </p:nvSpPr>
        <p:spPr>
          <a:xfrm>
            <a:off x="8321040" y="187452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8" name="Image 0" descr="FaRob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0768" y="1984248"/>
            <a:ext cx="237744" cy="237744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8915400" y="1920240"/>
            <a:ext cx="2544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4  AI step</a:t>
            </a:r>
            <a:endParaRPr lang="en-US" sz="1700" dirty="0"/>
          </a:p>
        </p:txBody>
      </p:sp>
      <p:sp>
        <p:nvSpPr>
          <p:cNvPr id="20" name="Text 17"/>
          <p:cNvSpPr txBox="1"/>
          <p:nvPr/>
        </p:nvSpPr>
        <p:spPr>
          <a:xfrm>
            <a:off x="8321040" y="2468880"/>
            <a:ext cx="309341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Ask: "What is the difference between a claim header and a claim line?" Check the answer against medical_claims and medical_claim_lines. Note one thing it got right and one it got wrong or left vague.</a:t>
            </a:r>
            <a:endParaRPr lang="en-US" sz="1300" dirty="0"/>
          </a:p>
        </p:txBody>
      </p:sp>
      <p:sp>
        <p:nvSpPr>
          <p:cNvPr id="21" name="deliverable card"/>
          <p:cNvSpPr/>
          <p:nvPr/>
        </p:nvSpPr>
        <p:spPr>
          <a:xfrm>
            <a:off x="8092440" y="3977640"/>
            <a:ext cx="3550615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22" name="icon circle"/>
          <p:cNvSpPr/>
          <p:nvPr/>
        </p:nvSpPr>
        <p:spPr>
          <a:xfrm>
            <a:off x="8321040" y="41605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3" name="Image 1" descr="Fa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0768" y="4270248"/>
            <a:ext cx="237744" cy="237744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8915400" y="4206240"/>
            <a:ext cx="2544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Deliverable</a:t>
            </a:r>
            <a:endParaRPr lang="en-US" sz="1700" dirty="0"/>
          </a:p>
        </p:txBody>
      </p:sp>
      <p:sp>
        <p:nvSpPr>
          <p:cNvPr id="25" name="Text 21"/>
          <p:cNvSpPr txBox="1"/>
          <p:nvPr/>
        </p:nvSpPr>
        <p:spPr>
          <a:xfrm>
            <a:off x="8321040" y="4754880"/>
            <a:ext cx="3093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One SQL script or notebook: the setup screenshot, your key queries, the member's story (with member_id) and your AI check.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LAB 2 · FOUNDATIONS: SQL AND THE REVENUE CYCLE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858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Lab 2: Querying Claims Data</a:t>
            </a:r>
            <a:endParaRPr lang="en-US" sz="3200" dirty="0"/>
          </a:p>
        </p:txBody>
      </p:sp>
      <p:sp>
        <p:nvSpPr>
          <p:cNvPr id="4" name="question card"/>
          <p:cNvSpPr/>
          <p:nvPr/>
        </p:nvSpPr>
        <p:spPr>
          <a:xfrm>
            <a:off x="548640" y="1691640"/>
            <a:ext cx="6675120" cy="4343400"/>
          </a:xfrm>
          <a:prstGeom prst="roundRect">
            <a:avLst>
              <a:gd name="adj" fmla="val 3158"/>
            </a:avLst>
          </a:prstGeom>
          <a:solidFill>
            <a:schemeClr val="tx2"/>
          </a:solidFill>
          <a:ln/>
        </p:spPr>
      </p:sp>
      <p:sp>
        <p:nvSpPr>
          <p:cNvPr id="5" name="icon circle"/>
          <p:cNvSpPr/>
          <p:nvPr/>
        </p:nvSpPr>
        <p:spPr>
          <a:xfrm>
            <a:off x="960120" y="210312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FaFileInvoiceDolla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9576" y="2322576"/>
            <a:ext cx="475488" cy="47548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60120" y="324612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THE BUSINESS QUESTION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960120" y="3611880"/>
            <a:ext cx="5852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Understory Health's CFO asks: how much did payers pay us last year, and which payers are slowest to pay?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7635240" y="169164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SKILLS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7635240" y="1984248"/>
            <a:ext cx="4023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SELECT, WHERE, ORDER BY, LIMIT, DISTINCT, aggregates (COUNT, SUM, AVG) and date filters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7635240" y="341985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TOOL AND TIME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7635240" y="3712464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DBeaver · About 60 minutes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7635240" y="459943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DATA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7635240" y="4892040"/>
            <a:ext cx="40233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medical_claims (dates, setting, payer, charges, allowed, paid, status) and providers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LAB 2 · INSTRUCTIONS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858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Lab 2: What to do</a:t>
            </a:r>
            <a:endParaRPr lang="en-US" sz="3200" dirty="0"/>
          </a:p>
        </p:txBody>
      </p:sp>
      <p:sp>
        <p:nvSpPr>
          <p:cNvPr id="4" name="task number"/>
          <p:cNvSpPr/>
          <p:nvPr/>
        </p:nvSpPr>
        <p:spPr>
          <a:xfrm>
            <a:off x="548640" y="16916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73736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Size up 2025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2103120"/>
            <a:ext cx="640080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Count 2025 claims and distinct members. List the 10 most expensive inpatient facility claims by allowed amount (no self-pay): claim ID, DRG, length of stay, payer type and allowed.</a:t>
            </a:r>
            <a:endParaRPr lang="en-US" sz="1400" dirty="0"/>
          </a:p>
        </p:txBody>
      </p:sp>
      <p:sp>
        <p:nvSpPr>
          <p:cNvPr id="8" name="task number"/>
          <p:cNvSpPr/>
          <p:nvPr/>
        </p:nvSpPr>
        <p:spPr>
          <a:xfrm>
            <a:off x="548640" y="31699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3169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321564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Understory Regional Medical Center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3581400"/>
            <a:ext cx="640080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For its Paid or Partially Paid 2025 claims: total charges, allowed and paid, and the payment-to-charge ratio. Explain in one sentence why the ratio is so far below 100%.</a:t>
            </a:r>
            <a:endParaRPr lang="en-US" sz="1400" dirty="0"/>
          </a:p>
        </p:txBody>
      </p:sp>
      <p:sp>
        <p:nvSpPr>
          <p:cNvPr id="12" name="task number"/>
          <p:cNvSpPr/>
          <p:nvPr/>
        </p:nvSpPr>
        <p:spPr>
          <a:xfrm>
            <a:off x="548640" y="46482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648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469392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Days to pay by payer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5059680"/>
            <a:ext cx="640080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For Paid claims, average and maximum days from submission_date to adjudication_date by payer_type, slowest first. Hint: DATE_DIFF('day', …).</a:t>
            </a:r>
            <a:endParaRPr lang="en-US" sz="1400" dirty="0"/>
          </a:p>
        </p:txBody>
      </p:sp>
      <p:sp>
        <p:nvSpPr>
          <p:cNvPr id="16" name="AI step card"/>
          <p:cNvSpPr/>
          <p:nvPr/>
        </p:nvSpPr>
        <p:spPr>
          <a:xfrm>
            <a:off x="8092440" y="1691640"/>
            <a:ext cx="3550615" cy="2103120"/>
          </a:xfrm>
          <a:prstGeom prst="roundRect">
            <a:avLst>
              <a:gd name="adj" fmla="val 5217"/>
            </a:avLst>
          </a:prstGeom>
          <a:solidFill>
            <a:schemeClr val="accent3">
              <a:alpha val="18000"/>
            </a:schemeClr>
          </a:solidFill>
          <a:ln/>
        </p:spPr>
      </p:sp>
      <p:sp>
        <p:nvSpPr>
          <p:cNvPr id="17" name="icon circle"/>
          <p:cNvSpPr/>
          <p:nvPr/>
        </p:nvSpPr>
        <p:spPr>
          <a:xfrm>
            <a:off x="8321040" y="187452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8" name="Image 0" descr="FaRob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0768" y="1984248"/>
            <a:ext cx="237744" cy="237744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8915400" y="1920240"/>
            <a:ext cx="2544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4  AI step</a:t>
            </a:r>
            <a:endParaRPr lang="en-US" sz="1700" dirty="0"/>
          </a:p>
        </p:txBody>
      </p:sp>
      <p:sp>
        <p:nvSpPr>
          <p:cNvPr id="20" name="Text 17"/>
          <p:cNvSpPr txBox="1"/>
          <p:nvPr/>
        </p:nvSpPr>
        <p:spPr>
          <a:xfrm>
            <a:off x="8321040" y="2468880"/>
            <a:ext cx="309341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Give an AI tool the column names and have it write the Task 3 query. Run it. Does it match yours? Watch for denied claims or dates in the wrong order.</a:t>
            </a:r>
            <a:endParaRPr lang="en-US" sz="1300" dirty="0"/>
          </a:p>
        </p:txBody>
      </p:sp>
      <p:sp>
        <p:nvSpPr>
          <p:cNvPr id="21" name="deliverable card"/>
          <p:cNvSpPr/>
          <p:nvPr/>
        </p:nvSpPr>
        <p:spPr>
          <a:xfrm>
            <a:off x="8092440" y="3977640"/>
            <a:ext cx="3550615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22" name="icon circle"/>
          <p:cNvSpPr/>
          <p:nvPr/>
        </p:nvSpPr>
        <p:spPr>
          <a:xfrm>
            <a:off x="8321040" y="41605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3" name="Image 1" descr="Fa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0768" y="4270248"/>
            <a:ext cx="237744" cy="237744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8915400" y="4206240"/>
            <a:ext cx="2544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Deliverable</a:t>
            </a:r>
            <a:endParaRPr lang="en-US" sz="1700" dirty="0"/>
          </a:p>
        </p:txBody>
      </p:sp>
      <p:sp>
        <p:nvSpPr>
          <p:cNvPr id="25" name="Text 21"/>
          <p:cNvSpPr txBox="1"/>
          <p:nvPr/>
        </p:nvSpPr>
        <p:spPr>
          <a:xfrm>
            <a:off x="8321040" y="4754880"/>
            <a:ext cx="3093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SQL file plus 3–5 sentences to the CFO: total paid, the payment-to-charge ratio and what it means, and the slowest and fastest payers.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LAB 3 · FOUNDATIONS: SQL AND THE REVENUE CYCLE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858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Lab 3: Claim Denials</a:t>
            </a:r>
            <a:endParaRPr lang="en-US" sz="3200" dirty="0"/>
          </a:p>
        </p:txBody>
      </p:sp>
      <p:sp>
        <p:nvSpPr>
          <p:cNvPr id="4" name="question card"/>
          <p:cNvSpPr/>
          <p:nvPr/>
        </p:nvSpPr>
        <p:spPr>
          <a:xfrm>
            <a:off x="548640" y="1691640"/>
            <a:ext cx="6675120" cy="4343400"/>
          </a:xfrm>
          <a:prstGeom prst="roundRect">
            <a:avLst>
              <a:gd name="adj" fmla="val 3158"/>
            </a:avLst>
          </a:prstGeom>
          <a:solidFill>
            <a:schemeClr val="tx2"/>
          </a:solidFill>
          <a:ln/>
        </p:spPr>
      </p:sp>
      <p:sp>
        <p:nvSpPr>
          <p:cNvPr id="5" name="icon circle"/>
          <p:cNvSpPr/>
          <p:nvPr/>
        </p:nvSpPr>
        <p:spPr>
          <a:xfrm>
            <a:off x="960120" y="210312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FaBa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9576" y="2322576"/>
            <a:ext cx="475488" cy="47548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60120" y="324612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THE BUSINESS QUESTION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960120" y="3611880"/>
            <a:ext cx="5852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denials cost Understory the most, and how much denied money is ever recovered? The revenue cycle director will pick one fix for next quarter.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7635240" y="169164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SKILLS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7635240" y="1984248"/>
            <a:ext cx="4023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CASE WHEN for grouping and flags, conditional aggregation and NULL handling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7635240" y="341985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TOOL AND TIME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7635240" y="3712464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DBeaver · About 60–75 minutes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7635240" y="459943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DATA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7635240" y="4892040"/>
            <a:ext cx="40233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medical_claims (status, denial reason, related_claim_id, account_id) and ref_carc. Originals have related_claim_id IS NULL; leave out Self-pay and Pending.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LAB 3 · INSTRUCTIONS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858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Lab 3: What to do</a:t>
            </a:r>
            <a:endParaRPr lang="en-US" sz="3200" dirty="0"/>
          </a:p>
        </p:txBody>
      </p:sp>
      <p:sp>
        <p:nvSpPr>
          <p:cNvPr id="4" name="task number"/>
          <p:cNvSpPr/>
          <p:nvPr/>
        </p:nvSpPr>
        <p:spPr>
          <a:xfrm>
            <a:off x="548640" y="16916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73736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Initial denial rate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2103120"/>
            <a:ext cx="640080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By payer_type and service year: original submissions, denied originals and the denial rate. Which payer types are highest? Is the rate rising?</a:t>
            </a:r>
            <a:endParaRPr lang="en-US" sz="1400" dirty="0"/>
          </a:p>
        </p:txBody>
      </p:sp>
      <p:sp>
        <p:nvSpPr>
          <p:cNvPr id="8" name="task number"/>
          <p:cNvSpPr/>
          <p:nvPr/>
        </p:nvSpPr>
        <p:spPr>
          <a:xfrm>
            <a:off x="548640" y="31699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3169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321564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Denial categories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3581400"/>
            <a:ext cx="640080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Use CASE WHEN on denial_reason_code to group denials into eligibility, coding, authorization, medical necessity, timely filing and other (CARC list in the handout). Rank by denied charges.</a:t>
            </a:r>
            <a:endParaRPr lang="en-US" sz="1400" dirty="0"/>
          </a:p>
        </p:txBody>
      </p:sp>
      <p:sp>
        <p:nvSpPr>
          <p:cNvPr id="12" name="task number"/>
          <p:cNvSpPr/>
          <p:nvPr/>
        </p:nvSpPr>
        <p:spPr>
          <a:xfrm>
            <a:off x="548640" y="46482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648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469392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What happens after a denial?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5059680"/>
            <a:ext cx="640080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For each denied original, did a later claim on the same account_id get paid? Report denied accounts and charges, the share and dollars recovered, and break it out by category.</a:t>
            </a:r>
            <a:endParaRPr lang="en-US" sz="1400" dirty="0"/>
          </a:p>
        </p:txBody>
      </p:sp>
      <p:sp>
        <p:nvSpPr>
          <p:cNvPr id="16" name="AI step card"/>
          <p:cNvSpPr/>
          <p:nvPr/>
        </p:nvSpPr>
        <p:spPr>
          <a:xfrm>
            <a:off x="8092440" y="1691640"/>
            <a:ext cx="3550615" cy="2103120"/>
          </a:xfrm>
          <a:prstGeom prst="roundRect">
            <a:avLst>
              <a:gd name="adj" fmla="val 5217"/>
            </a:avLst>
          </a:prstGeom>
          <a:solidFill>
            <a:schemeClr val="accent3">
              <a:alpha val="18000"/>
            </a:schemeClr>
          </a:solidFill>
          <a:ln/>
        </p:spPr>
      </p:sp>
      <p:sp>
        <p:nvSpPr>
          <p:cNvPr id="17" name="icon circle"/>
          <p:cNvSpPr/>
          <p:nvPr/>
        </p:nvSpPr>
        <p:spPr>
          <a:xfrm>
            <a:off x="8321040" y="187452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8" name="Image 0" descr="FaRob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0768" y="1984248"/>
            <a:ext cx="237744" cy="237744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8915400" y="1920240"/>
            <a:ext cx="2544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4  AI step</a:t>
            </a:r>
            <a:endParaRPr lang="en-US" sz="1700" dirty="0"/>
          </a:p>
        </p:txBody>
      </p:sp>
      <p:sp>
        <p:nvSpPr>
          <p:cNvPr id="20" name="Text 17"/>
          <p:cNvSpPr txBox="1"/>
          <p:nvPr/>
        </p:nvSpPr>
        <p:spPr>
          <a:xfrm>
            <a:off x="8321040" y="2468880"/>
            <a:ext cx="309341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Ask an AI tool for current industry benchmarks for initial denial rates. Compare them with Task 1, and note which benchmarks came with a source.</a:t>
            </a:r>
            <a:endParaRPr lang="en-US" sz="1300" dirty="0"/>
          </a:p>
        </p:txBody>
      </p:sp>
      <p:sp>
        <p:nvSpPr>
          <p:cNvPr id="21" name="deliverable card"/>
          <p:cNvSpPr/>
          <p:nvPr/>
        </p:nvSpPr>
        <p:spPr>
          <a:xfrm>
            <a:off x="8092440" y="3977640"/>
            <a:ext cx="3550615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22" name="icon circle"/>
          <p:cNvSpPr/>
          <p:nvPr/>
        </p:nvSpPr>
        <p:spPr>
          <a:xfrm>
            <a:off x="8321040" y="41605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3" name="Image 1" descr="Fa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0768" y="4270248"/>
            <a:ext cx="237744" cy="237744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8915400" y="4206240"/>
            <a:ext cx="2544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Deliverable</a:t>
            </a:r>
            <a:endParaRPr lang="en-US" sz="1700" dirty="0"/>
          </a:p>
        </p:txBody>
      </p:sp>
      <p:sp>
        <p:nvSpPr>
          <p:cNvPr id="25" name="Text 21"/>
          <p:cNvSpPr txBox="1"/>
          <p:nvPr/>
        </p:nvSpPr>
        <p:spPr>
          <a:xfrm>
            <a:off x="8321040" y="4754880"/>
            <a:ext cx="3093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SQL file plus 3–5 sentences naming the one denial category to target first, with the numbers that justify it.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LAB 4 · FOUNDATIONS: SQL AND THE REVENUE CYCLE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858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Lab 4: Tracking Electronic Prior Authorization</a:t>
            </a:r>
            <a:endParaRPr lang="en-US" sz="3200" dirty="0"/>
          </a:p>
        </p:txBody>
      </p:sp>
      <p:sp>
        <p:nvSpPr>
          <p:cNvPr id="4" name="question card"/>
          <p:cNvSpPr/>
          <p:nvPr/>
        </p:nvSpPr>
        <p:spPr>
          <a:xfrm>
            <a:off x="548640" y="1691640"/>
            <a:ext cx="6675120" cy="4343400"/>
          </a:xfrm>
          <a:prstGeom prst="roundRect">
            <a:avLst>
              <a:gd name="adj" fmla="val 3158"/>
            </a:avLst>
          </a:prstGeom>
          <a:solidFill>
            <a:schemeClr val="tx2"/>
          </a:solidFill>
          <a:ln/>
        </p:spPr>
      </p:sp>
      <p:sp>
        <p:nvSpPr>
          <p:cNvPr id="5" name="icon circle"/>
          <p:cNvSpPr/>
          <p:nvPr/>
        </p:nvSpPr>
        <p:spPr>
          <a:xfrm>
            <a:off x="960120" y="210312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FaFileSignat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9576" y="2322576"/>
            <a:ext cx="475488" cy="47548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60120" y="324612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THE BUSINESS QUESTION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960120" y="3611880"/>
            <a:ext cx="5852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fast is electronic prior authorization (ePA) growing in our market, does it speed up decisions, and which practices should Understory target for outreach?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7635240" y="169164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SKILLS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7635240" y="1984248"/>
            <a:ext cx="4023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GROUP BY on several columns, HAVING, percentages within groups and MEDIAN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7635240" y="341985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TOOL AND TIME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7635240" y="3712464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DBeaver · About 60 minutes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7635240" y="459943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DATA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7635240" y="4892040"/>
            <a:ext cx="40233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prior_authorizations (request type, channel, turnaround, decision) and providers (practice for the requesting NPI)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LAB 4 · INSTRUCTIONS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858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Lab 4: What to do</a:t>
            </a:r>
            <a:endParaRPr lang="en-US" sz="3200" dirty="0"/>
          </a:p>
        </p:txBody>
      </p:sp>
      <p:sp>
        <p:nvSpPr>
          <p:cNvPr id="4" name="task number"/>
          <p:cNvSpPr/>
          <p:nvPr/>
        </p:nvSpPr>
        <p:spPr>
          <a:xfrm>
            <a:off x="548640" y="16916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73736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ePA growth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2103120"/>
            <a:ext cx="640080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Count PA requests by year, request_type and submission_channel. Then compute the ePA share for each year and request type.</a:t>
            </a:r>
            <a:endParaRPr lang="en-US" sz="1400" dirty="0"/>
          </a:p>
        </p:txBody>
      </p:sp>
      <p:sp>
        <p:nvSpPr>
          <p:cNvPr id="8" name="task number"/>
          <p:cNvSpPr/>
          <p:nvPr/>
        </p:nvSpPr>
        <p:spPr>
          <a:xfrm>
            <a:off x="548640" y="31699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3169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321564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Does ePA speed things up?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3581400"/>
            <a:ext cx="640080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By channel: requests, median turnaround_hours and approval rate. Add request_type to the GROUP BY. Does the pattern hold for both?</a:t>
            </a:r>
            <a:endParaRPr lang="en-US" sz="1400" dirty="0"/>
          </a:p>
        </p:txBody>
      </p:sp>
      <p:sp>
        <p:nvSpPr>
          <p:cNvPr id="12" name="task number"/>
          <p:cNvSpPr/>
          <p:nvPr/>
        </p:nvSpPr>
        <p:spPr>
          <a:xfrm>
            <a:off x="548640" y="46482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648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469392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Who's lagging?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5059680"/>
            <a:ext cx="640080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For 2025, join to providers on requesting_npi. Keep practices with 10+ requests using HAVING, and list the 5 with the lowest ePA share. Say in a comment why HAVING, not WHERE.</a:t>
            </a:r>
            <a:endParaRPr lang="en-US" sz="1400" dirty="0"/>
          </a:p>
        </p:txBody>
      </p:sp>
      <p:sp>
        <p:nvSpPr>
          <p:cNvPr id="16" name="AI step card"/>
          <p:cNvSpPr/>
          <p:nvPr/>
        </p:nvSpPr>
        <p:spPr>
          <a:xfrm>
            <a:off x="8092440" y="1691640"/>
            <a:ext cx="3550615" cy="2103120"/>
          </a:xfrm>
          <a:prstGeom prst="roundRect">
            <a:avLst>
              <a:gd name="adj" fmla="val 5217"/>
            </a:avLst>
          </a:prstGeom>
          <a:solidFill>
            <a:schemeClr val="accent3">
              <a:alpha val="18000"/>
            </a:schemeClr>
          </a:solidFill>
          <a:ln/>
        </p:spPr>
      </p:sp>
      <p:sp>
        <p:nvSpPr>
          <p:cNvPr id="17" name="icon circle"/>
          <p:cNvSpPr/>
          <p:nvPr/>
        </p:nvSpPr>
        <p:spPr>
          <a:xfrm>
            <a:off x="8321040" y="187452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8" name="Image 0" descr="FaRob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0768" y="1984248"/>
            <a:ext cx="237744" cy="237744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8915400" y="1920240"/>
            <a:ext cx="2544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4  AI step</a:t>
            </a:r>
            <a:endParaRPr lang="en-US" sz="1700" dirty="0"/>
          </a:p>
        </p:txBody>
      </p:sp>
      <p:sp>
        <p:nvSpPr>
          <p:cNvPr id="20" name="Text 17"/>
          <p:cNvSpPr txBox="1"/>
          <p:nvPr/>
        </p:nvSpPr>
        <p:spPr>
          <a:xfrm>
            <a:off x="8321040" y="2468880"/>
            <a:ext cx="309341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Ask which transaction standards are used for ePA for medical services vs. drugs. Did it name X12 278, NCPDP SCRIPT and the FHIR-based APIs in the CMS rule?</a:t>
            </a:r>
            <a:endParaRPr lang="en-US" sz="1300" dirty="0"/>
          </a:p>
        </p:txBody>
      </p:sp>
      <p:sp>
        <p:nvSpPr>
          <p:cNvPr id="21" name="deliverable card"/>
          <p:cNvSpPr/>
          <p:nvPr/>
        </p:nvSpPr>
        <p:spPr>
          <a:xfrm>
            <a:off x="8092440" y="3977640"/>
            <a:ext cx="3550615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22" name="icon circle"/>
          <p:cNvSpPr/>
          <p:nvPr/>
        </p:nvSpPr>
        <p:spPr>
          <a:xfrm>
            <a:off x="8321040" y="41605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3" name="Image 1" descr="Fa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0768" y="4270248"/>
            <a:ext cx="237744" cy="237744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8915400" y="4206240"/>
            <a:ext cx="2544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Deliverable</a:t>
            </a:r>
            <a:endParaRPr lang="en-US" sz="1700" dirty="0"/>
          </a:p>
        </p:txBody>
      </p:sp>
      <p:sp>
        <p:nvSpPr>
          <p:cNvPr id="25" name="Text 21"/>
          <p:cNvSpPr txBox="1"/>
          <p:nvPr/>
        </p:nvSpPr>
        <p:spPr>
          <a:xfrm>
            <a:off x="8321040" y="4754880"/>
            <a:ext cx="3093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SQL file plus 3–5 sentences to the medical director: how much faster ePA is, and which practices to visit first.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3"/>
                </a:solidFill>
              </a:rPr>
              <a:t>PHASE 02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377440"/>
            <a:ext cx="7498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Value-based payment and quality</a:t>
            </a:r>
            <a:endParaRPr lang="en-US" sz="40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3840480"/>
            <a:ext cx="694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Joins, subqueries and query optimization, applied to attribution, quality measures and provider scorecards.</a:t>
            </a:r>
            <a:endParaRPr lang="en-US" sz="1800" dirty="0"/>
          </a:p>
        </p:txBody>
      </p:sp>
      <p:sp>
        <p:nvSpPr>
          <p:cNvPr id="5" name="lab chip"/>
          <p:cNvSpPr/>
          <p:nvPr/>
        </p:nvSpPr>
        <p:spPr>
          <a:xfrm>
            <a:off x="8412480" y="1463040"/>
            <a:ext cx="621792" cy="62179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12480" y="146304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89720" y="1463040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Patient Attribution</a:t>
            </a:r>
            <a:endParaRPr lang="en-US" sz="1500" dirty="0"/>
          </a:p>
        </p:txBody>
      </p:sp>
      <p:sp>
        <p:nvSpPr>
          <p:cNvPr id="8" name="lab chip"/>
          <p:cNvSpPr/>
          <p:nvPr/>
        </p:nvSpPr>
        <p:spPr>
          <a:xfrm>
            <a:off x="8412480" y="2304288"/>
            <a:ext cx="621792" cy="62179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412480" y="230428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9189720" y="2304288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Calculating HEDIS Scores</a:t>
            </a:r>
            <a:endParaRPr lang="en-US" sz="1500" dirty="0"/>
          </a:p>
        </p:txBody>
      </p:sp>
      <p:sp>
        <p:nvSpPr>
          <p:cNvPr id="11" name="lab chip"/>
          <p:cNvSpPr/>
          <p:nvPr/>
        </p:nvSpPr>
        <p:spPr>
          <a:xfrm>
            <a:off x="8412480" y="3145536"/>
            <a:ext cx="621792" cy="62179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412480" y="3145536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7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9189720" y="3145536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Provider Performance Comparison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LAB 5 · VALUE-BASED PAYMENT AND QUALITY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858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Lab 5: Patient Attribution</a:t>
            </a:r>
            <a:endParaRPr lang="en-US" sz="3200" dirty="0"/>
          </a:p>
        </p:txBody>
      </p:sp>
      <p:sp>
        <p:nvSpPr>
          <p:cNvPr id="4" name="question card"/>
          <p:cNvSpPr/>
          <p:nvPr/>
        </p:nvSpPr>
        <p:spPr>
          <a:xfrm>
            <a:off x="548640" y="1691640"/>
            <a:ext cx="6675120" cy="4343400"/>
          </a:xfrm>
          <a:prstGeom prst="roundRect">
            <a:avLst>
              <a:gd name="adj" fmla="val 3158"/>
            </a:avLst>
          </a:prstGeom>
          <a:solidFill>
            <a:schemeClr val="tx2"/>
          </a:solidFill>
          <a:ln/>
        </p:spPr>
      </p:sp>
      <p:sp>
        <p:nvSpPr>
          <p:cNvPr id="5" name="icon circle"/>
          <p:cNvSpPr/>
          <p:nvPr/>
        </p:nvSpPr>
        <p:spPr>
          <a:xfrm>
            <a:off x="960120" y="210312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FaUserM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9576" y="2322576"/>
            <a:ext cx="475488" cy="47548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60120" y="324612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THE BUSINESS QUESTION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960120" y="3611880"/>
            <a:ext cx="5852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members belong to Understory Health Partners' practices in 2025, and how often does a plan's assigned PCP match the PCP the member actually sees?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7635240" y="169164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SKILLS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7635240" y="1984248"/>
            <a:ext cx="4023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INNER JOIN across three tables, LEFT JOIN, and ROW_NUMBER() to pick one row per member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7635240" y="341985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TOOL AND TIME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7635240" y="3712464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DBeaver · About 75 minutes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7635240" y="459943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DATA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7635240" y="4892040"/>
            <a:ext cx="40233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medical_claims, medical_claim_lines, providers and coverage_member_months. Primary care codes: 99202–99205, 99211–99215, 99381–99397, G0438, G0439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LAB 5 · INSTRUCTIONS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858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Lab 5: What to do</a:t>
            </a:r>
            <a:endParaRPr lang="en-US" sz="3200" dirty="0"/>
          </a:p>
        </p:txBody>
      </p:sp>
      <p:sp>
        <p:nvSpPr>
          <p:cNvPr id="4" name="task number"/>
          <p:cNvSpPr/>
          <p:nvPr/>
        </p:nvSpPr>
        <p:spPr>
          <a:xfrm>
            <a:off x="548640" y="16916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73736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Primary care visits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2103120"/>
            <a:ext cx="640080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Join claims → lines → providers to list every 2025 primary care visit with a PCP. Keep member, NPI, practice, ACO and service date. Count one visit per claim.</a:t>
            </a:r>
            <a:endParaRPr lang="en-US" sz="1400" dirty="0"/>
          </a:p>
        </p:txBody>
      </p:sp>
      <p:sp>
        <p:nvSpPr>
          <p:cNvPr id="8" name="task number"/>
          <p:cNvSpPr/>
          <p:nvPr/>
        </p:nvSpPr>
        <p:spPr>
          <a:xfrm>
            <a:off x="548640" y="31699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3169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321564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Attribute members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3581400"/>
            <a:ext cx="640080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Count visits and the last visit date per member and PCP. Keep each member's top PCP with ROW_NUMBER() (most visits, then most recent). How many are attributed, and how many to the ACO?</a:t>
            </a:r>
            <a:endParaRPr lang="en-US" sz="1400" dirty="0"/>
          </a:p>
        </p:txBody>
      </p:sp>
      <p:sp>
        <p:nvSpPr>
          <p:cNvPr id="12" name="task number"/>
          <p:cNvSpPr/>
          <p:nvPr/>
        </p:nvSpPr>
        <p:spPr>
          <a:xfrm>
            <a:off x="548640" y="46482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648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469392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Assigned vs. attributed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5059680"/>
            <a:ext cx="640080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For members with an assigned PCP in December 2025: what share are attributed to that PCP? With a LEFT JOIN, what share had no primary care visit at all?</a:t>
            </a:r>
            <a:endParaRPr lang="en-US" sz="1400" dirty="0"/>
          </a:p>
        </p:txBody>
      </p:sp>
      <p:sp>
        <p:nvSpPr>
          <p:cNvPr id="16" name="AI step card"/>
          <p:cNvSpPr/>
          <p:nvPr/>
        </p:nvSpPr>
        <p:spPr>
          <a:xfrm>
            <a:off x="8092440" y="1691640"/>
            <a:ext cx="3550615" cy="2103120"/>
          </a:xfrm>
          <a:prstGeom prst="roundRect">
            <a:avLst>
              <a:gd name="adj" fmla="val 5217"/>
            </a:avLst>
          </a:prstGeom>
          <a:solidFill>
            <a:schemeClr val="accent3">
              <a:alpha val="18000"/>
            </a:schemeClr>
          </a:solidFill>
          <a:ln/>
        </p:spPr>
      </p:sp>
      <p:sp>
        <p:nvSpPr>
          <p:cNvPr id="17" name="icon circle"/>
          <p:cNvSpPr/>
          <p:nvPr/>
        </p:nvSpPr>
        <p:spPr>
          <a:xfrm>
            <a:off x="8321040" y="187452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8" name="Image 0" descr="FaRob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0768" y="1984248"/>
            <a:ext cx="237744" cy="237744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8915400" y="1920240"/>
            <a:ext cx="2544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4  AI step</a:t>
            </a:r>
            <a:endParaRPr lang="en-US" sz="1700" dirty="0"/>
          </a:p>
        </p:txBody>
      </p:sp>
      <p:sp>
        <p:nvSpPr>
          <p:cNvPr id="20" name="Text 17"/>
          <p:cNvSpPr txBox="1"/>
          <p:nvPr/>
        </p:nvSpPr>
        <p:spPr>
          <a:xfrm>
            <a:off x="8321040" y="2468880"/>
            <a:ext cx="309341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Have an AI tool write the attribution query. Does it break ties by most recent visit? Does it count claims or lines? Fix anything it gets wrong.</a:t>
            </a:r>
            <a:endParaRPr lang="en-US" sz="1300" dirty="0"/>
          </a:p>
        </p:txBody>
      </p:sp>
      <p:sp>
        <p:nvSpPr>
          <p:cNvPr id="21" name="deliverable card"/>
          <p:cNvSpPr/>
          <p:nvPr/>
        </p:nvSpPr>
        <p:spPr>
          <a:xfrm>
            <a:off x="8092440" y="3977640"/>
            <a:ext cx="3550615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22" name="icon circle"/>
          <p:cNvSpPr/>
          <p:nvPr/>
        </p:nvSpPr>
        <p:spPr>
          <a:xfrm>
            <a:off x="8321040" y="41605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3" name="Image 1" descr="Fa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0768" y="4270248"/>
            <a:ext cx="237744" cy="237744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8915400" y="4206240"/>
            <a:ext cx="2544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Deliverable</a:t>
            </a:r>
            <a:endParaRPr lang="en-US" sz="1700" dirty="0"/>
          </a:p>
        </p:txBody>
      </p:sp>
      <p:sp>
        <p:nvSpPr>
          <p:cNvPr id="25" name="Text 21"/>
          <p:cNvSpPr txBox="1"/>
          <p:nvPr/>
        </p:nvSpPr>
        <p:spPr>
          <a:xfrm>
            <a:off x="8321040" y="4754880"/>
            <a:ext cx="3093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SQL file plus 3–5 sentences to the ACO director: members attributed, and what the assigned-vs-actual mismatch means for outreach.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LAB 6 · VALUE-BASED PAYMENT AND QUALITY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858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Lab 6: Calculating HEDIS Scores</a:t>
            </a:r>
            <a:endParaRPr lang="en-US" sz="3200" dirty="0"/>
          </a:p>
        </p:txBody>
      </p:sp>
      <p:sp>
        <p:nvSpPr>
          <p:cNvPr id="4" name="question card"/>
          <p:cNvSpPr/>
          <p:nvPr/>
        </p:nvSpPr>
        <p:spPr>
          <a:xfrm>
            <a:off x="548640" y="1691640"/>
            <a:ext cx="6675120" cy="4343400"/>
          </a:xfrm>
          <a:prstGeom prst="roundRect">
            <a:avLst>
              <a:gd name="adj" fmla="val 3158"/>
            </a:avLst>
          </a:prstGeom>
          <a:solidFill>
            <a:schemeClr val="tx2"/>
          </a:solidFill>
          <a:ln/>
        </p:spPr>
      </p:sp>
      <p:sp>
        <p:nvSpPr>
          <p:cNvPr id="5" name="icon circle"/>
          <p:cNvSpPr/>
          <p:nvPr/>
        </p:nvSpPr>
        <p:spPr>
          <a:xfrm>
            <a:off x="960120" y="210312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FaClipboard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9576" y="2322576"/>
            <a:ext cx="475488" cy="47548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60120" y="324612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THE BUSINESS QUESTION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960120" y="3611880"/>
            <a:ext cx="5852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are Longleaf Medicare Advantage's 2024 rates on three HEDIS-style measures, and how do they compare with the other MA plans in the market?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7635240" y="169164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SKILLS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7635240" y="1984248"/>
            <a:ext cx="4023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Subqueries (IN, EXISTS), CTEs, and building a measure: eligible population → denominator → numerator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7635240" y="341985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TOOL AND TIME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7635240" y="3712464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DBeaver · About 75 minutes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7635240" y="459943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DATA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7635240" y="4892040"/>
            <a:ext cx="40233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coverage_member_months, beneficiaries, medical_claims and medical_claim_lines. Simplified measure specs are in the handout.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LAB 6 · INSTRUCTIONS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858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Lab 6: What to do</a:t>
            </a:r>
            <a:endParaRPr lang="en-US" sz="3200" dirty="0"/>
          </a:p>
        </p:txBody>
      </p:sp>
      <p:sp>
        <p:nvSpPr>
          <p:cNvPr id="4" name="task number"/>
          <p:cNvSpPr/>
          <p:nvPr/>
        </p:nvSpPr>
        <p:spPr>
          <a:xfrm>
            <a:off x="548640" y="16916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73736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Continuous enrollment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2103120"/>
            <a:ext cx="640080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One row per member with plan_id and months enrolled in 2024. Keep members with 11+ months in the same MA plan. How many members does each plan have?</a:t>
            </a:r>
            <a:endParaRPr lang="en-US" sz="1400" dirty="0"/>
          </a:p>
        </p:txBody>
      </p:sp>
      <p:sp>
        <p:nvSpPr>
          <p:cNvPr id="8" name="task number"/>
          <p:cNvSpPr/>
          <p:nvPr/>
        </p:nvSpPr>
        <p:spPr>
          <a:xfrm>
            <a:off x="548640" y="31699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3169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321564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Breast cancer screening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3581400"/>
            <a:ext cx="640080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Build the BCS denominator (women 52–74), then flag mammograms with EXISTS or IN against medical_claim_lines. Report the rate by plan.</a:t>
            </a:r>
            <a:endParaRPr lang="en-US" sz="1400" dirty="0"/>
          </a:p>
        </p:txBody>
      </p:sp>
      <p:sp>
        <p:nvSpPr>
          <p:cNvPr id="12" name="task number"/>
          <p:cNvSpPr/>
          <p:nvPr/>
        </p:nvSpPr>
        <p:spPr>
          <a:xfrm>
            <a:off x="548640" y="46482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648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469392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Diabetes care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5059680"/>
            <a:ext cx="640080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Build the diabetes denominator with a subquery (2+ claims with an E11 diagnosis). Compute A1c testing and eye exam rates by plan.</a:t>
            </a:r>
            <a:endParaRPr lang="en-US" sz="1400" dirty="0"/>
          </a:p>
        </p:txBody>
      </p:sp>
      <p:sp>
        <p:nvSpPr>
          <p:cNvPr id="16" name="AI step card"/>
          <p:cNvSpPr/>
          <p:nvPr/>
        </p:nvSpPr>
        <p:spPr>
          <a:xfrm>
            <a:off x="8092440" y="1691640"/>
            <a:ext cx="3550615" cy="2103120"/>
          </a:xfrm>
          <a:prstGeom prst="roundRect">
            <a:avLst>
              <a:gd name="adj" fmla="val 5217"/>
            </a:avLst>
          </a:prstGeom>
          <a:solidFill>
            <a:schemeClr val="accent3">
              <a:alpha val="18000"/>
            </a:schemeClr>
          </a:solidFill>
          <a:ln/>
        </p:spPr>
      </p:sp>
      <p:sp>
        <p:nvSpPr>
          <p:cNvPr id="17" name="icon circle"/>
          <p:cNvSpPr/>
          <p:nvPr/>
        </p:nvSpPr>
        <p:spPr>
          <a:xfrm>
            <a:off x="8321040" y="187452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8" name="Image 0" descr="FaRob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0768" y="1984248"/>
            <a:ext cx="237744" cy="237744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8915400" y="1920240"/>
            <a:ext cx="2544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4  AI step</a:t>
            </a:r>
            <a:endParaRPr lang="en-US" sz="1700" dirty="0"/>
          </a:p>
        </p:txBody>
      </p:sp>
      <p:sp>
        <p:nvSpPr>
          <p:cNvPr id="20" name="Text 17"/>
          <p:cNvSpPr txBox="1"/>
          <p:nvPr/>
        </p:nvSpPr>
        <p:spPr>
          <a:xfrm>
            <a:off x="8321040" y="2468880"/>
            <a:ext cx="309341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Paste the BCS spec into an AI tool and run its SQL. Does its denominator match yours? Check the age date, sex, lookback window and continuous enrollment.</a:t>
            </a:r>
            <a:endParaRPr lang="en-US" sz="1300" dirty="0"/>
          </a:p>
        </p:txBody>
      </p:sp>
      <p:sp>
        <p:nvSpPr>
          <p:cNvPr id="21" name="deliverable card"/>
          <p:cNvSpPr/>
          <p:nvPr/>
        </p:nvSpPr>
        <p:spPr>
          <a:xfrm>
            <a:off x="8092440" y="3977640"/>
            <a:ext cx="3550615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22" name="icon circle"/>
          <p:cNvSpPr/>
          <p:nvPr/>
        </p:nvSpPr>
        <p:spPr>
          <a:xfrm>
            <a:off x="8321040" y="41605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3" name="Image 1" descr="Fa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0768" y="4270248"/>
            <a:ext cx="237744" cy="237744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8915400" y="4206240"/>
            <a:ext cx="2544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Deliverable</a:t>
            </a:r>
            <a:endParaRPr lang="en-US" sz="1700" dirty="0"/>
          </a:p>
        </p:txBody>
      </p:sp>
      <p:sp>
        <p:nvSpPr>
          <p:cNvPr id="25" name="Text 21"/>
          <p:cNvSpPr txBox="1"/>
          <p:nvPr/>
        </p:nvSpPr>
        <p:spPr>
          <a:xfrm>
            <a:off x="8321040" y="4754880"/>
            <a:ext cx="3093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SQL file plus a plan × measure table (rate and denominator), with two sentences on how Longleaf compares.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LAB 7 · VALUE-BASED PAYMENT AND QUALITY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858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Lab 7: Provider Performance Comparison</a:t>
            </a:r>
            <a:endParaRPr lang="en-US" sz="3200" dirty="0"/>
          </a:p>
        </p:txBody>
      </p:sp>
      <p:sp>
        <p:nvSpPr>
          <p:cNvPr id="4" name="question card"/>
          <p:cNvSpPr/>
          <p:nvPr/>
        </p:nvSpPr>
        <p:spPr>
          <a:xfrm>
            <a:off x="548640" y="1691640"/>
            <a:ext cx="6675120" cy="4343400"/>
          </a:xfrm>
          <a:prstGeom prst="roundRect">
            <a:avLst>
              <a:gd name="adj" fmla="val 3158"/>
            </a:avLst>
          </a:prstGeom>
          <a:solidFill>
            <a:schemeClr val="tx2"/>
          </a:solidFill>
          <a:ln/>
        </p:spPr>
      </p:sp>
      <p:sp>
        <p:nvSpPr>
          <p:cNvPr id="5" name="icon circle"/>
          <p:cNvSpPr/>
          <p:nvPr/>
        </p:nvSpPr>
        <p:spPr>
          <a:xfrm>
            <a:off x="960120" y="210312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FaTachometerAl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9576" y="2322576"/>
            <a:ext cx="475488" cy="47548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60120" y="324612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THE BUSINESS QUESTION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960120" y="3611880"/>
            <a:ext cx="5852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Understory Health Partners practices are truly better or worse on quality and cost, and which differences are just noise from small numbers?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7635240" y="169164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SKILLS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7635240" y="1984248"/>
            <a:ext cx="4023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Query optimization: EXPLAIN ANALYZE, filtering and aggregating early, avoiding row explosion from joins, temp tables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7635240" y="341985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TOOL AND TIME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7635240" y="3712464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DBeaver or JupyterLab · About 75 minutes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7635240" y="459943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DATA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7635240" y="4892040"/>
            <a:ext cx="40233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medical_claims, medical_claim_lines, providers, coverage_member_months and slow_scorecard.sql. Reuse Lab 5's attribution logic for 2024.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LAB 7 · INSTRUCTIONS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858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Lab 7: What to do</a:t>
            </a:r>
            <a:endParaRPr lang="en-US" sz="3200" dirty="0"/>
          </a:p>
        </p:txBody>
      </p:sp>
      <p:sp>
        <p:nvSpPr>
          <p:cNvPr id="4" name="task number"/>
          <p:cNvSpPr/>
          <p:nvPr/>
        </p:nvSpPr>
        <p:spPr>
          <a:xfrm>
            <a:off x="548640" y="16916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73736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Make a slow query fast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2103120"/>
            <a:ext cx="640080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Time slow_scorecard.sql and read its EXPLAIN ANALYZE. Rewrite it to return the same result faster: date ranges, aggregate before joining, skip unneeded lines. Find and fix the wrong allowed_pmpm.</a:t>
            </a:r>
            <a:endParaRPr lang="en-US" sz="1400" dirty="0"/>
          </a:p>
        </p:txBody>
      </p:sp>
      <p:sp>
        <p:nvSpPr>
          <p:cNvPr id="8" name="task number"/>
          <p:cNvSpPr/>
          <p:nvPr/>
        </p:nvSpPr>
        <p:spPr>
          <a:xfrm>
            <a:off x="548640" y="31699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3169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321564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Build the scorecard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3581400"/>
            <a:ext cx="640080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For each ACO practice (2024 attribution): attributed members, A1c testing rate for members with diabetes, ED visits per 1,000 and allowed PMPM. Save it as a temp table.</a:t>
            </a:r>
            <a:endParaRPr lang="en-US" sz="1400" dirty="0"/>
          </a:p>
        </p:txBody>
      </p:sp>
      <p:sp>
        <p:nvSpPr>
          <p:cNvPr id="12" name="task number"/>
          <p:cNvSpPr/>
          <p:nvPr/>
        </p:nvSpPr>
        <p:spPr>
          <a:xfrm>
            <a:off x="548640" y="46482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648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469392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Signal or noise?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5059680"/>
            <a:ext cx="640080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Add a 95% confidence interval to each A1c rate and flag practices with fewer than 30 diabetic members. Which are clearly above or below the ACO average?</a:t>
            </a:r>
            <a:endParaRPr lang="en-US" sz="1400" dirty="0"/>
          </a:p>
        </p:txBody>
      </p:sp>
      <p:sp>
        <p:nvSpPr>
          <p:cNvPr id="16" name="AI step card"/>
          <p:cNvSpPr/>
          <p:nvPr/>
        </p:nvSpPr>
        <p:spPr>
          <a:xfrm>
            <a:off x="8092440" y="1691640"/>
            <a:ext cx="3550615" cy="2103120"/>
          </a:xfrm>
          <a:prstGeom prst="roundRect">
            <a:avLst>
              <a:gd name="adj" fmla="val 5217"/>
            </a:avLst>
          </a:prstGeom>
          <a:solidFill>
            <a:schemeClr val="accent3">
              <a:alpha val="18000"/>
            </a:schemeClr>
          </a:solidFill>
          <a:ln/>
        </p:spPr>
      </p:sp>
      <p:sp>
        <p:nvSpPr>
          <p:cNvPr id="17" name="icon circle"/>
          <p:cNvSpPr/>
          <p:nvPr/>
        </p:nvSpPr>
        <p:spPr>
          <a:xfrm>
            <a:off x="8321040" y="187452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8" name="Image 0" descr="FaRob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0768" y="1984248"/>
            <a:ext cx="237744" cy="237744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8915400" y="1920240"/>
            <a:ext cx="2544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4  AI step</a:t>
            </a:r>
            <a:endParaRPr lang="en-US" sz="1700" dirty="0"/>
          </a:p>
        </p:txBody>
      </p:sp>
      <p:sp>
        <p:nvSpPr>
          <p:cNvPr id="20" name="Text 17"/>
          <p:cNvSpPr txBox="1"/>
          <p:nvPr/>
        </p:nvSpPr>
        <p:spPr>
          <a:xfrm>
            <a:off x="8321040" y="2468880"/>
            <a:ext cx="309341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Ask an AI tool how to make the slow query faster. Test each suggestion. Keep what helps, and note what didn't or changed the result.</a:t>
            </a:r>
            <a:endParaRPr lang="en-US" sz="1300" dirty="0"/>
          </a:p>
        </p:txBody>
      </p:sp>
      <p:sp>
        <p:nvSpPr>
          <p:cNvPr id="21" name="deliverable card"/>
          <p:cNvSpPr/>
          <p:nvPr/>
        </p:nvSpPr>
        <p:spPr>
          <a:xfrm>
            <a:off x="8092440" y="3977640"/>
            <a:ext cx="3550615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22" name="icon circle"/>
          <p:cNvSpPr/>
          <p:nvPr/>
        </p:nvSpPr>
        <p:spPr>
          <a:xfrm>
            <a:off x="8321040" y="41605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3" name="Image 1" descr="Fa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0768" y="4270248"/>
            <a:ext cx="237744" cy="237744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8915400" y="4206240"/>
            <a:ext cx="2544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Deliverable</a:t>
            </a:r>
            <a:endParaRPr lang="en-US" sz="1700" dirty="0"/>
          </a:p>
        </p:txBody>
      </p:sp>
      <p:sp>
        <p:nvSpPr>
          <p:cNvPr id="25" name="Text 21"/>
          <p:cNvSpPr txBox="1"/>
          <p:nvPr/>
        </p:nvSpPr>
        <p:spPr>
          <a:xfrm>
            <a:off x="8321040" y="4754880"/>
            <a:ext cx="3093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SQL file, a before/after timing table, and the scorecard with 2–3 sentences on which differences you'd trust.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3"/>
                </a:solidFill>
              </a:rPr>
              <a:t>PHASE 03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377440"/>
            <a:ext cx="7498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Machine learning for population health</a:t>
            </a:r>
            <a:endParaRPr lang="en-US" sz="40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3840480"/>
            <a:ext cx="694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Python in JupyterLab: regression, trees, random forests, neural networks and clustering.</a:t>
            </a:r>
            <a:endParaRPr lang="en-US" sz="1800" dirty="0"/>
          </a:p>
        </p:txBody>
      </p:sp>
      <p:sp>
        <p:nvSpPr>
          <p:cNvPr id="5" name="lab chip"/>
          <p:cNvSpPr/>
          <p:nvPr/>
        </p:nvSpPr>
        <p:spPr>
          <a:xfrm>
            <a:off x="8412480" y="1463040"/>
            <a:ext cx="621792" cy="62179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12480" y="146304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8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89720" y="1463040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Closing Coding Gaps</a:t>
            </a:r>
            <a:endParaRPr lang="en-US" sz="1500" dirty="0"/>
          </a:p>
        </p:txBody>
      </p:sp>
      <p:sp>
        <p:nvSpPr>
          <p:cNvPr id="8" name="lab chip"/>
          <p:cNvSpPr/>
          <p:nvPr/>
        </p:nvSpPr>
        <p:spPr>
          <a:xfrm>
            <a:off x="8412480" y="2304288"/>
            <a:ext cx="621792" cy="62179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412480" y="230428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9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9189720" y="2304288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Assessing a Readmissions Program</a:t>
            </a:r>
            <a:endParaRPr lang="en-US" sz="1500" dirty="0"/>
          </a:p>
        </p:txBody>
      </p:sp>
      <p:sp>
        <p:nvSpPr>
          <p:cNvPr id="11" name="lab chip"/>
          <p:cNvSpPr/>
          <p:nvPr/>
        </p:nvSpPr>
        <p:spPr>
          <a:xfrm>
            <a:off x="8412480" y="3145536"/>
            <a:ext cx="621792" cy="62179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412480" y="3145536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10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9189720" y="3145536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Root Causes of Diabetes Complications</a:t>
            </a:r>
            <a:endParaRPr lang="en-US" sz="1500" dirty="0"/>
          </a:p>
        </p:txBody>
      </p:sp>
      <p:sp>
        <p:nvSpPr>
          <p:cNvPr id="14" name="lab chip"/>
          <p:cNvSpPr/>
          <p:nvPr/>
        </p:nvSpPr>
        <p:spPr>
          <a:xfrm>
            <a:off x="8412480" y="3986784"/>
            <a:ext cx="621792" cy="62179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412480" y="398678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11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9189720" y="3986784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Targeting High-Risk Zip Codes</a:t>
            </a:r>
            <a:endParaRPr lang="en-US" sz="1500" dirty="0"/>
          </a:p>
        </p:txBody>
      </p:sp>
      <p:sp>
        <p:nvSpPr>
          <p:cNvPr id="17" name="lab chip"/>
          <p:cNvSpPr/>
          <p:nvPr/>
        </p:nvSpPr>
        <p:spPr>
          <a:xfrm>
            <a:off x="8412480" y="4828032"/>
            <a:ext cx="621792" cy="62179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412480" y="482803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12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9189720" y="4828032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Fraud Detection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LAB 8 · MACHINE LEARNING FOR POPULATION HEALTH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858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Lab 8: Closing Coding Gaps</a:t>
            </a:r>
            <a:endParaRPr lang="en-US" sz="3200" dirty="0"/>
          </a:p>
        </p:txBody>
      </p:sp>
      <p:sp>
        <p:nvSpPr>
          <p:cNvPr id="4" name="question card"/>
          <p:cNvSpPr/>
          <p:nvPr/>
        </p:nvSpPr>
        <p:spPr>
          <a:xfrm>
            <a:off x="548640" y="1691640"/>
            <a:ext cx="6675120" cy="4343400"/>
          </a:xfrm>
          <a:prstGeom prst="roundRect">
            <a:avLst>
              <a:gd name="adj" fmla="val 3158"/>
            </a:avLst>
          </a:prstGeom>
          <a:solidFill>
            <a:schemeClr val="tx2"/>
          </a:solidFill>
          <a:ln/>
        </p:spPr>
      </p:sp>
      <p:sp>
        <p:nvSpPr>
          <p:cNvPr id="5" name="icon circle"/>
          <p:cNvSpPr/>
          <p:nvPr/>
        </p:nvSpPr>
        <p:spPr>
          <a:xfrm>
            <a:off x="960120" y="210312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FaNotesMedic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9576" y="2322576"/>
            <a:ext cx="475488" cy="47548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60120" y="324612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THE BUSINESS QUESTION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960120" y="3611880"/>
            <a:ext cx="5852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Medicare Advantage members with a chronic condition (HCC) coded last year are most likely to go undocumented this year, so care teams can schedule a visit before year-end?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7635240" y="169164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SKILLS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7635240" y="1984248"/>
            <a:ext cx="4023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First scikit-learn workflow: train_test_split, LogisticRegression, DecisionTreeClassifier, predict_proba and AUC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7635240" y="341985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TOOL AND TIME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7635240" y="3712464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JupyterLab · About 75 minutes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7635240" y="459943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DATA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7635240" y="4892040"/>
            <a:ext cx="40233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medical_claims (dx_1–dx_10), medical_claim_lines, coverage_member_months, beneficiaries, providers and ref_hcc_crosswalk (illustrative coefficients)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LAB 8 · INSTRUCTIONS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858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Lab 8: What to do</a:t>
            </a:r>
            <a:endParaRPr lang="en-US" sz="3200" dirty="0"/>
          </a:p>
        </p:txBody>
      </p:sp>
      <p:sp>
        <p:nvSpPr>
          <p:cNvPr id="4" name="task number"/>
          <p:cNvSpPr/>
          <p:nvPr/>
        </p:nvSpPr>
        <p:spPr>
          <a:xfrm>
            <a:off x="548640" y="16916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73736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HCCs and recapture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2103120"/>
            <a:ext cx="6400800" cy="605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For members in MA 11+ months of both 2023 and 2024: one row per member × 2023 HCC, with recaptured = coded again in 2024. Leave out acute HCCs 36, 225 and 249.</a:t>
            </a:r>
            <a:endParaRPr lang="en-US" sz="1400" dirty="0"/>
          </a:p>
        </p:txBody>
      </p:sp>
      <p:sp>
        <p:nvSpPr>
          <p:cNvPr id="8" name="task number"/>
          <p:cNvSpPr/>
          <p:nvPr/>
        </p:nvSpPr>
        <p:spPr>
          <a:xfrm>
            <a:off x="548640" y="280035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80035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84607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Build features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3211830"/>
            <a:ext cx="6400800" cy="605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From 2023 claims: PCP visits, specialist visits, annual wellness visit, age and dual status, plus HCC dummies with pd.get_dummies.</a:t>
            </a:r>
            <a:endParaRPr lang="en-US" sz="1400" dirty="0"/>
          </a:p>
        </p:txBody>
      </p:sp>
      <p:sp>
        <p:nvSpPr>
          <p:cNvPr id="12" name="task number"/>
          <p:cNvSpPr/>
          <p:nvPr/>
        </p:nvSpPr>
        <p:spPr>
          <a:xfrm>
            <a:off x="548640" y="39090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9090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95478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Train and compare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4320540"/>
            <a:ext cx="6400800" cy="605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Split 75/25 (stratified). Fit a scaled logistic regression and a depth-4 decision tree. Compare test AUC and the top features.</a:t>
            </a:r>
            <a:endParaRPr lang="en-US" sz="1400" dirty="0"/>
          </a:p>
        </p:txBody>
      </p:sp>
      <p:sp>
        <p:nvSpPr>
          <p:cNvPr id="16" name="task number"/>
          <p:cNvSpPr/>
          <p:nvPr/>
        </p:nvSpPr>
        <p:spPr>
          <a:xfrm>
            <a:off x="548640" y="501777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501777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506349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Build the outreach list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5429250"/>
            <a:ext cx="6400800" cy="605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Rebuild the features with 2024 data, score with your better model, and list the 100 member-HCC pairs least likely to be recaptured in 2025.</a:t>
            </a:r>
            <a:endParaRPr lang="en-US" sz="1400" dirty="0"/>
          </a:p>
        </p:txBody>
      </p:sp>
      <p:sp>
        <p:nvSpPr>
          <p:cNvPr id="20" name="AI step card"/>
          <p:cNvSpPr/>
          <p:nvPr/>
        </p:nvSpPr>
        <p:spPr>
          <a:xfrm>
            <a:off x="8092440" y="1691640"/>
            <a:ext cx="3550615" cy="2103120"/>
          </a:xfrm>
          <a:prstGeom prst="roundRect">
            <a:avLst>
              <a:gd name="adj" fmla="val 5217"/>
            </a:avLst>
          </a:prstGeom>
          <a:solidFill>
            <a:schemeClr val="accent3">
              <a:alpha val="18000"/>
            </a:schemeClr>
          </a:solidFill>
          <a:ln/>
        </p:spPr>
      </p:sp>
      <p:sp>
        <p:nvSpPr>
          <p:cNvPr id="21" name="icon circle"/>
          <p:cNvSpPr/>
          <p:nvPr/>
        </p:nvSpPr>
        <p:spPr>
          <a:xfrm>
            <a:off x="8321040" y="187452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2" name="Image 0" descr="FaRob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0768" y="1984248"/>
            <a:ext cx="237744" cy="237744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8915400" y="1920240"/>
            <a:ext cx="2544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5  AI step</a:t>
            </a:r>
            <a:endParaRPr lang="en-US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8321040" y="2468880"/>
            <a:ext cx="309341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Ask: "Where is the line between closing risk adjustment coding gaps and upcoding?" Write two sentences in your own words.</a:t>
            </a:r>
            <a:endParaRPr lang="en-US" sz="1300" dirty="0"/>
          </a:p>
        </p:txBody>
      </p:sp>
      <p:sp>
        <p:nvSpPr>
          <p:cNvPr id="25" name="deliverable card"/>
          <p:cNvSpPr/>
          <p:nvPr/>
        </p:nvSpPr>
        <p:spPr>
          <a:xfrm>
            <a:off x="8092440" y="3977640"/>
            <a:ext cx="3550615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26" name="icon circle"/>
          <p:cNvSpPr/>
          <p:nvPr/>
        </p:nvSpPr>
        <p:spPr>
          <a:xfrm>
            <a:off x="8321040" y="41605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7" name="Image 1" descr="Fa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0768" y="4270248"/>
            <a:ext cx="237744" cy="237744"/>
          </a:xfrm>
          <a:prstGeom prst="rect">
            <a:avLst/>
          </a:prstGeom>
        </p:spPr>
      </p:pic>
      <p:sp>
        <p:nvSpPr>
          <p:cNvPr id="28" name="Text 24"/>
          <p:cNvSpPr txBox="1"/>
          <p:nvPr/>
        </p:nvSpPr>
        <p:spPr>
          <a:xfrm>
            <a:off x="8915400" y="4206240"/>
            <a:ext cx="2544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Deliverable</a:t>
            </a:r>
            <a:endParaRPr lang="en-US" sz="1700" dirty="0"/>
          </a:p>
        </p:txBody>
      </p:sp>
      <p:sp>
        <p:nvSpPr>
          <p:cNvPr id="29" name="Text 25"/>
          <p:cNvSpPr txBox="1"/>
          <p:nvPr/>
        </p:nvSpPr>
        <p:spPr>
          <a:xfrm>
            <a:off x="8321040" y="4754880"/>
            <a:ext cx="3093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Notebook plus the 100-pair outreach list, with 2–3 sentences on what drives missed recapture and what the care team should do.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LAB 9 · MACHINE LEARNING FOR POPULATION HEALTH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858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Lab 9: Assessing a Readmissions Program</a:t>
            </a:r>
            <a:endParaRPr lang="en-US" sz="3200" dirty="0"/>
          </a:p>
        </p:txBody>
      </p:sp>
      <p:sp>
        <p:nvSpPr>
          <p:cNvPr id="4" name="question card"/>
          <p:cNvSpPr/>
          <p:nvPr/>
        </p:nvSpPr>
        <p:spPr>
          <a:xfrm>
            <a:off x="548640" y="1691640"/>
            <a:ext cx="6675120" cy="4343400"/>
          </a:xfrm>
          <a:prstGeom prst="roundRect">
            <a:avLst>
              <a:gd name="adj" fmla="val 3158"/>
            </a:avLst>
          </a:prstGeom>
          <a:solidFill>
            <a:schemeClr val="tx2"/>
          </a:solidFill>
          <a:ln/>
        </p:spPr>
      </p:sp>
      <p:sp>
        <p:nvSpPr>
          <p:cNvPr id="5" name="icon circle"/>
          <p:cNvSpPr/>
          <p:nvPr/>
        </p:nvSpPr>
        <p:spPr>
          <a:xfrm>
            <a:off x="960120" y="210312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FaHospit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9576" y="2322576"/>
            <a:ext cx="475488" cy="47548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60120" y="324612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THE BUSINESS QUESTION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960120" y="3611880"/>
            <a:ext cx="5852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Understory's Transitional Care Program began July 2023. Enrolled patients are readmitted about as often as everyone else, and leadership wants to cut it. Did it work?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7635240" y="169164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SKILLS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7635240" y="1984248"/>
            <a:ext cx="4023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Logistic regression (statsmodels and scikit-learn), odds ratios and confidence intervals, confounding and selection bias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7635240" y="341985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TOOL AND TIME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7635240" y="3712464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JupyterLab · About 75 minutes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7635240" y="459943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DATA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7635240" y="4892040"/>
            <a:ext cx="40233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medical_claims, care_management, coverage_member_months, beneficiaries and zip_area. Index stay, readmission and analysis group are defined in the handout.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LAB 9 · INSTRUCTIONS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858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Lab 9: What to do</a:t>
            </a:r>
            <a:endParaRPr lang="en-US" sz="3200" dirty="0"/>
          </a:p>
        </p:txBody>
      </p:sp>
      <p:sp>
        <p:nvSpPr>
          <p:cNvPr id="4" name="task number"/>
          <p:cNvSpPr/>
          <p:nvPr/>
        </p:nvSpPr>
        <p:spPr>
          <a:xfrm>
            <a:off x="548640" y="16916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73736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Build the index-stay table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2103120"/>
            <a:ext cx="6400800" cy="605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One row per index stay: member, claim, hospital, admission and discharge dates, length of stay and a readmit_30d flag.</a:t>
            </a:r>
            <a:endParaRPr lang="en-US" sz="1400" dirty="0"/>
          </a:p>
        </p:txBody>
      </p:sp>
      <p:sp>
        <p:nvSpPr>
          <p:cNvPr id="8" name="task number"/>
          <p:cNvSpPr/>
          <p:nvPr/>
        </p:nvSpPr>
        <p:spPr>
          <a:xfrm>
            <a:off x="548640" y="280035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80035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84607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Add risk factors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3211830"/>
            <a:ext cx="6400800" cy="605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Age, chronic condition groups and inpatient admissions in the prior 12 months, length of stay, Medicaid or dual status, and the zip's area deprivation index.</a:t>
            </a:r>
            <a:endParaRPr lang="en-US" sz="1400" dirty="0"/>
          </a:p>
        </p:txBody>
      </p:sp>
      <p:sp>
        <p:nvSpPr>
          <p:cNvPr id="12" name="task number"/>
          <p:cNvSpPr/>
          <p:nvPr/>
        </p:nvSpPr>
        <p:spPr>
          <a:xfrm>
            <a:off x="548640" y="39090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9090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95478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The naive comparison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4320540"/>
            <a:ext cx="6400800" cy="605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 the analysis group, compare readmission rates and average risk factors for enrolled vs. not enrolled. Who got enrolled?</a:t>
            </a:r>
            <a:endParaRPr lang="en-US" sz="1400" dirty="0"/>
          </a:p>
        </p:txBody>
      </p:sp>
      <p:sp>
        <p:nvSpPr>
          <p:cNvPr id="16" name="task number"/>
          <p:cNvSpPr/>
          <p:nvPr/>
        </p:nvSpPr>
        <p:spPr>
          <a:xfrm>
            <a:off x="548640" y="501777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501777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506349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Adjust for risk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5429250"/>
            <a:ext cx="6400800" cy="605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Fit readmit_30d ~ enrolled + risk factors. Report the enrollment odds ratio with its 95% CI, and explain why it differs from Task 3.</a:t>
            </a:r>
            <a:endParaRPr lang="en-US" sz="1400" dirty="0"/>
          </a:p>
        </p:txBody>
      </p:sp>
      <p:sp>
        <p:nvSpPr>
          <p:cNvPr id="20" name="AI step card"/>
          <p:cNvSpPr/>
          <p:nvPr/>
        </p:nvSpPr>
        <p:spPr>
          <a:xfrm>
            <a:off x="8092440" y="1691640"/>
            <a:ext cx="3550615" cy="2103120"/>
          </a:xfrm>
          <a:prstGeom prst="roundRect">
            <a:avLst>
              <a:gd name="adj" fmla="val 5217"/>
            </a:avLst>
          </a:prstGeom>
          <a:solidFill>
            <a:schemeClr val="accent3">
              <a:alpha val="18000"/>
            </a:schemeClr>
          </a:solidFill>
          <a:ln/>
        </p:spPr>
      </p:sp>
      <p:sp>
        <p:nvSpPr>
          <p:cNvPr id="21" name="icon circle"/>
          <p:cNvSpPr/>
          <p:nvPr/>
        </p:nvSpPr>
        <p:spPr>
          <a:xfrm>
            <a:off x="8321040" y="187452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2" name="Image 0" descr="FaRob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0768" y="1984248"/>
            <a:ext cx="237744" cy="237744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8915400" y="1920240"/>
            <a:ext cx="2544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5  AI step</a:t>
            </a:r>
            <a:endParaRPr lang="en-US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8321040" y="2468880"/>
            <a:ext cx="309341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Ask an AI tool to interpret your enrollment coefficient. Check odds ratio vs. risk ratio, causal claims and the confidence interval.</a:t>
            </a:r>
            <a:endParaRPr lang="en-US" sz="1300" dirty="0"/>
          </a:p>
        </p:txBody>
      </p:sp>
      <p:sp>
        <p:nvSpPr>
          <p:cNvPr id="25" name="deliverable card"/>
          <p:cNvSpPr/>
          <p:nvPr/>
        </p:nvSpPr>
        <p:spPr>
          <a:xfrm>
            <a:off x="8092440" y="3977640"/>
            <a:ext cx="3550615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26" name="icon circle"/>
          <p:cNvSpPr/>
          <p:nvPr/>
        </p:nvSpPr>
        <p:spPr>
          <a:xfrm>
            <a:off x="8321040" y="41605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7" name="Image 1" descr="Fa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0768" y="4270248"/>
            <a:ext cx="237744" cy="237744"/>
          </a:xfrm>
          <a:prstGeom prst="rect">
            <a:avLst/>
          </a:prstGeom>
        </p:spPr>
      </p:pic>
      <p:sp>
        <p:nvSpPr>
          <p:cNvPr id="28" name="Text 24"/>
          <p:cNvSpPr txBox="1"/>
          <p:nvPr/>
        </p:nvSpPr>
        <p:spPr>
          <a:xfrm>
            <a:off x="8915400" y="4206240"/>
            <a:ext cx="2544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Deliverable</a:t>
            </a:r>
            <a:endParaRPr lang="en-US" sz="1700" dirty="0"/>
          </a:p>
        </p:txBody>
      </p:sp>
      <p:sp>
        <p:nvSpPr>
          <p:cNvPr id="29" name="Text 25"/>
          <p:cNvSpPr txBox="1"/>
          <p:nvPr/>
        </p:nvSpPr>
        <p:spPr>
          <a:xfrm>
            <a:off x="8321040" y="4754880"/>
            <a:ext cx="3093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Notebook plus a 5-sentence recommendation: keep, expand or cut the program, and why the raw comparison was misleading.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LAB 10 · MACHINE LEARNING FOR POPULATION HEALTH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858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Lab 10: Root Causes of Diabetes Complications</a:t>
            </a:r>
            <a:endParaRPr lang="en-US" sz="3200" dirty="0"/>
          </a:p>
        </p:txBody>
      </p:sp>
      <p:sp>
        <p:nvSpPr>
          <p:cNvPr id="4" name="question card"/>
          <p:cNvSpPr/>
          <p:nvPr/>
        </p:nvSpPr>
        <p:spPr>
          <a:xfrm>
            <a:off x="548640" y="1691640"/>
            <a:ext cx="6675120" cy="4343400"/>
          </a:xfrm>
          <a:prstGeom prst="roundRect">
            <a:avLst>
              <a:gd name="adj" fmla="val 3158"/>
            </a:avLst>
          </a:prstGeom>
          <a:solidFill>
            <a:schemeClr val="tx2"/>
          </a:solidFill>
          <a:ln/>
        </p:spPr>
      </p:sp>
      <p:sp>
        <p:nvSpPr>
          <p:cNvPr id="5" name="icon circle"/>
          <p:cNvSpPr/>
          <p:nvPr/>
        </p:nvSpPr>
        <p:spPr>
          <a:xfrm>
            <a:off x="960120" y="210312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FaPill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9576" y="2322576"/>
            <a:ext cx="475488" cy="47548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60120" y="324612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THE BUSINESS QUESTION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960120" y="3611880"/>
            <a:ext cx="5852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Beyond A1c and adherence, what else predicts serious diabetes complications, especially drivers a complex case management program could act on?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7635240" y="169164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SKILLS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7635240" y="1984248"/>
            <a:ext cx="4023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Random forests, permutation importance, and checking a model's hint with a simple cross-tab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7635240" y="341985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TOOL AND TIME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7635240" y="3712464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JupyterLab · About 75 minutes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7635240" y="459943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DATA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7635240" y="4892040"/>
            <a:ext cx="40233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Cohort: 2+ E11 claims in 2021–2022, covered January 2023 and December 2025. Outcomes from 2023–2025; features from 2021–2022 (see the handout).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LAB 10 · INSTRUCTIONS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858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Lab 10: What to do</a:t>
            </a:r>
            <a:endParaRPr lang="en-US" sz="3200" dirty="0"/>
          </a:p>
        </p:txBody>
      </p:sp>
      <p:sp>
        <p:nvSpPr>
          <p:cNvPr id="4" name="task number"/>
          <p:cNvSpPr/>
          <p:nvPr/>
        </p:nvSpPr>
        <p:spPr>
          <a:xfrm>
            <a:off x="548640" y="16916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73736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Build the cohort and outcome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2103120"/>
            <a:ext cx="6400800" cy="605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One row per member with complication = 1 for any outcome event in 2023–2025, plus a separate hypoglycemia flag.</a:t>
            </a:r>
            <a:endParaRPr lang="en-US" sz="1400" dirty="0"/>
          </a:p>
        </p:txBody>
      </p:sp>
      <p:sp>
        <p:nvSpPr>
          <p:cNvPr id="8" name="task number"/>
          <p:cNvSpPr/>
          <p:nvPr/>
        </p:nvSpPr>
        <p:spPr>
          <a:xfrm>
            <a:off x="548640" y="280035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80035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84607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Build the features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3211830"/>
            <a:ext cx="6400800" cy="605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PDC, sulfonylurea, insulin, coverage gap months, PCP visits, CKD, age, ADI and ED visits. Check for missing values (no diabetes fills → PDC = 0).</a:t>
            </a:r>
            <a:endParaRPr lang="en-US" sz="1400" dirty="0"/>
          </a:p>
        </p:txBody>
      </p:sp>
      <p:sp>
        <p:nvSpPr>
          <p:cNvPr id="12" name="task number"/>
          <p:cNvSpPr/>
          <p:nvPr/>
        </p:nvSpPr>
        <p:spPr>
          <a:xfrm>
            <a:off x="548640" y="39090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9090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95478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Random forest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4320540"/>
            <a:ext cx="6400800" cy="605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Split 70/30 (stratified). Fit RandomForestClassifier(n_estimators=300, min_samples_leaf=20). Report test AUC and rank permutation importance.</a:t>
            </a:r>
            <a:endParaRPr lang="en-US" sz="1400" dirty="0"/>
          </a:p>
        </p:txBody>
      </p:sp>
      <p:sp>
        <p:nvSpPr>
          <p:cNvPr id="16" name="task number"/>
          <p:cNvSpPr/>
          <p:nvPr/>
        </p:nvSpPr>
        <p:spPr>
          <a:xfrm>
            <a:off x="548640" y="501777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501777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506349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Check a hint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5429250"/>
            <a:ext cx="6400800" cy="605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Cross-tab the hypoglycemia rate by age ≥ 75 × sulfonylurea. What do you see?</a:t>
            </a:r>
            <a:endParaRPr lang="en-US" sz="1400" dirty="0"/>
          </a:p>
        </p:txBody>
      </p:sp>
      <p:sp>
        <p:nvSpPr>
          <p:cNvPr id="20" name="AI step card"/>
          <p:cNvSpPr/>
          <p:nvPr/>
        </p:nvSpPr>
        <p:spPr>
          <a:xfrm>
            <a:off x="8092440" y="1691640"/>
            <a:ext cx="3550615" cy="2103120"/>
          </a:xfrm>
          <a:prstGeom prst="roundRect">
            <a:avLst>
              <a:gd name="adj" fmla="val 5217"/>
            </a:avLst>
          </a:prstGeom>
          <a:solidFill>
            <a:schemeClr val="accent3">
              <a:alpha val="18000"/>
            </a:schemeClr>
          </a:solidFill>
          <a:ln/>
        </p:spPr>
      </p:sp>
      <p:sp>
        <p:nvSpPr>
          <p:cNvPr id="21" name="icon circle"/>
          <p:cNvSpPr/>
          <p:nvPr/>
        </p:nvSpPr>
        <p:spPr>
          <a:xfrm>
            <a:off x="8321040" y="187452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2" name="Image 0" descr="FaRob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0768" y="1984248"/>
            <a:ext cx="237744" cy="237744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8915400" y="1920240"/>
            <a:ext cx="2544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5  AI step</a:t>
            </a:r>
            <a:endParaRPr lang="en-US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8321040" y="2468880"/>
            <a:ext cx="309341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Ask whether sulfonylureas increase hypoglycemia risk in older adults. Compare with the AGS Beers Criteria and your Task 4 table.</a:t>
            </a:r>
            <a:endParaRPr lang="en-US" sz="1300" dirty="0"/>
          </a:p>
        </p:txBody>
      </p:sp>
      <p:sp>
        <p:nvSpPr>
          <p:cNvPr id="25" name="deliverable card"/>
          <p:cNvSpPr/>
          <p:nvPr/>
        </p:nvSpPr>
        <p:spPr>
          <a:xfrm>
            <a:off x="8092440" y="3977640"/>
            <a:ext cx="3550615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26" name="icon circle"/>
          <p:cNvSpPr/>
          <p:nvPr/>
        </p:nvSpPr>
        <p:spPr>
          <a:xfrm>
            <a:off x="8321040" y="41605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7" name="Image 1" descr="Fa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0768" y="4270248"/>
            <a:ext cx="237744" cy="237744"/>
          </a:xfrm>
          <a:prstGeom prst="rect">
            <a:avLst/>
          </a:prstGeom>
        </p:spPr>
      </p:pic>
      <p:sp>
        <p:nvSpPr>
          <p:cNvPr id="28" name="Text 24"/>
          <p:cNvSpPr txBox="1"/>
          <p:nvPr/>
        </p:nvSpPr>
        <p:spPr>
          <a:xfrm>
            <a:off x="8915400" y="4206240"/>
            <a:ext cx="2544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Deliverable</a:t>
            </a:r>
            <a:endParaRPr lang="en-US" sz="1700" dirty="0"/>
          </a:p>
        </p:txBody>
      </p:sp>
      <p:sp>
        <p:nvSpPr>
          <p:cNvPr id="29" name="Text 25"/>
          <p:cNvSpPr txBox="1"/>
          <p:nvPr/>
        </p:nvSpPr>
        <p:spPr>
          <a:xfrm>
            <a:off x="8321040" y="4754880"/>
            <a:ext cx="3093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Notebook plus a one-paragraph brief: the top drivers, the most actionable one, and the intervention it suggests.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LAB 11 · MACHINE LEARNING FOR POPULATION HEALTH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858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Lab 11: Targeting High-Risk Zip Codes</a:t>
            </a:r>
            <a:endParaRPr lang="en-US" sz="3200" dirty="0"/>
          </a:p>
        </p:txBody>
      </p:sp>
      <p:sp>
        <p:nvSpPr>
          <p:cNvPr id="4" name="question card"/>
          <p:cNvSpPr/>
          <p:nvPr/>
        </p:nvSpPr>
        <p:spPr>
          <a:xfrm>
            <a:off x="548640" y="1691640"/>
            <a:ext cx="6675120" cy="4343400"/>
          </a:xfrm>
          <a:prstGeom prst="roundRect">
            <a:avLst>
              <a:gd name="adj" fmla="val 3158"/>
            </a:avLst>
          </a:prstGeom>
          <a:solidFill>
            <a:schemeClr val="tx2"/>
          </a:solidFill>
          <a:ln/>
        </p:spPr>
      </p:sp>
      <p:sp>
        <p:nvSpPr>
          <p:cNvPr id="5" name="icon circle"/>
          <p:cNvSpPr/>
          <p:nvPr/>
        </p:nvSpPr>
        <p:spPr>
          <a:xfrm>
            <a:off x="960120" y="210312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FaMapMarkedAl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9576" y="2322576"/>
            <a:ext cx="475488" cy="47548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60120" y="324612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THE BUSINESS QUESTION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960120" y="3611880"/>
            <a:ext cx="5852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community-health partnership can fund mobile clinics in five zip codes. Where would they prevent the most avoidable ED visits and hospital admissions?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7635240" y="169164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SKILLS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7635240" y="1984248"/>
            <a:ext cx="4023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small Keras neural network, comparison with logistic regression, and observed vs. expected by area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7635240" y="341985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TOOL AND TIME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7635240" y="3712464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JupyterLab (TensorFlow) · About 75 minutes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7635240" y="459943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DATA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7635240" y="4892040"/>
            <a:ext cx="40233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Cohort covered 11+ months of 2024 and in January 2025. Outcome: a 2025 ED visit or avoidable admission. Member features from 2024 plus zip_area features.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LAB 11 · INSTRUCTIONS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858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Lab 11: What to do</a:t>
            </a:r>
            <a:endParaRPr lang="en-US" sz="3200" dirty="0"/>
          </a:p>
        </p:txBody>
      </p:sp>
      <p:sp>
        <p:nvSpPr>
          <p:cNvPr id="4" name="task number"/>
          <p:cNvSpPr/>
          <p:nvPr/>
        </p:nvSpPr>
        <p:spPr>
          <a:xfrm>
            <a:off x="548640" y="16916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73736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Build the modeling table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2103120"/>
            <a:ext cx="640080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One row per cohort member with the outcome, member features, zip_code and zip features.</a:t>
            </a:r>
            <a:endParaRPr lang="en-US" sz="1400" dirty="0"/>
          </a:p>
        </p:txBody>
      </p:sp>
      <p:sp>
        <p:nvSpPr>
          <p:cNvPr id="8" name="task number"/>
          <p:cNvSpPr/>
          <p:nvPr/>
        </p:nvSpPr>
        <p:spPr>
          <a:xfrm>
            <a:off x="548640" y="31699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3169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321564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Neural network vs. logistic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3581400"/>
            <a:ext cx="640080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Split 75/25 and standardize. Fit logistic regression and a Dense(32) → Dense(16) → Dense(1) network with early stopping. Is the network better on test AUC?</a:t>
            </a:r>
            <a:endParaRPr lang="en-US" sz="1400" dirty="0"/>
          </a:p>
        </p:txBody>
      </p:sp>
      <p:sp>
        <p:nvSpPr>
          <p:cNvPr id="12" name="task number"/>
          <p:cNvSpPr/>
          <p:nvPr/>
        </p:nvSpPr>
        <p:spPr>
          <a:xfrm>
            <a:off x="548640" y="46482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648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469392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Observed vs. expected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5059680"/>
            <a:ext cx="640080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Fit a member-only model for expected risk. By zip (100+ members): observed, expected, O/E and excess events. Pick five targets. Is one not explained by zip features?</a:t>
            </a:r>
            <a:endParaRPr lang="en-US" sz="1400" dirty="0"/>
          </a:p>
        </p:txBody>
      </p:sp>
      <p:sp>
        <p:nvSpPr>
          <p:cNvPr id="16" name="AI step card"/>
          <p:cNvSpPr/>
          <p:nvPr/>
        </p:nvSpPr>
        <p:spPr>
          <a:xfrm>
            <a:off x="8092440" y="1691640"/>
            <a:ext cx="3550615" cy="2103120"/>
          </a:xfrm>
          <a:prstGeom prst="roundRect">
            <a:avLst>
              <a:gd name="adj" fmla="val 5217"/>
            </a:avLst>
          </a:prstGeom>
          <a:solidFill>
            <a:schemeClr val="accent3">
              <a:alpha val="18000"/>
            </a:schemeClr>
          </a:solidFill>
          <a:ln/>
        </p:spPr>
      </p:sp>
      <p:sp>
        <p:nvSpPr>
          <p:cNvPr id="17" name="icon circle"/>
          <p:cNvSpPr/>
          <p:nvPr/>
        </p:nvSpPr>
        <p:spPr>
          <a:xfrm>
            <a:off x="8321040" y="187452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8" name="Image 0" descr="FaRob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0768" y="1984248"/>
            <a:ext cx="237744" cy="237744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8915400" y="1920240"/>
            <a:ext cx="2544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4  AI step</a:t>
            </a:r>
            <a:endParaRPr lang="en-US" sz="1700" dirty="0"/>
          </a:p>
        </p:txBody>
      </p:sp>
      <p:sp>
        <p:nvSpPr>
          <p:cNvPr id="20" name="Text 17"/>
          <p:cNvSpPr txBox="1"/>
          <p:nvPr/>
        </p:nvSpPr>
        <p:spPr>
          <a:xfrm>
            <a:off x="8321040" y="2468880"/>
            <a:ext cx="309341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Ask why a neural network might not beat logistic regression on this kind of data. Check its reasons against your Task 2 result.</a:t>
            </a:r>
            <a:endParaRPr lang="en-US" sz="1300" dirty="0"/>
          </a:p>
        </p:txBody>
      </p:sp>
      <p:sp>
        <p:nvSpPr>
          <p:cNvPr id="21" name="deliverable card"/>
          <p:cNvSpPr/>
          <p:nvPr/>
        </p:nvSpPr>
        <p:spPr>
          <a:xfrm>
            <a:off x="8092440" y="3977640"/>
            <a:ext cx="3550615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22" name="icon circle"/>
          <p:cNvSpPr/>
          <p:nvPr/>
        </p:nvSpPr>
        <p:spPr>
          <a:xfrm>
            <a:off x="8321040" y="41605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3" name="Image 1" descr="Fa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0768" y="4270248"/>
            <a:ext cx="237744" cy="237744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8915400" y="4206240"/>
            <a:ext cx="2544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Deliverable</a:t>
            </a:r>
            <a:endParaRPr lang="en-US" sz="1700" dirty="0"/>
          </a:p>
        </p:txBody>
      </p:sp>
      <p:sp>
        <p:nvSpPr>
          <p:cNvPr id="25" name="Text 21"/>
          <p:cNvSpPr txBox="1"/>
          <p:nvPr/>
        </p:nvSpPr>
        <p:spPr>
          <a:xfrm>
            <a:off x="8321040" y="4754880"/>
            <a:ext cx="3093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Notebook plus five ranked zip codes, one line each: members, O/E, excess events and what the zip features suggest.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LAB 12 · MACHINE LEARNING FOR POPULATION HEALTH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858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Lab 12: Fraud Detection</a:t>
            </a:r>
            <a:endParaRPr lang="en-US" sz="3200" dirty="0"/>
          </a:p>
        </p:txBody>
      </p:sp>
      <p:sp>
        <p:nvSpPr>
          <p:cNvPr id="4" name="question card"/>
          <p:cNvSpPr/>
          <p:nvPr/>
        </p:nvSpPr>
        <p:spPr>
          <a:xfrm>
            <a:off x="548640" y="1691640"/>
            <a:ext cx="6675120" cy="4343400"/>
          </a:xfrm>
          <a:prstGeom prst="roundRect">
            <a:avLst>
              <a:gd name="adj" fmla="val 3158"/>
            </a:avLst>
          </a:prstGeom>
          <a:solidFill>
            <a:schemeClr val="tx2"/>
          </a:solidFill>
          <a:ln/>
        </p:spPr>
      </p:sp>
      <p:sp>
        <p:nvSpPr>
          <p:cNvPr id="5" name="icon circle"/>
          <p:cNvSpPr/>
          <p:nvPr/>
        </p:nvSpPr>
        <p:spPr>
          <a:xfrm>
            <a:off x="960120" y="210312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FaUserSecre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9576" y="2322576"/>
            <a:ext cx="475488" cy="47548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60120" y="324612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THE BUSINESS QUESTION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960120" y="3611880"/>
            <a:ext cx="5852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special investigations unit can audit about ten providers this year. Which billing patterns look most unusual compared with peers?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7635240" y="169164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SKILLS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7635240" y="1984248"/>
            <a:ext cx="4023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Unsupervised learning: provider profiles, scaling, k-means, choosing k, and distance as an outlier score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7635240" y="341985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TOOL AND TIME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7635240" y="3712464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JupyterLab · About 75 minutes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7635240" y="459943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DATA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7635240" y="4892040"/>
            <a:ext cx="40233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medical_claims, medical_claim_lines, providers, beneficiaries and zip_area. Billing providers with 50+ original claims, excluding hospitals and SNFs.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LAB 12 · INSTRUCTIONS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858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Lab 12: What to do</a:t>
            </a:r>
            <a:endParaRPr lang="en-US" sz="3200" dirty="0"/>
          </a:p>
        </p:txBody>
      </p:sp>
      <p:sp>
        <p:nvSpPr>
          <p:cNvPr id="4" name="task number"/>
          <p:cNvSpPr/>
          <p:nvPr/>
        </p:nvSpPr>
        <p:spPr>
          <a:xfrm>
            <a:off x="548640" y="16916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73736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Build provider profiles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2103120"/>
            <a:ext cx="640080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One row per billing provider: claims per patient, units and charge per claim, share of 99215, share of patients 50+ miles away, and share of claims after death.</a:t>
            </a:r>
            <a:endParaRPr lang="en-US" sz="1400" dirty="0"/>
          </a:p>
        </p:txBody>
      </p:sp>
      <p:sp>
        <p:nvSpPr>
          <p:cNvPr id="8" name="task number"/>
          <p:cNvSpPr/>
          <p:nvPr/>
        </p:nvSpPr>
        <p:spPr>
          <a:xfrm>
            <a:off x="548640" y="31699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3169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321564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Cluster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3581400"/>
            <a:ext cx="640080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Log-transform skewed features, standardize, and run k-means for k = 2 to 10. Use the elbow and silhouette plots to pick k.</a:t>
            </a:r>
            <a:endParaRPr lang="en-US" sz="1400" dirty="0"/>
          </a:p>
        </p:txBody>
      </p:sp>
      <p:sp>
        <p:nvSpPr>
          <p:cNvPr id="12" name="task number"/>
          <p:cNvSpPr/>
          <p:nvPr/>
        </p:nvSpPr>
        <p:spPr>
          <a:xfrm>
            <a:off x="548640" y="46482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648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469392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Rank and profile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5059680"/>
            <a:ext cx="640080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Score each provider by distance to the nearest large cluster center (5%+ of providers). For the top 10, name the likely scheme or call it an honest outlier.</a:t>
            </a:r>
            <a:endParaRPr lang="en-US" sz="1400" dirty="0"/>
          </a:p>
        </p:txBody>
      </p:sp>
      <p:sp>
        <p:nvSpPr>
          <p:cNvPr id="16" name="AI step card"/>
          <p:cNvSpPr/>
          <p:nvPr/>
        </p:nvSpPr>
        <p:spPr>
          <a:xfrm>
            <a:off x="8092440" y="1691640"/>
            <a:ext cx="3550615" cy="2103120"/>
          </a:xfrm>
          <a:prstGeom prst="roundRect">
            <a:avLst>
              <a:gd name="adj" fmla="val 5217"/>
            </a:avLst>
          </a:prstGeom>
          <a:solidFill>
            <a:schemeClr val="accent3">
              <a:alpha val="18000"/>
            </a:schemeClr>
          </a:solidFill>
          <a:ln/>
        </p:spPr>
      </p:sp>
      <p:sp>
        <p:nvSpPr>
          <p:cNvPr id="17" name="icon circle"/>
          <p:cNvSpPr/>
          <p:nvPr/>
        </p:nvSpPr>
        <p:spPr>
          <a:xfrm>
            <a:off x="8321040" y="187452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8" name="Image 0" descr="FaRob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0768" y="1984248"/>
            <a:ext cx="237744" cy="237744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8915400" y="1920240"/>
            <a:ext cx="2544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4  AI step</a:t>
            </a:r>
            <a:endParaRPr lang="en-US" sz="1700" dirty="0"/>
          </a:p>
        </p:txBody>
      </p:sp>
      <p:sp>
        <p:nvSpPr>
          <p:cNvPr id="20" name="Text 17"/>
          <p:cNvSpPr txBox="1"/>
          <p:nvPr/>
        </p:nvSpPr>
        <p:spPr>
          <a:xfrm>
            <a:off x="8321040" y="2468880"/>
            <a:ext cx="309341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Ask an AI tool for one more fraud-detection feature. Add it, re-run Tasks 2–3, and note whether your top 10 changes.</a:t>
            </a:r>
            <a:endParaRPr lang="en-US" sz="1300" dirty="0"/>
          </a:p>
        </p:txBody>
      </p:sp>
      <p:sp>
        <p:nvSpPr>
          <p:cNvPr id="21" name="deliverable card"/>
          <p:cNvSpPr/>
          <p:nvPr/>
        </p:nvSpPr>
        <p:spPr>
          <a:xfrm>
            <a:off x="8092440" y="3977640"/>
            <a:ext cx="3550615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22" name="icon circle"/>
          <p:cNvSpPr/>
          <p:nvPr/>
        </p:nvSpPr>
        <p:spPr>
          <a:xfrm>
            <a:off x="8321040" y="41605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3" name="Image 1" descr="Fa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0768" y="4270248"/>
            <a:ext cx="237744" cy="237744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8915400" y="4206240"/>
            <a:ext cx="2544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Deliverable</a:t>
            </a:r>
            <a:endParaRPr lang="en-US" sz="1700" dirty="0"/>
          </a:p>
        </p:txBody>
      </p:sp>
      <p:sp>
        <p:nvSpPr>
          <p:cNvPr id="25" name="Text 21"/>
          <p:cNvSpPr txBox="1"/>
          <p:nvPr/>
        </p:nvSpPr>
        <p:spPr>
          <a:xfrm>
            <a:off x="8321040" y="4754880"/>
            <a:ext cx="3093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Notebook plus an SIU referral list: 10 providers, one line each with the pattern and the suspected scheme.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3"/>
                </a:solidFill>
              </a:rPr>
              <a:t>PHASE 04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377440"/>
            <a:ext cx="7498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Putting it together</a:t>
            </a:r>
            <a:endParaRPr lang="en-US" sz="40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3840480"/>
            <a:ext cx="694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A multi-model workflow that turns predictions into an intervention decision with an estimated return.</a:t>
            </a:r>
            <a:endParaRPr lang="en-US" sz="1800" dirty="0"/>
          </a:p>
        </p:txBody>
      </p:sp>
      <p:sp>
        <p:nvSpPr>
          <p:cNvPr id="5" name="lab chip"/>
          <p:cNvSpPr/>
          <p:nvPr/>
        </p:nvSpPr>
        <p:spPr>
          <a:xfrm>
            <a:off x="8412480" y="1463040"/>
            <a:ext cx="621792" cy="62179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12480" y="146304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13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89720" y="1463040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Finding a Potential Intervention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LAB 13 · PUTTING IT TOGETHER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858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Lab 13: Finding a Potential Intervention</a:t>
            </a:r>
            <a:endParaRPr lang="en-US" sz="3200" dirty="0"/>
          </a:p>
        </p:txBody>
      </p:sp>
      <p:sp>
        <p:nvSpPr>
          <p:cNvPr id="4" name="question card"/>
          <p:cNvSpPr/>
          <p:nvPr/>
        </p:nvSpPr>
        <p:spPr>
          <a:xfrm>
            <a:off x="548640" y="1691640"/>
            <a:ext cx="6675120" cy="4343400"/>
          </a:xfrm>
          <a:prstGeom prst="roundRect">
            <a:avLst>
              <a:gd name="adj" fmla="val 3158"/>
            </a:avLst>
          </a:prstGeom>
          <a:solidFill>
            <a:schemeClr val="tx2"/>
          </a:solidFill>
          <a:ln/>
        </p:spPr>
      </p:sp>
      <p:sp>
        <p:nvSpPr>
          <p:cNvPr id="5" name="icon circle"/>
          <p:cNvSpPr/>
          <p:nvPr/>
        </p:nvSpPr>
        <p:spPr>
          <a:xfrm>
            <a:off x="960120" y="210312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FaHandHoldingUs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9576" y="2322576"/>
            <a:ext cx="475488" cy="47548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60120" y="324612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THE BUSINESS QUESTION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960120" y="3611880"/>
            <a:ext cx="5852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Understory Health Partners can fund one program next year. Which intervention from this term gives the best return when a model picks who gets it?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7635240" y="169164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SKILLS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7635240" y="1984248"/>
            <a:ext cx="4023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Pipeline and ColumnTransformer, 5-fold cross-validation, comparing three models, and turning predictions into a targeting decision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7635240" y="341985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TOOL AND TIME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7635240" y="3712464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JupyterLab · About 75–90 minutes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7635240" y="459943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DATA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7635240" y="4892040"/>
            <a:ext cx="40233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Cohort covered 11+ months of 2024 and 2025. Target: top 5% of 2025 allowed dollars. Costs and effects of Programs A, B and C are in the handout.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LAB 13 · INSTRUCTIONS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858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Lab 13: What to do</a:t>
            </a:r>
            <a:endParaRPr lang="en-US" sz="3200" dirty="0"/>
          </a:p>
        </p:txBody>
      </p:sp>
      <p:sp>
        <p:nvSpPr>
          <p:cNvPr id="4" name="task number"/>
          <p:cNvSpPr/>
          <p:nvPr/>
        </p:nvSpPr>
        <p:spPr>
          <a:xfrm>
            <a:off x="548640" y="16916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73736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Predict high-cost members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2103120"/>
            <a:ext cx="640080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Build a Pipeline (scale numeric columns, one-hot encode payer_type). Compare logistic regression, random forest and gradient boosting by 5-fold CV AUC.</a:t>
            </a:r>
            <a:endParaRPr lang="en-US" sz="1400" dirty="0"/>
          </a:p>
        </p:txBody>
      </p:sp>
      <p:sp>
        <p:nvSpPr>
          <p:cNvPr id="8" name="task number"/>
          <p:cNvSpPr/>
          <p:nvPr/>
        </p:nvSpPr>
        <p:spPr>
          <a:xfrm>
            <a:off x="548640" y="31699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3169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321564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Score everyone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3581400"/>
            <a:ext cx="640080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Use cross_val_predict with your best model so every member gets an out-of-fold predicted probability.</a:t>
            </a:r>
            <a:endParaRPr lang="en-US" sz="1400" dirty="0"/>
          </a:p>
        </p:txBody>
      </p:sp>
      <p:sp>
        <p:nvSpPr>
          <p:cNvPr id="12" name="task number"/>
          <p:cNvSpPr/>
          <p:nvPr/>
        </p:nvSpPr>
        <p:spPr>
          <a:xfrm>
            <a:off x="548640" y="46482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648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469392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Net savings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5059680"/>
            <a:ext cx="640080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For the top 1%, 5% and 10%: members, actual 2025 allowed, savings (15%), cost ($700 each) and net. Then estimate Program B or C. Which program wins?</a:t>
            </a:r>
            <a:endParaRPr lang="en-US" sz="1400" dirty="0"/>
          </a:p>
        </p:txBody>
      </p:sp>
      <p:sp>
        <p:nvSpPr>
          <p:cNvPr id="16" name="AI step card"/>
          <p:cNvSpPr/>
          <p:nvPr/>
        </p:nvSpPr>
        <p:spPr>
          <a:xfrm>
            <a:off x="8092440" y="1691640"/>
            <a:ext cx="3550615" cy="2103120"/>
          </a:xfrm>
          <a:prstGeom prst="roundRect">
            <a:avLst>
              <a:gd name="adj" fmla="val 5217"/>
            </a:avLst>
          </a:prstGeom>
          <a:solidFill>
            <a:schemeClr val="accent3">
              <a:alpha val="18000"/>
            </a:schemeClr>
          </a:solidFill>
          <a:ln/>
        </p:spPr>
      </p:sp>
      <p:sp>
        <p:nvSpPr>
          <p:cNvPr id="17" name="icon circle"/>
          <p:cNvSpPr/>
          <p:nvPr/>
        </p:nvSpPr>
        <p:spPr>
          <a:xfrm>
            <a:off x="8321040" y="187452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8" name="Image 0" descr="FaRob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0768" y="1984248"/>
            <a:ext cx="237744" cy="237744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8915400" y="1920240"/>
            <a:ext cx="2544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4  AI step</a:t>
            </a:r>
            <a:endParaRPr lang="en-US" sz="1700" dirty="0"/>
          </a:p>
        </p:txBody>
      </p:sp>
      <p:sp>
        <p:nvSpPr>
          <p:cNvPr id="20" name="Text 17"/>
          <p:cNvSpPr txBox="1"/>
          <p:nvPr/>
        </p:nvSpPr>
        <p:spPr>
          <a:xfrm>
            <a:off x="8321040" y="2468880"/>
            <a:ext cx="309341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Give an AI tool your numbers and ask it to critique your ROI assumptions. Decide which critiques you accept, and say why in two sentences.</a:t>
            </a:r>
            <a:endParaRPr lang="en-US" sz="1300" dirty="0"/>
          </a:p>
        </p:txBody>
      </p:sp>
      <p:sp>
        <p:nvSpPr>
          <p:cNvPr id="21" name="deliverable card"/>
          <p:cNvSpPr/>
          <p:nvPr/>
        </p:nvSpPr>
        <p:spPr>
          <a:xfrm>
            <a:off x="8092440" y="3977640"/>
            <a:ext cx="3550615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22" name="icon circle"/>
          <p:cNvSpPr/>
          <p:nvPr/>
        </p:nvSpPr>
        <p:spPr>
          <a:xfrm>
            <a:off x="8321040" y="41605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3" name="Image 1" descr="Fa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0768" y="4270248"/>
            <a:ext cx="237744" cy="237744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8915400" y="4206240"/>
            <a:ext cx="2544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Deliverable</a:t>
            </a:r>
            <a:endParaRPr lang="en-US" sz="1700" dirty="0"/>
          </a:p>
        </p:txBody>
      </p:sp>
      <p:sp>
        <p:nvSpPr>
          <p:cNvPr id="25" name="Text 21"/>
          <p:cNvSpPr txBox="1"/>
          <p:nvPr/>
        </p:nvSpPr>
        <p:spPr>
          <a:xfrm>
            <a:off x="8321040" y="4754880"/>
            <a:ext cx="3093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Notebook plus a one-page recommendation: program, target group, net savings, biggest risks, and how you'd measure success.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3"/>
                </a:solidFill>
              </a:rPr>
              <a:t>WRAP-UP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377440"/>
            <a:ext cx="7498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Tips for every lab</a:t>
            </a:r>
            <a:endParaRPr lang="en-US" sz="40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3840480"/>
            <a:ext cx="694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The full handout for each lab is in labs/ in the repository, with the exact definitions and starter code.</a:t>
            </a:r>
            <a:endParaRPr lang="en-US" sz="1800" dirty="0"/>
          </a:p>
        </p:txBody>
      </p:sp>
      <p:sp>
        <p:nvSpPr>
          <p:cNvPr id="5" name="icon circle"/>
          <p:cNvSpPr/>
          <p:nvPr/>
        </p:nvSpPr>
        <p:spPr>
          <a:xfrm>
            <a:off x="8229600" y="1417320"/>
            <a:ext cx="621792" cy="621792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FaLo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78830" y="1566550"/>
            <a:ext cx="323332" cy="32333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052560" y="132588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Open the database read-only so DBeaver and JupyterLab can share it</a:t>
            </a:r>
            <a:endParaRPr lang="en-US" sz="1400" dirty="0"/>
          </a:p>
        </p:txBody>
      </p:sp>
      <p:sp>
        <p:nvSpPr>
          <p:cNvPr id="8" name="icon circle"/>
          <p:cNvSpPr/>
          <p:nvPr/>
        </p:nvSpPr>
        <p:spPr>
          <a:xfrm>
            <a:off x="8229600" y="2441448"/>
            <a:ext cx="621792" cy="621792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Image 1" descr="FaSearc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8830" y="2590678"/>
            <a:ext cx="323332" cy="32333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9052560" y="2350008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Check row counts after every join</a:t>
            </a:r>
            <a:endParaRPr lang="en-US" sz="1400" dirty="0"/>
          </a:p>
        </p:txBody>
      </p:sp>
      <p:sp>
        <p:nvSpPr>
          <p:cNvPr id="11" name="icon circle"/>
          <p:cNvSpPr/>
          <p:nvPr/>
        </p:nvSpPr>
        <p:spPr>
          <a:xfrm>
            <a:off x="8229600" y="3465576"/>
            <a:ext cx="621792" cy="621792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mage 2" descr="FaRobo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8830" y="3614806"/>
            <a:ext cx="323332" cy="323332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9052560" y="3374136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Treat AI output as a draft: run it, compare it, explain any gap</a:t>
            </a:r>
            <a:endParaRPr lang="en-US" sz="1400" dirty="0"/>
          </a:p>
        </p:txBody>
      </p:sp>
      <p:sp>
        <p:nvSpPr>
          <p:cNvPr id="14" name="icon circle"/>
          <p:cNvSpPr/>
          <p:nvPr/>
        </p:nvSpPr>
        <p:spPr>
          <a:xfrm>
            <a:off x="8229600" y="4489704"/>
            <a:ext cx="621792" cy="621792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mage 3" descr="FaCommentDot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8830" y="4638934"/>
            <a:ext cx="323332" cy="323332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9052560" y="4398264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End with the answer a stakeholder can act on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Understory">
  <a:themeElements>
    <a:clrScheme name="Understory">
      <a:dk1>
        <a:srgbClr val="1F2A24"/>
      </a:dk1>
      <a:lt1>
        <a:srgbClr val="FFFFFF"/>
      </a:lt1>
      <a:dk2>
        <a:srgbClr val="1E3A2B"/>
      </a:dk2>
      <a:lt2>
        <a:srgbClr val="EDF3EA"/>
      </a:lt2>
      <a:accent1>
        <a:srgbClr val="2F6B47"/>
      </a:accent1>
      <a:accent2>
        <a:srgbClr val="8DB580"/>
      </a:accent2>
      <a:accent3>
        <a:srgbClr val="C9832A"/>
      </a:accent3>
      <a:accent4>
        <a:srgbClr val="4E7A8C"/>
      </a:accent4>
      <a:accent5>
        <a:srgbClr val="A44A3F"/>
      </a:accent5>
      <a:accent6>
        <a:srgbClr val="B9CFB2"/>
      </a:accent6>
      <a:hlink>
        <a:srgbClr val="2F6B47"/>
      </a:hlink>
      <a:folHlink>
        <a:srgbClr val="4E7A8C"/>
      </a:folHlink>
    </a:clrScheme>
    <a:fontScheme name="Understory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 Data Analytics Labs</dc:title>
  <dc:subject>PptxGenJS Presentation</dc:subject>
  <dc:creator>Health-Data-Analytics</dc:creator>
  <cp:lastModifiedBy>Health-Data-Analytics</cp:lastModifiedBy>
  <cp:revision>1</cp:revision>
  <dcterms:created xsi:type="dcterms:W3CDTF">2026-10-13T20:11:49Z</dcterms:created>
  <dcterms:modified xsi:type="dcterms:W3CDTF">2026-10-13T20:11:49Z</dcterms:modified>
</cp:coreProperties>
</file>