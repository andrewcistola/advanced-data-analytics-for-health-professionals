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5: Managing a Software Project.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Analytics projects increasingly look like software projects: code, pipelines, dashboards and models that must run reliably. Waterfall suits fixed, well-understood requirements (a regulatory report). Agile suits work where needs emerge as people see results. Many teams use a hybrid.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user story such as "As a care manager, I need a weekly list of discharged high-risk patients" keeps the work tied to a user. Git records every change and makes collaboration and rollback possible. Tracking actual time against estimates improves the next estimate.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Changing a production report directly risks sending wrong numbers to leadership. Peer review catches errors and spreads knowledge. Scheduled, automated runs with built-in checks replace fragile manual steps.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Delivering everything at the end means feedback comes too late to act on. A single expert who leaves takes the project's knowledge with them; pairing and documentation spread the risk.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debt is the shortcuts that make the next change slower. A definition of done might include: code reviewed, tests pass, documentation updated, stakeholder accepted.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5: Managing a Software Project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5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how software projects are run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Scope, schedule, resources and quality trade off</a:t>
            </a:r>
            <a:endParaRPr lang="en-US" sz="2400" dirty="0"/>
          </a:p>
          <a:p>
            <a:pPr algn="l" marL="342900" indent="-342900">
              <a:spcAft>
                <a:spcPts val="1000"/>
              </a:spcAft>
              <a:buSzPct val="100000"/>
              <a:buChar char="•"/>
            </a:pPr>
            <a:r>
              <a:rPr lang="en-US" sz="2400" dirty="0">
                <a:solidFill>
                  <a:srgbClr val="FFFFFF"/>
                </a:solidFill>
              </a:rPr>
              <a:t>Waterfall: plan everything, then build</a:t>
            </a:r>
            <a:endParaRPr lang="en-US" sz="2400" dirty="0"/>
          </a:p>
          <a:p>
            <a:pPr algn="l" marL="342900" indent="-342900">
              <a:spcAft>
                <a:spcPts val="1000"/>
              </a:spcAft>
              <a:buSzPct val="100000"/>
              <a:buChar char="•"/>
            </a:pPr>
            <a:r>
              <a:rPr lang="en-US" sz="2400" dirty="0">
                <a:solidFill>
                  <a:srgbClr val="FFFFFF"/>
                </a:solidFill>
              </a:rPr>
              <a:t>Agile: short sprints, working pieces, frequent feedback</a:t>
            </a:r>
            <a:endParaRPr lang="en-US" sz="2400" dirty="0"/>
          </a:p>
          <a:p>
            <a:pPr algn="l" marL="342900" indent="-342900">
              <a:spcAft>
                <a:spcPts val="1000"/>
              </a:spcAft>
              <a:buSzPct val="100000"/>
              <a:buChar char="•"/>
            </a:pPr>
            <a:r>
              <a:rPr lang="en-US" sz="2400" dirty="0">
                <a:solidFill>
                  <a:srgbClr val="FFFFFF"/>
                </a:solidFill>
              </a:rPr>
              <a:t>Backlog, user stories, sprints, stand-ups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plan and track</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Break work into small, testable tasks</a:t>
            </a:r>
            <a:endParaRPr lang="en-US" sz="2400" dirty="0"/>
          </a:p>
          <a:p>
            <a:pPr algn="l" marL="342900" indent="-342900">
              <a:spcAft>
                <a:spcPts val="1000"/>
              </a:spcAft>
              <a:buSzPct val="100000"/>
              <a:buChar char="•"/>
            </a:pPr>
            <a:r>
              <a:rPr lang="en-US" sz="2400" dirty="0">
                <a:solidFill>
                  <a:srgbClr val="FFFFFF"/>
                </a:solidFill>
              </a:rPr>
              <a:t>Keep a visible, prioritized backlog</a:t>
            </a:r>
            <a:endParaRPr lang="en-US" sz="2400" dirty="0"/>
          </a:p>
          <a:p>
            <a:pPr algn="l" marL="342900" indent="-342900">
              <a:spcAft>
                <a:spcPts val="1000"/>
              </a:spcAft>
              <a:buSzPct val="100000"/>
              <a:buChar char="•"/>
            </a:pPr>
            <a:r>
              <a:rPr lang="en-US" sz="2400" dirty="0">
                <a:solidFill>
                  <a:srgbClr val="FFFFFF"/>
                </a:solidFill>
              </a:rPr>
              <a:t>Use version control (Git) for code and queries</a:t>
            </a:r>
            <a:endParaRPr lang="en-US" sz="2400" dirty="0"/>
          </a:p>
          <a:p>
            <a:pPr algn="l" marL="342900" indent="-342900">
              <a:spcAft>
                <a:spcPts val="1000"/>
              </a:spcAft>
              <a:buSzPct val="100000"/>
              <a:buChar char="•"/>
            </a:pPr>
            <a:r>
              <a:rPr lang="en-US" sz="2400" dirty="0">
                <a:solidFill>
                  <a:srgbClr val="FFFFFF"/>
                </a:solidFill>
              </a:rPr>
              <a:t>Estimate in ranges and track actuals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build for change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Separate development, test and production</a:t>
            </a:r>
            <a:endParaRPr lang="en-US" sz="2400" dirty="0"/>
          </a:p>
          <a:p>
            <a:pPr algn="l" marL="342900" indent="-342900">
              <a:spcAft>
                <a:spcPts val="1000"/>
              </a:spcAft>
              <a:buSzPct val="100000"/>
              <a:buChar char="•"/>
            </a:pPr>
            <a:r>
              <a:rPr lang="en-US" sz="2400" dirty="0">
                <a:solidFill>
                  <a:srgbClr val="FFFFFF"/>
                </a:solidFill>
              </a:rPr>
              <a:t>Code review before anything reaches production</a:t>
            </a:r>
            <a:endParaRPr lang="en-US" sz="2400" dirty="0"/>
          </a:p>
          <a:p>
            <a:pPr algn="l" marL="342900" indent="-342900">
              <a:spcAft>
                <a:spcPts val="1000"/>
              </a:spcAft>
              <a:buSzPct val="100000"/>
              <a:buChar char="•"/>
            </a:pPr>
            <a:r>
              <a:rPr lang="en-US" sz="2400" dirty="0">
                <a:solidFill>
                  <a:srgbClr val="FFFFFF"/>
                </a:solidFill>
              </a:rPr>
              <a:t>Automate repeat runs and tests</a:t>
            </a:r>
            <a:endParaRPr lang="en-US" sz="2400" dirty="0"/>
          </a:p>
          <a:p>
            <a:pPr algn="l" marL="342900" indent="-342900">
              <a:spcAft>
                <a:spcPts val="1000"/>
              </a:spcAft>
              <a:buSzPct val="100000"/>
              <a:buChar char="•"/>
            </a:pPr>
            <a:r>
              <a:rPr lang="en-US" sz="2400" dirty="0">
                <a:solidFill>
                  <a:srgbClr val="FFFFFF"/>
                </a:solidFill>
              </a:rPr>
              <a:t>Write a README so others can run it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Big-bang delivery → ship small working pieces</a:t>
            </a:r>
            <a:endParaRPr lang="en-US" sz="2400" dirty="0"/>
          </a:p>
          <a:p>
            <a:pPr algn="l" marL="342900" indent="-342900">
              <a:spcAft>
                <a:spcPts val="1000"/>
              </a:spcAft>
              <a:buSzPct val="100000"/>
              <a:buChar char="•"/>
            </a:pPr>
            <a:r>
              <a:rPr lang="en-US" sz="2400" dirty="0">
                <a:solidFill>
                  <a:srgbClr val="FFFFFF"/>
                </a:solidFill>
              </a:rPr>
              <a:t>No version control → use Git from day one</a:t>
            </a:r>
            <a:endParaRPr lang="en-US" sz="2400" dirty="0"/>
          </a:p>
          <a:p>
            <a:pPr algn="l" marL="342900" indent="-342900">
              <a:spcAft>
                <a:spcPts val="1000"/>
              </a:spcAft>
              <a:buSzPct val="100000"/>
              <a:buChar char="•"/>
            </a:pPr>
            <a:r>
              <a:rPr lang="en-US" sz="2400" dirty="0">
                <a:solidFill>
                  <a:srgbClr val="FFFFFF"/>
                </a:solidFill>
              </a:rPr>
              <a:t>One person knows it all → pair up and document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Editing production directly → test environment first</a:t>
            </a:r>
            <a:endParaRPr lang="en-US" sz="2400" dirty="0"/>
          </a:p>
          <a:p>
            <a:pPr algn="l" marL="342900" indent="-342900">
              <a:spcAft>
                <a:spcPts val="1000"/>
              </a:spcAft>
              <a:buSzPct val="100000"/>
              <a:buChar char="•"/>
            </a:pPr>
            <a:r>
              <a:rPr lang="en-US" sz="2400" dirty="0">
                <a:solidFill>
                  <a:srgbClr val="FFFFFF"/>
                </a:solidFill>
              </a:rPr>
              <a:t>Ignoring technical debt → budget time to clean up</a:t>
            </a:r>
            <a:endParaRPr lang="en-US" sz="2400" dirty="0"/>
          </a:p>
          <a:p>
            <a:pPr algn="l" marL="342900" indent="-342900">
              <a:spcAft>
                <a:spcPts val="1000"/>
              </a:spcAft>
              <a:buSzPct val="100000"/>
              <a:buChar char="•"/>
            </a:pPr>
            <a:r>
              <a:rPr lang="en-US" sz="2400" dirty="0">
                <a:solidFill>
                  <a:srgbClr val="FFFFFF"/>
                </a:solidFill>
              </a:rPr>
              <a:t>Unclear "done" → a definition of done for each task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Think of a system, tool or report rollout you've lived through. What would you change about how it was planned and delivered?</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Managing a Software Project</dc:title>
  <dc:subject>Week 5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