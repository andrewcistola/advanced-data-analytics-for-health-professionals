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Management seminar for week 9: Designing the Right Stakeholder Deliverables. We will go through basics and terminology, best practices for data analytics, and common pitfalls and how to avoid them.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executive deciding whether to fund a program needs a short memo or deck. A manager monitoring denials every week needs a dashboard. Another analyst building on your work needs a documented dataset. A care team needs a list inside the tool they already use.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"what will you do differently after seeing this?" The answer usually picks the format. A paper sketch at kickoff aligns everyone on what they will receive.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Executives read the first paragraph and the first chart. Definitions next to numbers prevent misreading. "Data through June 30, refreshed monthly" stops people from acting on stale numbers. Five minutes watching a user try the deliverable reveals most usability problems.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Dashboards are often requested by default, then rarely opened. A focused deliverable with an appendix serves both the decision maker and the skeptic.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organizations have hundreds of unused reports. Color-blind-safe palettes and readable fonts make outputs usable by everyone. Retiring outdated reports keeps the trusted ones visible.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Designing the Right Stakeholder Deliverables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9 Management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types of deliverables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Memo, slide deck, dashboard, dataset, model</a:t>
            </a:r>
            <a:endParaRPr lang="en-US" sz="2400" dirty="0"/>
          </a:p>
          <a:p>
            <a:pPr algn="l" marL="342900" indent="-342900">
              <a:spcAft>
                <a:spcPts val="1000"/>
              </a:spcAft>
              <a:buSzPct val="100000"/>
              <a:buChar char="•"/>
            </a:pPr>
            <a:r>
              <a:rPr lang="en-US" sz="2400" dirty="0">
                <a:solidFill>
                  <a:srgbClr val="FFFFFF"/>
                </a:solidFill>
              </a:rPr>
              <a:t>Explanatory (tells) vs. exploratory (lets users dig)</a:t>
            </a:r>
            <a:endParaRPr lang="en-US" sz="2400" dirty="0"/>
          </a:p>
          <a:p>
            <a:pPr algn="l" marL="342900" indent="-342900">
              <a:spcAft>
                <a:spcPts val="1000"/>
              </a:spcAft>
              <a:buSzPct val="100000"/>
              <a:buChar char="•"/>
            </a:pPr>
            <a:r>
              <a:rPr lang="en-US" sz="2400" dirty="0">
                <a:solidFill>
                  <a:srgbClr val="FFFFFF"/>
                </a:solidFill>
              </a:rPr>
              <a:t>Audiences: executives, managers, analysts, clinicians</a:t>
            </a:r>
            <a:endParaRPr lang="en-US" sz="2400" dirty="0"/>
          </a:p>
          <a:p>
            <a:pPr algn="l" marL="342900" indent="-342900">
              <a:spcAft>
                <a:spcPts val="1000"/>
              </a:spcAft>
              <a:buSzPct val="100000"/>
              <a:buChar char="•"/>
            </a:pPr>
            <a:r>
              <a:rPr lang="en-US" sz="2400" dirty="0">
                <a:solidFill>
                  <a:srgbClr val="FFFFFF"/>
                </a:solidFill>
              </a:rPr>
              <a:t>Format follows the decision and how often it recurs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design for the decision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One-time decision → memo or short deck</a:t>
            </a:r>
            <a:endParaRPr lang="en-US" sz="2400" dirty="0"/>
          </a:p>
          <a:p>
            <a:pPr algn="l" marL="342900" indent="-342900">
              <a:spcAft>
                <a:spcPts val="1000"/>
              </a:spcAft>
              <a:buSzPct val="100000"/>
              <a:buChar char="•"/>
            </a:pPr>
            <a:r>
              <a:rPr lang="en-US" sz="2400" dirty="0">
                <a:solidFill>
                  <a:srgbClr val="FFFFFF"/>
                </a:solidFill>
              </a:rPr>
              <a:t>Recurring monitoring → dashboard</a:t>
            </a:r>
            <a:endParaRPr lang="en-US" sz="2400" dirty="0"/>
          </a:p>
          <a:p>
            <a:pPr algn="l" marL="342900" indent="-342900">
              <a:spcAft>
                <a:spcPts val="1000"/>
              </a:spcAft>
              <a:buSzPct val="100000"/>
              <a:buChar char="•"/>
            </a:pPr>
            <a:r>
              <a:rPr lang="en-US" sz="2400" dirty="0">
                <a:solidFill>
                  <a:srgbClr val="FFFFFF"/>
                </a:solidFill>
              </a:rPr>
              <a:t>Others will analyze → documented dataset</a:t>
            </a:r>
            <a:endParaRPr lang="en-US" sz="2400" dirty="0"/>
          </a:p>
          <a:p>
            <a:pPr algn="l" marL="342900" indent="-342900">
              <a:spcAft>
                <a:spcPts val="1000"/>
              </a:spcAft>
              <a:buSzPct val="100000"/>
              <a:buChar char="•"/>
            </a:pPr>
            <a:r>
              <a:rPr lang="en-US" sz="2400" dirty="0">
                <a:solidFill>
                  <a:srgbClr val="FFFFFF"/>
                </a:solidFill>
              </a:rPr>
              <a:t>Mock up the deliverable at kickoff</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make it usable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Lead with the answer, then support it</a:t>
            </a:r>
            <a:endParaRPr lang="en-US" sz="2400" dirty="0"/>
          </a:p>
          <a:p>
            <a:pPr algn="l" marL="342900" indent="-342900">
              <a:spcAft>
                <a:spcPts val="1000"/>
              </a:spcAft>
              <a:buSzPct val="100000"/>
              <a:buChar char="•"/>
            </a:pPr>
            <a:r>
              <a:rPr lang="en-US" sz="2400" dirty="0">
                <a:solidFill>
                  <a:srgbClr val="FFFFFF"/>
                </a:solidFill>
              </a:rPr>
              <a:t>Define every metric on the page</a:t>
            </a:r>
            <a:endParaRPr lang="en-US" sz="2400" dirty="0"/>
          </a:p>
          <a:p>
            <a:pPr algn="l" marL="342900" indent="-342900">
              <a:spcAft>
                <a:spcPts val="1000"/>
              </a:spcAft>
              <a:buSzPct val="100000"/>
              <a:buChar char="•"/>
            </a:pPr>
            <a:r>
              <a:rPr lang="en-US" sz="2400" dirty="0">
                <a:solidFill>
                  <a:srgbClr val="FFFFFF"/>
                </a:solidFill>
              </a:rPr>
              <a:t>Show data dates and refresh schedule</a:t>
            </a:r>
            <a:endParaRPr lang="en-US" sz="2400" dirty="0"/>
          </a:p>
          <a:p>
            <a:pPr algn="l" marL="342900" indent="-342900">
              <a:spcAft>
                <a:spcPts val="1000"/>
              </a:spcAft>
              <a:buSzPct val="100000"/>
              <a:buChar char="•"/>
            </a:pPr>
            <a:r>
              <a:rPr lang="en-US" sz="2400" dirty="0">
                <a:solidFill>
                  <a:srgbClr val="FFFFFF"/>
                </a:solidFill>
              </a:rPr>
              <a:t>Test with a real user before release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Common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Dashboard when a memo was needed → ask what action follows</a:t>
            </a:r>
            <a:endParaRPr lang="en-US" sz="2400" dirty="0"/>
          </a:p>
          <a:p>
            <a:pPr algn="l" marL="342900" indent="-342900">
              <a:spcAft>
                <a:spcPts val="1000"/>
              </a:spcAft>
              <a:buSzPct val="100000"/>
              <a:buChar char="•"/>
            </a:pPr>
            <a:r>
              <a:rPr lang="en-US" sz="2400" dirty="0">
                <a:solidFill>
                  <a:srgbClr val="FFFFFF"/>
                </a:solidFill>
              </a:rPr>
              <a:t>Too much in one deliverable → move detail to an appendix</a:t>
            </a:r>
            <a:endParaRPr lang="en-US" sz="2400" dirty="0"/>
          </a:p>
          <a:p>
            <a:pPr algn="l" marL="342900" indent="-342900">
              <a:spcAft>
                <a:spcPts val="1000"/>
              </a:spcAft>
              <a:buSzPct val="100000"/>
              <a:buChar char="•"/>
            </a:pPr>
            <a:r>
              <a:rPr lang="en-US" sz="2400" dirty="0">
                <a:solidFill>
                  <a:srgbClr val="FFFFFF"/>
                </a:solidFill>
              </a:rPr>
              <a:t>Undefined metrics → put definitions next to numbers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More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Built but never used → confirm a user and a usage plan</a:t>
            </a:r>
            <a:endParaRPr lang="en-US" sz="2400" dirty="0"/>
          </a:p>
          <a:p>
            <a:pPr algn="l" marL="342900" indent="-342900">
              <a:spcAft>
                <a:spcPts val="1000"/>
              </a:spcAft>
              <a:buSzPct val="100000"/>
              <a:buChar char="•"/>
            </a:pPr>
            <a:r>
              <a:rPr lang="en-US" sz="2400" dirty="0">
                <a:solidFill>
                  <a:srgbClr val="FFFFFF"/>
                </a:solidFill>
              </a:rPr>
              <a:t>Accessibility ignored → readable colors, fonts, alt text</a:t>
            </a:r>
            <a:endParaRPr lang="en-US" sz="2400" dirty="0"/>
          </a:p>
          <a:p>
            <a:pPr algn="l" marL="342900" indent="-342900">
              <a:spcAft>
                <a:spcPts val="1000"/>
              </a:spcAft>
              <a:buSzPct val="100000"/>
              <a:buChar char="•"/>
            </a:pPr>
            <a:r>
              <a:rPr lang="en-US" sz="2400" dirty="0">
                <a:solidFill>
                  <a:srgbClr val="FFFFFF"/>
                </a:solidFill>
              </a:rPr>
              <a:t>No maintenance plan → set an owner and retirement date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Think of a report or dashboard you receive. Is it the right format for the decision it supports, and what would you change?</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the Right Stakeholder Deliverables</dc:title>
  <dc:subject>Week 9 Management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