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Management seminar for week 12: Handling Obstacles, Setbacks, and Errors. We will go through basics and terminology, best practices for data analytics, and common pitfalls and how to avoid them.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analytics career includes released numbers that turned out wrong. What separates trusted analysts is how they respond. Root cause analysis asks why the error happened and what process change prevents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ask: which numbers changed, by how much, and did anyone act on them? Then tell the people who used the result, with the corrected figure and what it means for their decision. A short written incident note protects everyone.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Blameless reviews focus on how the system allowed the error, so people report problems instead of hiding them. A program that didn't work, or a predictor that didn't matter, is useful information for the next decision.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Errors found by stakeholders before you disclose them cost far more trust than the error itself. The "5 whys" technique keeps asking why until it reaches a cause you can fix in the process.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Publishing only positive results biases the organization's view of what works. Not every error needs an all-night fix; triage by how much it changes a decision.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Handling Obstacles, Setbacks, and Errors</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12 Management Seminar</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what goes wrong</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Obstacles: data gaps, access delays, shifting priorities</a:t>
            </a:r>
            <a:endParaRPr lang="en-US" sz="2400" dirty="0"/>
          </a:p>
          <a:p>
            <a:pPr algn="l" marL="342900" indent="-342900">
              <a:spcAft>
                <a:spcPts val="1000"/>
              </a:spcAft>
              <a:buSzPct val="100000"/>
              <a:buChar char="•"/>
            </a:pPr>
            <a:r>
              <a:rPr lang="en-US" sz="2400" dirty="0">
                <a:solidFill>
                  <a:srgbClr val="FFFFFF"/>
                </a:solidFill>
              </a:rPr>
              <a:t>Setbacks: results that don't support the hypothesis</a:t>
            </a:r>
            <a:endParaRPr lang="en-US" sz="2400" dirty="0"/>
          </a:p>
          <a:p>
            <a:pPr algn="l" marL="342900" indent="-342900">
              <a:spcAft>
                <a:spcPts val="1000"/>
              </a:spcAft>
              <a:buSzPct val="100000"/>
              <a:buChar char="•"/>
            </a:pPr>
            <a:r>
              <a:rPr lang="en-US" sz="2400" dirty="0">
                <a:solidFill>
                  <a:srgbClr val="FFFFFF"/>
                </a:solidFill>
              </a:rPr>
              <a:t>Errors: mistakes found before or after release</a:t>
            </a:r>
            <a:endParaRPr lang="en-US" sz="2400" dirty="0"/>
          </a:p>
          <a:p>
            <a:pPr algn="l" marL="342900" indent="-342900">
              <a:spcAft>
                <a:spcPts val="1000"/>
              </a:spcAft>
              <a:buSzPct val="100000"/>
              <a:buChar char="•"/>
            </a:pPr>
            <a:r>
              <a:rPr lang="en-US" sz="2400" dirty="0">
                <a:solidFill>
                  <a:srgbClr val="FFFFFF"/>
                </a:solidFill>
              </a:rPr>
              <a:t>Root cause analysis and corrective action</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Best practices: respond calmly and quickly</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Assess the impact before reacting</a:t>
            </a:r>
            <a:endParaRPr lang="en-US" sz="2400" dirty="0"/>
          </a:p>
          <a:p>
            <a:pPr algn="l" marL="342900" indent="-342900">
              <a:spcAft>
                <a:spcPts val="1000"/>
              </a:spcAft>
              <a:buSzPct val="100000"/>
              <a:buChar char="•"/>
            </a:pPr>
            <a:r>
              <a:rPr lang="en-US" sz="2400" dirty="0">
                <a:solidFill>
                  <a:srgbClr val="FFFFFF"/>
                </a:solidFill>
              </a:rPr>
              <a:t>Tell affected stakeholders promptly</a:t>
            </a:r>
            <a:endParaRPr lang="en-US" sz="2400" dirty="0"/>
          </a:p>
          <a:p>
            <a:pPr algn="l" marL="342900" indent="-342900">
              <a:spcAft>
                <a:spcPts val="1000"/>
              </a:spcAft>
              <a:buSzPct val="100000"/>
              <a:buChar char="•"/>
            </a:pPr>
            <a:r>
              <a:rPr lang="en-US" sz="2400" dirty="0">
                <a:solidFill>
                  <a:srgbClr val="FFFFFF"/>
                </a:solidFill>
              </a:rPr>
              <a:t>Correct, rerun and re-check</a:t>
            </a:r>
            <a:endParaRPr lang="en-US" sz="2400" dirty="0"/>
          </a:p>
          <a:p>
            <a:pPr algn="l" marL="342900" indent="-342900">
              <a:spcAft>
                <a:spcPts val="1000"/>
              </a:spcAft>
              <a:buSzPct val="100000"/>
              <a:buChar char="•"/>
            </a:pPr>
            <a:r>
              <a:rPr lang="en-US" sz="2400" dirty="0">
                <a:solidFill>
                  <a:srgbClr val="FFFFFF"/>
                </a:solidFill>
              </a:rPr>
              <a:t>Document what happened and what changed</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Best practices: learn from it</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Blameless post-mortems</a:t>
            </a:r>
            <a:endParaRPr lang="en-US" sz="2400" dirty="0"/>
          </a:p>
          <a:p>
            <a:pPr algn="l" marL="342900" indent="-342900">
              <a:spcAft>
                <a:spcPts val="1000"/>
              </a:spcAft>
              <a:buSzPct val="100000"/>
              <a:buChar char="•"/>
            </a:pPr>
            <a:r>
              <a:rPr lang="en-US" sz="2400" dirty="0">
                <a:solidFill>
                  <a:srgbClr val="FFFFFF"/>
                </a:solidFill>
              </a:rPr>
              <a:t>Fix the process, not just the instance</a:t>
            </a:r>
            <a:endParaRPr lang="en-US" sz="2400" dirty="0"/>
          </a:p>
          <a:p>
            <a:pPr algn="l" marL="342900" indent="-342900">
              <a:spcAft>
                <a:spcPts val="1000"/>
              </a:spcAft>
              <a:buSzPct val="100000"/>
              <a:buChar char="•"/>
            </a:pPr>
            <a:r>
              <a:rPr lang="en-US" sz="2400" dirty="0">
                <a:solidFill>
                  <a:srgbClr val="FFFFFF"/>
                </a:solidFill>
              </a:rPr>
              <a:t>Add a test so the error can't recur</a:t>
            </a:r>
            <a:endParaRPr lang="en-US" sz="2400" dirty="0"/>
          </a:p>
          <a:p>
            <a:pPr algn="l" marL="342900" indent="-342900">
              <a:spcAft>
                <a:spcPts val="1000"/>
              </a:spcAft>
              <a:buSzPct val="100000"/>
              <a:buChar char="•"/>
            </a:pPr>
            <a:r>
              <a:rPr lang="en-US" sz="2400" dirty="0">
                <a:solidFill>
                  <a:srgbClr val="FFFFFF"/>
                </a:solidFill>
              </a:rPr>
              <a:t>Treat null results as findings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Common pitfalls and how to avoid them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Hiding errors → disclose early with a fix plan</a:t>
            </a:r>
            <a:endParaRPr lang="en-US" sz="2400" dirty="0"/>
          </a:p>
          <a:p>
            <a:pPr algn="l" marL="342900" indent="-342900">
              <a:spcAft>
                <a:spcPts val="1000"/>
              </a:spcAft>
              <a:buSzPct val="100000"/>
              <a:buChar char="•"/>
            </a:pPr>
            <a:r>
              <a:rPr lang="en-US" sz="2400" dirty="0">
                <a:solidFill>
                  <a:srgbClr val="FFFFFF"/>
                </a:solidFill>
              </a:rPr>
              <a:t>Blaming people → look for process causes</a:t>
            </a:r>
            <a:endParaRPr lang="en-US" sz="2400" dirty="0"/>
          </a:p>
          <a:p>
            <a:pPr algn="l" marL="342900" indent="-342900">
              <a:spcAft>
                <a:spcPts val="1000"/>
              </a:spcAft>
              <a:buSzPct val="100000"/>
              <a:buChar char="•"/>
            </a:pPr>
            <a:r>
              <a:rPr lang="en-US" sz="2400" dirty="0">
                <a:solidFill>
                  <a:srgbClr val="FFFFFF"/>
                </a:solidFill>
              </a:rPr>
              <a:t>Patching without root cause → ask "5 whys"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More pitfalls and how to avoid them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Burying null results → report what didn't work</a:t>
            </a:r>
            <a:endParaRPr lang="en-US" sz="2400" dirty="0"/>
          </a:p>
          <a:p>
            <a:pPr algn="l" marL="342900" indent="-342900">
              <a:spcAft>
                <a:spcPts val="1000"/>
              </a:spcAft>
              <a:buSzPct val="100000"/>
              <a:buChar char="•"/>
            </a:pPr>
            <a:r>
              <a:rPr lang="en-US" sz="2400" dirty="0">
                <a:solidFill>
                  <a:srgbClr val="FFFFFF"/>
                </a:solidFill>
              </a:rPr>
              <a:t>Panic rework → triage by impact</a:t>
            </a:r>
            <a:endParaRPr lang="en-US" sz="2400" dirty="0"/>
          </a:p>
          <a:p>
            <a:pPr algn="l" marL="342900" indent="-342900">
              <a:spcAft>
                <a:spcPts val="1000"/>
              </a:spcAft>
              <a:buSzPct val="100000"/>
              <a:buChar char="•"/>
            </a:pPr>
            <a:r>
              <a:rPr lang="en-US" sz="2400" dirty="0">
                <a:solidFill>
                  <a:srgbClr val="FFFFFF"/>
                </a:solidFill>
              </a:rPr>
              <a:t>Same error twice → add automated checks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Handling Obstacles, Setbacks, and Errors</dc:title>
  <dc:subject>Week 12 Management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