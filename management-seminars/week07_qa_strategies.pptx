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7: Overview of Quality Assurance Strategies. We will go through basics and terminology, best practices for data analytics, and common pitfalls and how to avoid them.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assurance is the process designed to prevent errors; quality control checks finished outputs. Verification checks the work against the specification; validation checks the specification against the real need. Interpretation errors, such as calling a correlation an effect, are as damaging as code bugs.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Reconcile paid amounts to finance reports and member counts to enrollment reports. A join that changes the row count unexpectedly is the most common source of inflated totals. A sudden jump in a monthly trend often signals a data feed change, not a real event.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reviewer who did not write the code reads what it does, not what it was meant to do. Computing one number a second way (a spreadsheet, a different query) catches logic errors. A denial rate of 60% or a readmission rate of 2% should prompt a check before a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Errors found at the end are expensive to trace back. Authors see what they intended. AI tools produce plausible code that may use the wrong join, filter or definition; check its output against known numbers.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dangerous errors produce believable numbers. External benchmarks (CMS public data, industry reports) give a reasonable range. A log of errors shows patterns that point to process fixes.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Overview of Quality Assurance Strategies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7 Management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quality assurance terms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QA prevents errors; QC finds them in outputs</a:t>
            </a:r>
            <a:endParaRPr lang="en-US" sz="2400" dirty="0"/>
          </a:p>
          <a:p>
            <a:pPr algn="l" marL="342900" indent="-342900">
              <a:spcAft>
                <a:spcPts val="1000"/>
              </a:spcAft>
              <a:buSzPct val="100000"/>
              <a:buChar char="•"/>
            </a:pPr>
            <a:r>
              <a:rPr lang="en-US" sz="2400" dirty="0">
                <a:solidFill>
                  <a:srgbClr val="FFFFFF"/>
                </a:solidFill>
              </a:rPr>
              <a:t>Verification: did we build it right?</a:t>
            </a:r>
            <a:endParaRPr lang="en-US" sz="2400" dirty="0"/>
          </a:p>
          <a:p>
            <a:pPr algn="l" marL="342900" indent="-342900">
              <a:spcAft>
                <a:spcPts val="1000"/>
              </a:spcAft>
              <a:buSzPct val="100000"/>
              <a:buChar char="•"/>
            </a:pPr>
            <a:r>
              <a:rPr lang="en-US" sz="2400" dirty="0">
                <a:solidFill>
                  <a:srgbClr val="FFFFFF"/>
                </a:solidFill>
              </a:rPr>
              <a:t>Validation: did we build the right thing?</a:t>
            </a:r>
            <a:endParaRPr lang="en-US" sz="2400" dirty="0"/>
          </a:p>
          <a:p>
            <a:pPr algn="l" marL="342900" indent="-342900">
              <a:spcAft>
                <a:spcPts val="1000"/>
              </a:spcAft>
              <a:buSzPct val="100000"/>
              <a:buChar char="•"/>
            </a:pPr>
            <a:r>
              <a:rPr lang="en-US" sz="2400" dirty="0">
                <a:solidFill>
                  <a:srgbClr val="FFFFFF"/>
                </a:solidFill>
              </a:rPr>
              <a:t>Error types: data, logic, code, interpretation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check the data</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Profile inputs: counts, nulls, ranges, duplicates</a:t>
            </a:r>
            <a:endParaRPr lang="en-US" sz="2400" dirty="0"/>
          </a:p>
          <a:p>
            <a:pPr algn="l" marL="342900" indent="-342900">
              <a:spcAft>
                <a:spcPts val="1000"/>
              </a:spcAft>
              <a:buSzPct val="100000"/>
              <a:buChar char="•"/>
            </a:pPr>
            <a:r>
              <a:rPr lang="en-US" sz="2400" dirty="0">
                <a:solidFill>
                  <a:srgbClr val="FFFFFF"/>
                </a:solidFill>
              </a:rPr>
              <a:t>Reconcile totals to a trusted source</a:t>
            </a:r>
            <a:endParaRPr lang="en-US" sz="2400" dirty="0"/>
          </a:p>
          <a:p>
            <a:pPr algn="l" marL="342900" indent="-342900">
              <a:spcAft>
                <a:spcPts val="1000"/>
              </a:spcAft>
              <a:buSzPct val="100000"/>
              <a:buChar char="•"/>
            </a:pPr>
            <a:r>
              <a:rPr lang="en-US" sz="2400" dirty="0">
                <a:solidFill>
                  <a:srgbClr val="FFFFFF"/>
                </a:solidFill>
              </a:rPr>
              <a:t>Check row counts before and after every join</a:t>
            </a:r>
            <a:endParaRPr lang="en-US" sz="2400" dirty="0"/>
          </a:p>
          <a:p>
            <a:pPr algn="l" marL="342900" indent="-342900">
              <a:spcAft>
                <a:spcPts val="1000"/>
              </a:spcAft>
              <a:buSzPct val="100000"/>
              <a:buChar char="•"/>
            </a:pPr>
            <a:r>
              <a:rPr lang="en-US" sz="2400" dirty="0">
                <a:solidFill>
                  <a:srgbClr val="FFFFFF"/>
                </a:solidFill>
              </a:rPr>
              <a:t>Trend key numbers over time to spot breaks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check the analysis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Independent peer review of code and logic</a:t>
            </a:r>
            <a:endParaRPr lang="en-US" sz="2400" dirty="0"/>
          </a:p>
          <a:p>
            <a:pPr algn="l" marL="342900" indent="-342900">
              <a:spcAft>
                <a:spcPts val="1000"/>
              </a:spcAft>
              <a:buSzPct val="100000"/>
              <a:buChar char="•"/>
            </a:pPr>
            <a:r>
              <a:rPr lang="en-US" sz="2400" dirty="0">
                <a:solidFill>
                  <a:srgbClr val="FFFFFF"/>
                </a:solidFill>
              </a:rPr>
              <a:t>Reproduce one result by hand or another method</a:t>
            </a:r>
            <a:endParaRPr lang="en-US" sz="2400" dirty="0"/>
          </a:p>
          <a:p>
            <a:pPr algn="l" marL="342900" indent="-342900">
              <a:spcAft>
                <a:spcPts val="1000"/>
              </a:spcAft>
              <a:buSzPct val="100000"/>
              <a:buChar char="•"/>
            </a:pPr>
            <a:r>
              <a:rPr lang="en-US" sz="2400" dirty="0">
                <a:solidFill>
                  <a:srgbClr val="FFFFFF"/>
                </a:solidFill>
              </a:rPr>
              <a:t>Sanity-check against benchmarks and intuition</a:t>
            </a:r>
            <a:endParaRPr lang="en-US" sz="2400" dirty="0"/>
          </a:p>
          <a:p>
            <a:pPr algn="l" marL="342900" indent="-342900">
              <a:spcAft>
                <a:spcPts val="1000"/>
              </a:spcAft>
              <a:buSzPct val="100000"/>
              <a:buChar char="•"/>
            </a:pPr>
            <a:r>
              <a:rPr lang="en-US" sz="2400" dirty="0">
                <a:solidFill>
                  <a:srgbClr val="FFFFFF"/>
                </a:solidFill>
              </a:rPr>
              <a:t>Validate models on held-out data</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QA only at the end → check at each step</a:t>
            </a:r>
            <a:endParaRPr lang="en-US" sz="2400" dirty="0"/>
          </a:p>
          <a:p>
            <a:pPr algn="l" marL="342900" indent="-342900">
              <a:spcAft>
                <a:spcPts val="1000"/>
              </a:spcAft>
              <a:buSzPct val="100000"/>
              <a:buChar char="•"/>
            </a:pPr>
            <a:r>
              <a:rPr lang="en-US" sz="2400" dirty="0">
                <a:solidFill>
                  <a:srgbClr val="FFFFFF"/>
                </a:solidFill>
              </a:rPr>
              <a:t>Author reviews own work → use an independent reviewer</a:t>
            </a:r>
            <a:endParaRPr lang="en-US" sz="2400" dirty="0"/>
          </a:p>
          <a:p>
            <a:pPr algn="l" marL="342900" indent="-342900">
              <a:spcAft>
                <a:spcPts val="1000"/>
              </a:spcAft>
              <a:buSzPct val="100000"/>
              <a:buChar char="•"/>
            </a:pPr>
            <a:r>
              <a:rPr lang="en-US" sz="2400" dirty="0">
                <a:solidFill>
                  <a:srgbClr val="FFFFFF"/>
                </a:solidFill>
              </a:rPr>
              <a:t>Trusting AI-generated code → test it like any code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More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No reconciliation → tie totals to source reports</a:t>
            </a:r>
            <a:endParaRPr lang="en-US" sz="2400" dirty="0"/>
          </a:p>
          <a:p>
            <a:pPr algn="l" marL="342900" indent="-342900">
              <a:spcAft>
                <a:spcPts val="1000"/>
              </a:spcAft>
              <a:buSzPct val="100000"/>
              <a:buChar char="•"/>
            </a:pPr>
            <a:r>
              <a:rPr lang="en-US" sz="2400" dirty="0">
                <a:solidFill>
                  <a:srgbClr val="FFFFFF"/>
                </a:solidFill>
              </a:rPr>
              <a:t>Plausible but wrong → compare to external benchmarks</a:t>
            </a:r>
            <a:endParaRPr lang="en-US" sz="2400" dirty="0"/>
          </a:p>
          <a:p>
            <a:pPr algn="l" marL="342900" indent="-342900">
              <a:spcAft>
                <a:spcPts val="1000"/>
              </a:spcAft>
              <a:buSzPct val="100000"/>
              <a:buChar char="•"/>
            </a:pPr>
            <a:r>
              <a:rPr lang="en-US" sz="2400" dirty="0">
                <a:solidFill>
                  <a:srgbClr val="FFFFFF"/>
                </a:solidFill>
              </a:rPr>
              <a:t>Silent fixes → log every error found and fixed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Recall a time a wrong number reached a decision maker. Which quality check would have caught it?</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Quality Assurance Strategies</dc:title>
  <dc:subject>Week 7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