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Management seminar for week 11: Timeline Planning and Expectation Management. We will go through basics and terminology, best practices for data analytics, and common pitfalls and how to avoid them.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 breakdown structure lists every task. Dependencies show which tasks wait on others (data access before analysis, QA before release). The critical path is the longest chain of dependent tasks; delays on it delay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Analysts tend to estimate only the analysis. In healthcare, data access, data cleaning and stakeholder review often take longer than the modeling. Data surprises are the norm, so buffer is not padding.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deliver the core analysis by the 15th, or add the subgroup breakdown by the 30th" gives the stakeholder a real choice. A changed scope needs a changed timeline, agreed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planning fallacy is real: people underestimate their own tasks even when they know similar tasks ran long. Dependencies on other teams are the most common source of delay.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worked on the model" says little; "the model is validated; the deck is at risk because finance data is late" lets a sponsor act. A date promised before the work is understood is a guess.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Timeline Planning and Expectation Management</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11 Management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planning terms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Work breakdown: tasks, dependencies, milestones</a:t>
            </a:r>
            <a:endParaRPr lang="en-US" sz="2400" dirty="0"/>
          </a:p>
          <a:p>
            <a:pPr algn="l" marL="342900" indent="-342900">
              <a:spcAft>
                <a:spcPts val="1000"/>
              </a:spcAft>
              <a:buSzPct val="100000"/>
              <a:buChar char="•"/>
            </a:pPr>
            <a:r>
              <a:rPr lang="en-US" sz="2400" dirty="0">
                <a:solidFill>
                  <a:srgbClr val="FFFFFF"/>
                </a:solidFill>
              </a:rPr>
              <a:t>Critical path: the chain that sets the end date</a:t>
            </a:r>
            <a:endParaRPr lang="en-US" sz="2400" dirty="0"/>
          </a:p>
          <a:p>
            <a:pPr algn="l" marL="342900" indent="-342900">
              <a:spcAft>
                <a:spcPts val="1000"/>
              </a:spcAft>
              <a:buSzPct val="100000"/>
              <a:buChar char="•"/>
            </a:pPr>
            <a:r>
              <a:rPr lang="en-US" sz="2400" dirty="0">
                <a:solidFill>
                  <a:srgbClr val="FFFFFF"/>
                </a:solidFill>
              </a:rPr>
              <a:t>Estimates are ranges, not points</a:t>
            </a:r>
            <a:endParaRPr lang="en-US" sz="2400" dirty="0"/>
          </a:p>
          <a:p>
            <a:pPr algn="l" marL="342900" indent="-342900">
              <a:spcAft>
                <a:spcPts val="1000"/>
              </a:spcAft>
              <a:buSzPct val="100000"/>
              <a:buChar char="•"/>
            </a:pPr>
            <a:r>
              <a:rPr lang="en-US" sz="2400" dirty="0">
                <a:solidFill>
                  <a:srgbClr val="FFFFFF"/>
                </a:solidFill>
              </a:rPr>
              <a:t>Expectations: what, when and how good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plan realistically</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Include data access, QA and review time</a:t>
            </a:r>
            <a:endParaRPr lang="en-US" sz="2400" dirty="0"/>
          </a:p>
          <a:p>
            <a:pPr algn="l" marL="342900" indent="-342900">
              <a:spcAft>
                <a:spcPts val="1000"/>
              </a:spcAft>
              <a:buSzPct val="100000"/>
              <a:buChar char="•"/>
            </a:pPr>
            <a:r>
              <a:rPr lang="en-US" sz="2400" dirty="0">
                <a:solidFill>
                  <a:srgbClr val="FFFFFF"/>
                </a:solidFill>
              </a:rPr>
              <a:t>Add buffer for unknowns</a:t>
            </a:r>
            <a:endParaRPr lang="en-US" sz="2400" dirty="0"/>
          </a:p>
          <a:p>
            <a:pPr algn="l" marL="342900" indent="-342900">
              <a:spcAft>
                <a:spcPts val="1000"/>
              </a:spcAft>
              <a:buSzPct val="100000"/>
              <a:buChar char="•"/>
            </a:pPr>
            <a:r>
              <a:rPr lang="en-US" sz="2400" dirty="0">
                <a:solidFill>
                  <a:srgbClr val="FFFFFF"/>
                </a:solidFill>
              </a:rPr>
              <a:t>Set milestones stakeholders can see</a:t>
            </a:r>
            <a:endParaRPr lang="en-US" sz="2400" dirty="0"/>
          </a:p>
          <a:p>
            <a:pPr algn="l" marL="342900" indent="-342900">
              <a:spcAft>
                <a:spcPts val="1000"/>
              </a:spcAft>
              <a:buSzPct val="100000"/>
              <a:buChar char="•"/>
            </a:pPr>
            <a:r>
              <a:rPr lang="en-US" sz="2400" dirty="0">
                <a:solidFill>
                  <a:srgbClr val="FFFFFF"/>
                </a:solidFill>
              </a:rPr>
              <a:t>Estimate from past projects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Best practices: manage expectations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Share status regularly, good news or bad</a:t>
            </a:r>
            <a:endParaRPr lang="en-US" sz="2400" dirty="0"/>
          </a:p>
          <a:p>
            <a:pPr algn="l" marL="342900" indent="-342900">
              <a:spcAft>
                <a:spcPts val="1000"/>
              </a:spcAft>
              <a:buSzPct val="100000"/>
              <a:buChar char="•"/>
            </a:pPr>
            <a:r>
              <a:rPr lang="en-US" sz="2400" dirty="0">
                <a:solidFill>
                  <a:srgbClr val="FFFFFF"/>
                </a:solidFill>
              </a:rPr>
              <a:t>Flag risks early, with options</a:t>
            </a:r>
            <a:endParaRPr lang="en-US" sz="2400" dirty="0"/>
          </a:p>
          <a:p>
            <a:pPr algn="l" marL="342900" indent="-342900">
              <a:spcAft>
                <a:spcPts val="1000"/>
              </a:spcAft>
              <a:buSzPct val="100000"/>
              <a:buChar char="•"/>
            </a:pPr>
            <a:r>
              <a:rPr lang="en-US" sz="2400" dirty="0">
                <a:solidFill>
                  <a:srgbClr val="FFFFFF"/>
                </a:solidFill>
              </a:rPr>
              <a:t>Re-baseline when scope changes</a:t>
            </a:r>
            <a:endParaRPr lang="en-US" sz="2400" dirty="0"/>
          </a:p>
          <a:p>
            <a:pPr algn="l" marL="342900" indent="-342900">
              <a:spcAft>
                <a:spcPts val="1000"/>
              </a:spcAft>
              <a:buSzPct val="100000"/>
              <a:buChar char="•"/>
            </a:pPr>
            <a:r>
              <a:rPr lang="en-US" sz="2400" dirty="0">
                <a:solidFill>
                  <a:srgbClr val="FFFFFF"/>
                </a:solidFill>
              </a:rPr>
              <a:t>Commit to what you can deliver</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Common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Optimistic estimates → use ranges and past actuals</a:t>
            </a:r>
            <a:endParaRPr lang="en-US" sz="2400" dirty="0"/>
          </a:p>
          <a:p>
            <a:pPr algn="l" marL="342900" indent="-342900">
              <a:spcAft>
                <a:spcPts val="1000"/>
              </a:spcAft>
              <a:buSzPct val="100000"/>
              <a:buChar char="•"/>
            </a:pPr>
            <a:r>
              <a:rPr lang="en-US" sz="2400" dirty="0">
                <a:solidFill>
                  <a:srgbClr val="FFFFFF"/>
                </a:solidFill>
              </a:rPr>
              <a:t>Hidden dependencies → map IT and data owners in the plan</a:t>
            </a:r>
            <a:endParaRPr lang="en-US" sz="2400" dirty="0"/>
          </a:p>
          <a:p>
            <a:pPr algn="l" marL="342900" indent="-342900">
              <a:spcAft>
                <a:spcPts val="1000"/>
              </a:spcAft>
              <a:buSzPct val="100000"/>
              <a:buChar char="•"/>
            </a:pPr>
            <a:r>
              <a:rPr lang="en-US" sz="2400" dirty="0">
                <a:solidFill>
                  <a:srgbClr val="FFFFFF"/>
                </a:solidFill>
              </a:rPr>
              <a:t>Late bad news → raise risks as soon as known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More pitfalls and how to avoid them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New asks with no trade-off → agree on what moves</a:t>
            </a:r>
            <a:endParaRPr lang="en-US" sz="2400" dirty="0"/>
          </a:p>
          <a:p>
            <a:pPr algn="l" marL="342900" indent="-342900">
              <a:spcAft>
                <a:spcPts val="1000"/>
              </a:spcAft>
              <a:buSzPct val="100000"/>
              <a:buChar char="•"/>
            </a:pPr>
            <a:r>
              <a:rPr lang="en-US" sz="2400" dirty="0">
                <a:solidFill>
                  <a:srgbClr val="FFFFFF"/>
                </a:solidFill>
              </a:rPr>
              <a:t>Status on activity only → report milestones and risks</a:t>
            </a:r>
            <a:endParaRPr lang="en-US" sz="2400" dirty="0"/>
          </a:p>
          <a:p>
            <a:pPr algn="l" marL="342900" indent="-342900">
              <a:spcAft>
                <a:spcPts val="1000"/>
              </a:spcAft>
              <a:buSzPct val="100000"/>
              <a:buChar char="•"/>
            </a:pPr>
            <a:r>
              <a:rPr lang="en-US" sz="2400" dirty="0">
                <a:solidFill>
                  <a:srgbClr val="FFFFFF"/>
                </a:solidFill>
              </a:rPr>
              <a:t>Deadline set before scope → scope first, then commit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Recall a project that ran late. What was on its critical path, and how would you plan and communicate it differently now?</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Timeline Planning and Expectation Management</dc:title>
  <dc:subject>Week 11 Management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