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3: Stakeholder Alignment Strategies.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analytics, stakeholders often span finance, clinical operations, IT, compliance and external payers or partners. The power-interest grid sorts them: manage closely (high power, high interest), keep satisfied, keep informed, or monitor. A RACI chart (responsible, accountable, consulted, informed) clarifies roles.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written statement of the goal, scope and success measure, sent after the kickoff, is the single best alignment tool. Analysts are often the only people in the room who speak both the clinical and the financial language; translating between them is part of the job.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Disagreement about definitions often appears only when people see a number. Showing rough interim results invites that debate early. Pre-briefing a senior stakeholder means a surprise never derails a group meeting.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and quality may define "readmission" or "member" differently; both can be right for their purpose, but the project needs one definition. Silence in a meeting is not agreement; ask each key stakeholder what would make them doubt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 news delivered first in a large meeting puts leaders on the defensive. When new requests arrive, ask how they relate to the agreed goal and what should move to make room. Staff turnover is common; a decision log lets a new sponsor see why choices were made.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Stakeholder Alignment Strategies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3 Management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who stakeholders are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Anyone affected by the work or able to block it</a:t>
            </a:r>
            <a:endParaRPr lang="en-US" sz="2400" dirty="0"/>
          </a:p>
          <a:p>
            <a:pPr algn="l" marL="342900" indent="-342900">
              <a:spcAft>
                <a:spcPts val="1000"/>
              </a:spcAft>
              <a:buSzPct val="100000"/>
              <a:buChar char="•"/>
            </a:pPr>
            <a:r>
              <a:rPr lang="en-US" sz="2400" dirty="0">
                <a:solidFill>
                  <a:srgbClr val="FFFFFF"/>
                </a:solidFill>
              </a:rPr>
              <a:t>Sponsor, decision maker, end user, data owner, expert</a:t>
            </a:r>
            <a:endParaRPr lang="en-US" sz="2400" dirty="0"/>
          </a:p>
          <a:p>
            <a:pPr algn="l" marL="342900" indent="-342900">
              <a:spcAft>
                <a:spcPts val="1000"/>
              </a:spcAft>
              <a:buSzPct val="100000"/>
              <a:buChar char="•"/>
            </a:pPr>
            <a:r>
              <a:rPr lang="en-US" sz="2400" dirty="0">
                <a:solidFill>
                  <a:srgbClr val="FFFFFF"/>
                </a:solidFill>
              </a:rPr>
              <a:t>Alignment: shared goal, scope, definitions, timeline</a:t>
            </a:r>
            <a:endParaRPr lang="en-US" sz="2400" dirty="0"/>
          </a:p>
          <a:p>
            <a:pPr algn="l" marL="342900" indent="-342900">
              <a:spcAft>
                <a:spcPts val="1000"/>
              </a:spcAft>
              <a:buSzPct val="100000"/>
              <a:buChar char="•"/>
            </a:pPr>
            <a:r>
              <a:rPr lang="en-US" sz="2400" dirty="0">
                <a:solidFill>
                  <a:srgbClr val="FFFFFF"/>
                </a:solidFill>
              </a:rPr>
              <a:t>Power-interest grid: who needs what level of attention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map and engage early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Map stakeholders before kickoff</a:t>
            </a:r>
            <a:endParaRPr lang="en-US" sz="2400" dirty="0"/>
          </a:p>
          <a:p>
            <a:pPr algn="l" marL="342900" indent="-342900">
              <a:spcAft>
                <a:spcPts val="1000"/>
              </a:spcAft>
              <a:buSzPct val="100000"/>
              <a:buChar char="•"/>
            </a:pPr>
            <a:r>
              <a:rPr lang="en-US" sz="2400" dirty="0">
                <a:solidFill>
                  <a:srgbClr val="FFFFFF"/>
                </a:solidFill>
              </a:rPr>
              <a:t>End the kickoff with a written goal and scope</a:t>
            </a:r>
            <a:endParaRPr lang="en-US" sz="2400" dirty="0"/>
          </a:p>
          <a:p>
            <a:pPr algn="l" marL="342900" indent="-342900">
              <a:spcAft>
                <a:spcPts val="1000"/>
              </a:spcAft>
              <a:buSzPct val="100000"/>
              <a:buChar char="•"/>
            </a:pPr>
            <a:r>
              <a:rPr lang="en-US" sz="2400" dirty="0">
                <a:solidFill>
                  <a:srgbClr val="FFFFFF"/>
                </a:solidFill>
              </a:rPr>
              <a:t>Use a RACI to separate deciders from advisors</a:t>
            </a:r>
            <a:endParaRPr lang="en-US" sz="2400" dirty="0"/>
          </a:p>
          <a:p>
            <a:pPr algn="l" marL="342900" indent="-342900">
              <a:spcAft>
                <a:spcPts val="1000"/>
              </a:spcAft>
              <a:buSzPct val="100000"/>
              <a:buChar char="•"/>
            </a:pPr>
            <a:r>
              <a:rPr lang="en-US" sz="2400" dirty="0">
                <a:solidFill>
                  <a:srgbClr val="FFFFFF"/>
                </a:solidFill>
              </a:rPr>
              <a:t>Translate between clinical, finance and IT vocabulary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keep alignment over time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Short, regular check-ins beat rare long meetings</a:t>
            </a:r>
            <a:endParaRPr lang="en-US" sz="2400" dirty="0"/>
          </a:p>
          <a:p>
            <a:pPr algn="l" marL="342900" indent="-342900">
              <a:spcAft>
                <a:spcPts val="1000"/>
              </a:spcAft>
              <a:buSzPct val="100000"/>
              <a:buChar char="•"/>
            </a:pPr>
            <a:r>
              <a:rPr lang="en-US" sz="2400" dirty="0">
                <a:solidFill>
                  <a:srgbClr val="FFFFFF"/>
                </a:solidFill>
              </a:rPr>
              <a:t>Show interim results to surface disagreements early</a:t>
            </a:r>
            <a:endParaRPr lang="en-US" sz="2400" dirty="0"/>
          </a:p>
          <a:p>
            <a:pPr algn="l" marL="342900" indent="-342900">
              <a:spcAft>
                <a:spcPts val="1000"/>
              </a:spcAft>
              <a:buSzPct val="100000"/>
              <a:buChar char="•"/>
            </a:pPr>
            <a:r>
              <a:rPr lang="en-US" sz="2400" dirty="0">
                <a:solidFill>
                  <a:srgbClr val="FFFFFF"/>
                </a:solidFill>
              </a:rPr>
              <a:t>Send recaps that record decisions</a:t>
            </a:r>
            <a:endParaRPr lang="en-US" sz="2400" dirty="0"/>
          </a:p>
          <a:p>
            <a:pPr algn="l" marL="342900" indent="-342900">
              <a:spcAft>
                <a:spcPts val="1000"/>
              </a:spcAft>
              <a:buSzPct val="100000"/>
              <a:buChar char="•"/>
            </a:pPr>
            <a:r>
              <a:rPr lang="en-US" sz="2400" dirty="0">
                <a:solidFill>
                  <a:srgbClr val="FFFFFF"/>
                </a:solidFill>
              </a:rPr>
              <a:t>Pre-brief key people before group presentations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Only talking to the requester → map everyone affected</a:t>
            </a:r>
            <a:endParaRPr lang="en-US" sz="2400" dirty="0"/>
          </a:p>
          <a:p>
            <a:pPr algn="l" marL="342900" indent="-342900">
              <a:spcAft>
                <a:spcPts val="1000"/>
              </a:spcAft>
              <a:buSzPct val="100000"/>
              <a:buChar char="•"/>
            </a:pPr>
            <a:r>
              <a:rPr lang="en-US" sz="2400" dirty="0">
                <a:solidFill>
                  <a:srgbClr val="FFFFFF"/>
                </a:solidFill>
              </a:rPr>
              <a:t>Conflicting definitions → write a shared glossary</a:t>
            </a:r>
            <a:endParaRPr lang="en-US" sz="2400" dirty="0"/>
          </a:p>
          <a:p>
            <a:pPr algn="l" marL="342900" indent="-342900">
              <a:spcAft>
                <a:spcPts val="1000"/>
              </a:spcAft>
              <a:buSzPct val="100000"/>
              <a:buChar char="•"/>
            </a:pPr>
            <a:r>
              <a:rPr lang="en-US" sz="2400" dirty="0">
                <a:solidFill>
                  <a:srgbClr val="FFFFFF"/>
                </a:solidFill>
              </a:rPr>
              <a:t>Silent stakeholders → ask directly for concerns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Surprising leaders with bad news → pre-brief privately</a:t>
            </a:r>
            <a:endParaRPr lang="en-US" sz="2400" dirty="0"/>
          </a:p>
          <a:p>
            <a:pPr algn="l" marL="342900" indent="-342900">
              <a:spcAft>
                <a:spcPts val="1000"/>
              </a:spcAft>
              <a:buSzPct val="100000"/>
              <a:buChar char="•"/>
            </a:pPr>
            <a:r>
              <a:rPr lang="en-US" sz="2400" dirty="0">
                <a:solidFill>
                  <a:srgbClr val="FFFFFF"/>
                </a:solidFill>
              </a:rPr>
              <a:t>Saying yes to every request → tie asks to the agreed goal</a:t>
            </a:r>
            <a:endParaRPr lang="en-US" sz="2400" dirty="0"/>
          </a:p>
          <a:p>
            <a:pPr algn="l" marL="342900" indent="-342900">
              <a:spcAft>
                <a:spcPts val="1000"/>
              </a:spcAft>
              <a:buSzPct val="100000"/>
              <a:buChar char="•"/>
            </a:pPr>
            <a:r>
              <a:rPr lang="en-US" sz="2400" dirty="0">
                <a:solidFill>
                  <a:srgbClr val="FFFFFF"/>
                </a:solidFill>
              </a:rPr>
              <a:t>Alignment lost after staff changes → keep a decision log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Stakeholder Alignment Strategies</dc:title>
  <dc:subject>Week 3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