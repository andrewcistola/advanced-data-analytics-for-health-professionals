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2: Components of a Data Analytics Project.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project, from a one-day ad hoc request to a six-month model build, has the same parts. Frameworks such as CRISP-DM (business understanding, data understanding, data preparation, modeling, evaluation, deployment) name the same idea: the technical work sits between understanding the business problem and getting the result used.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many readmissions did we have?" becomes "Should we expand the transitional care program to the second hospital?" The second version tells you what to measure, for whom, and what level of certainty is needed. Checking data availability during scoping avoids promising an answer the data can't support.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sketch of the final table or chart at kickoff catches misunderstandings when they are cheap to fix. A revenue cycle or clinical expert will spot an implausible number faster than any test. Projects that will recur need an owner and documentation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access in healthcare often takes weeks because of privacy reviews and data use agreements, so start the request on day one. An analysis without a named user tends to end up unused, however good it 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additions add up; a change log makes the trade-off visible. When deadlines tighten, QA is the first thing cut and the most expensive thing to have skipped. Hard-coded dates and file paths turn next quarter's rerun into a new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2: Components of a Data Analytics Project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2 Management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anatomy of an analytics project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Business question and the decision it informs</a:t>
            </a:r>
            <a:endParaRPr lang="en-US" sz="2400" dirty="0"/>
          </a:p>
          <a:p>
            <a:pPr algn="l" marL="342900" indent="-342900">
              <a:spcAft>
                <a:spcPts val="1000"/>
              </a:spcAft>
              <a:buSzPct val="100000"/>
              <a:buChar char="•"/>
            </a:pPr>
            <a:r>
              <a:rPr lang="en-US" sz="2400" dirty="0">
                <a:solidFill>
                  <a:srgbClr val="FFFFFF"/>
                </a:solidFill>
              </a:rPr>
              <a:t>Stakeholders: sponsor, users, data owners, experts</a:t>
            </a:r>
            <a:endParaRPr lang="en-US" sz="2400" dirty="0"/>
          </a:p>
          <a:p>
            <a:pPr algn="l" marL="342900" indent="-342900">
              <a:spcAft>
                <a:spcPts val="1000"/>
              </a:spcAft>
              <a:buSzPct val="100000"/>
              <a:buChar char="•"/>
            </a:pPr>
            <a:r>
              <a:rPr lang="en-US" sz="2400" dirty="0">
                <a:solidFill>
                  <a:srgbClr val="FFFFFF"/>
                </a:solidFill>
              </a:rPr>
              <a:t>Requirements, data, analysis, QA, deliverable</a:t>
            </a:r>
            <a:endParaRPr lang="en-US" sz="2400" dirty="0"/>
          </a:p>
          <a:p>
            <a:pPr algn="l" marL="342900" indent="-342900">
              <a:spcAft>
                <a:spcPts val="1000"/>
              </a:spcAft>
              <a:buSzPct val="100000"/>
              <a:buChar char="•"/>
            </a:pPr>
            <a:r>
              <a:rPr lang="en-US" sz="2400" dirty="0">
                <a:solidFill>
                  <a:srgbClr val="FFFFFF"/>
                </a:solidFill>
              </a:rPr>
              <a:t>Phases: intake, scoping, build, review, handoff</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start with the decision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Write the question as a decision someone will make</a:t>
            </a:r>
            <a:endParaRPr lang="en-US" sz="2400" dirty="0"/>
          </a:p>
          <a:p>
            <a:pPr algn="l" marL="342900" indent="-342900">
              <a:spcAft>
                <a:spcPts val="1000"/>
              </a:spcAft>
              <a:buSzPct val="100000"/>
              <a:buChar char="•"/>
            </a:pPr>
            <a:r>
              <a:rPr lang="en-US" sz="2400" dirty="0">
                <a:solidFill>
                  <a:srgbClr val="FFFFFF"/>
                </a:solidFill>
              </a:rPr>
              <a:t>Confirm the data exists before promising answers</a:t>
            </a:r>
            <a:endParaRPr lang="en-US" sz="2400" dirty="0"/>
          </a:p>
          <a:p>
            <a:pPr algn="l" marL="342900" indent="-342900">
              <a:spcAft>
                <a:spcPts val="1000"/>
              </a:spcAft>
              <a:buSzPct val="100000"/>
              <a:buChar char="•"/>
            </a:pPr>
            <a:r>
              <a:rPr lang="en-US" sz="2400" dirty="0">
                <a:solidFill>
                  <a:srgbClr val="FFFFFF"/>
                </a:solidFill>
              </a:rPr>
              <a:t>Agree on definitions up front (member, visit, rate)</a:t>
            </a:r>
            <a:endParaRPr lang="en-US" sz="2400" dirty="0"/>
          </a:p>
          <a:p>
            <a:pPr algn="l" marL="342900" indent="-342900">
              <a:spcAft>
                <a:spcPts val="1000"/>
              </a:spcAft>
              <a:buSzPct val="100000"/>
              <a:buChar char="•"/>
            </a:pPr>
            <a:r>
              <a:rPr lang="en-US" sz="2400" dirty="0">
                <a:solidFill>
                  <a:srgbClr val="FFFFFF"/>
                </a:solidFill>
              </a:rPr>
              <a:t>Size the work: hours, data access, review time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build in checkpoints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Share a mock-up of the deliverable early</a:t>
            </a:r>
            <a:endParaRPr lang="en-US" sz="2400" dirty="0"/>
          </a:p>
          <a:p>
            <a:pPr algn="l" marL="342900" indent="-342900">
              <a:spcAft>
                <a:spcPts val="1000"/>
              </a:spcAft>
              <a:buSzPct val="100000"/>
              <a:buChar char="•"/>
            </a:pPr>
            <a:r>
              <a:rPr lang="en-US" sz="2400" dirty="0">
                <a:solidFill>
                  <a:srgbClr val="FFFFFF"/>
                </a:solidFill>
              </a:rPr>
              <a:t>Review interim numbers with a subject expert</a:t>
            </a:r>
            <a:endParaRPr lang="en-US" sz="2400" dirty="0"/>
          </a:p>
          <a:p>
            <a:pPr algn="l" marL="342900" indent="-342900">
              <a:spcAft>
                <a:spcPts val="1000"/>
              </a:spcAft>
              <a:buSzPct val="100000"/>
              <a:buChar char="•"/>
            </a:pPr>
            <a:r>
              <a:rPr lang="en-US" sz="2400" dirty="0">
                <a:solidFill>
                  <a:srgbClr val="FFFFFF"/>
                </a:solidFill>
              </a:rPr>
              <a:t>Keep code, queries and notes in version control</a:t>
            </a:r>
            <a:endParaRPr lang="en-US" sz="2400" dirty="0"/>
          </a:p>
          <a:p>
            <a:pPr algn="l" marL="342900" indent="-342900">
              <a:spcAft>
                <a:spcPts val="1000"/>
              </a:spcAft>
              <a:buSzPct val="100000"/>
              <a:buChar char="•"/>
            </a:pPr>
            <a:r>
              <a:rPr lang="en-US" sz="2400" dirty="0">
                <a:solidFill>
                  <a:srgbClr val="FFFFFF"/>
                </a:solidFill>
              </a:rPr>
              <a:t>Plan the handoff: who maintains this next year?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Vague question → restate it as a decision; get sign-off</a:t>
            </a:r>
            <a:endParaRPr lang="en-US" sz="2400" dirty="0"/>
          </a:p>
          <a:p>
            <a:pPr algn="l" marL="342900" indent="-342900">
              <a:spcAft>
                <a:spcPts val="1000"/>
              </a:spcAft>
              <a:buSzPct val="100000"/>
              <a:buChar char="•"/>
            </a:pPr>
            <a:r>
              <a:rPr lang="en-US" sz="2400" dirty="0">
                <a:solidFill>
                  <a:srgbClr val="FFFFFF"/>
                </a:solidFill>
              </a:rPr>
              <a:t>Data access delays → request access during scoping</a:t>
            </a:r>
            <a:endParaRPr lang="en-US" sz="2400" dirty="0"/>
          </a:p>
          <a:p>
            <a:pPr algn="l" marL="342900" indent="-342900">
              <a:spcAft>
                <a:spcPts val="1000"/>
              </a:spcAft>
              <a:buSzPct val="100000"/>
              <a:buChar char="•"/>
            </a:pPr>
            <a:r>
              <a:rPr lang="en-US" sz="2400" dirty="0">
                <a:solidFill>
                  <a:srgbClr val="FFFFFF"/>
                </a:solidFill>
              </a:rPr>
              <a:t>No clear user → name the person who will act on it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Scope creep → log changes and re-agree on the timeline</a:t>
            </a:r>
            <a:endParaRPr lang="en-US" sz="2400" dirty="0"/>
          </a:p>
          <a:p>
            <a:pPr algn="l" marL="342900" indent="-342900">
              <a:spcAft>
                <a:spcPts val="1000"/>
              </a:spcAft>
              <a:buSzPct val="100000"/>
              <a:buChar char="•"/>
            </a:pPr>
            <a:r>
              <a:rPr lang="en-US" sz="2400" dirty="0">
                <a:solidFill>
                  <a:srgbClr val="FFFFFF"/>
                </a:solidFill>
              </a:rPr>
              <a:t>QA skipped under deadline → schedule QA as its own phase</a:t>
            </a:r>
            <a:endParaRPr lang="en-US" sz="2400" dirty="0"/>
          </a:p>
          <a:p>
            <a:pPr algn="l" marL="342900" indent="-342900">
              <a:spcAft>
                <a:spcPts val="1000"/>
              </a:spcAft>
              <a:buSzPct val="100000"/>
              <a:buChar char="•"/>
            </a:pPr>
            <a:r>
              <a:rPr lang="en-US" sz="2400" dirty="0">
                <a:solidFill>
                  <a:srgbClr val="FFFFFF"/>
                </a:solidFill>
              </a:rPr>
              <a:t>Scripts no one can rerun → document and parameterize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a data request you've made or received. How would you restate it as a decision, and who would act on the answer?</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Components of a Data Analytics Project</dc:title>
  <dc:subject>Week 2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