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6" r:id="rId17"/>
    <p:sldId id="267" r:id="rId18"/>
    <p:sldId id="268" r:id="rId19"/>
    <p:sldId id="269" r:id="rId20"/>
    <p:sldId id="270" r:id="rId21"/>
    <p:sldId id="271" r:id="rId22"/>
    <p:sldId id="272"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1" Type="http://schemas.openxmlformats.org/officeDocument/2006/relationships/slide" Target="slides/slide7.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slide" Target="slides/slide1.xml"/><Relationship Id="rId18" Type="http://schemas.openxmlformats.org/officeDocument/2006/relationships/slide" Target="slides/slide2.xml"/><Relationship Id="rId19" Type="http://schemas.openxmlformats.org/officeDocument/2006/relationships/slide" Target="slides/slide3.xml"/><Relationship Id="rId20" Type="http://schemas.openxmlformats.org/officeDocument/2006/relationships/slide" Target="slides/slide4.xml"/><Relationship Id="rId21" Type="http://schemas.openxmlformats.org/officeDocument/2006/relationships/slide" Target="slides/slide5.xml"/><Relationship Id="rId22"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students a few minutes to write an answer drawn from their own experience and career, then ask two or three to share. Connect their examples back to this seminar's content. In an online section, post the same question to the discussion board.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seminar for week 2: Components of a Data Analytics Project. We will go through basics and terminology, best practices for data analytics, and common pitfalls and how to avoid them. Provide opening remarks here.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project, from a one-day ad hoc request to a six-month model build, has the same parts. Frameworks such as CRISP-DM (business understanding, data understanding, data preparation, modeling, evaluation, deployment) name the same idea: the technical work sits between understanding the business problem and getting the result used.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many readmissions did we have?" becomes "Should we expand the transitional care program to the second hospital?" The second version tells you what to measure, for whom, and what level of certainty is needed. Checking data availability during scoping avoids promising an answer the data can't support.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sketch of the final table or chart at kickoff catches misunderstandings when they are cheap to fix. A revenue cycle or clinical expert will spot an implausible number faster than any test. Projects that will recur need an owner and documentation from the start.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 access in healthcare often takes weeks because of privacy reviews and data use agreements, so start the request on day one. An analysis without a named user tends to end up unused, however good it is.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Small additions add up; a change log makes the trade-off visible. When deadlines tighten, QA is the first thing cut and the most expensive thing to have skipped. Hard-coded dates and file paths turn next quarter's rerun into a new project.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rtlCol="0"/>
          <a:lstStyle>
            <a:lvl1pPr algn="l" indent="0" marL="0">
              <a:buNone/>
              <a:defRPr lang="en-US" sz="2200" dirty="0">
                <a:solidFill>
                  <a:srgbClr val="FFFFFF"/>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457200"/>
            <a:ext cx="10698480" cy="822960"/>
          </a:xfrm>
          <a:prstGeom prst="rect">
            <a:avLst/>
          </a:prstGeom>
          <a:noFill/>
          <a:ln/>
        </p:spPr>
        <p:txBody>
          <a:bodyPr wrap="square" rtlCol="0"/>
          <a:lstStyle>
            <a:lvl1pPr algn="l" indent="0" marL="0">
              <a:buNone/>
              <a:defRPr lang="en-US" sz="3200" b="1" dirty="0">
                <a:solidFill>
                  <a:srgbClr val="FFFFFF"/>
                </a:solidFill>
              </a:defRPr>
            </a:lvl1pPr>
          </a:lstStyle>
          <a:p>
            <a:pPr algn="l" indent="0" marL="0">
              <a:buNone/>
            </a:pP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lstStyle>
            <a:lvl1pPr algn="l" indent="0" marL="0">
              <a:spcAft>
                <a:spcPts val="1000"/>
              </a:spcAft>
              <a:buNone/>
              <a:defRPr lang="en-US" sz="2400" dirty="0">
                <a:solidFill>
                  <a:srgbClr val="FFFFFF"/>
                </a:solidFill>
              </a:defRPr>
            </a:lvl1pPr>
          </a:lstStyle>
          <a:p>
            <a:pPr algn="l" indent="0" marL="0">
              <a:spcAft>
                <a:spcPts val="1000"/>
              </a:spcAft>
              <a:buNone/>
            </a:pP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2011680"/>
            <a:ext cx="10698480" cy="1463040"/>
          </a:xfrm>
          <a:prstGeom prst="rect">
            <a:avLst/>
          </a:prstGeom>
          <a:noFill/>
          <a:ln/>
        </p:spPr>
        <p:txBody>
          <a:bodyPr wrap="square" lIns="0" tIns="0" rIns="0" bIns="0" rtlCol="0" anchor="b"/>
          <a:lstStyle/>
          <a:p>
            <a:pPr algn="l" indent="0" marL="0">
              <a:buNone/>
            </a:pPr>
            <a:r>
              <a:rPr lang="en-US" sz="4000" b="1" dirty="0">
                <a:solidFill>
                  <a:srgbClr val="FFFFFF"/>
                </a:solidFill>
              </a:rPr>
              <a:t>Components of a Data Analytics Project</a:t>
            </a: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lIns="0" tIns="0" rIns="0" bIns="0" rtlCol="0" anchor="t"/>
          <a:lstStyle/>
          <a:p>
            <a:pPr algn="l" indent="0" marL="0">
              <a:buNone/>
            </a:pPr>
            <a:r>
              <a:rPr lang="en-US" sz="2200" dirty="0">
                <a:solidFill>
                  <a:srgbClr val="FFFFFF"/>
                </a:solidFill>
              </a:rPr>
              <a:t>Health Data Analytics · Week 2 Management Seminar</a:t>
            </a:r>
            <a:endParaRPr lang="en-US" sz="2200" dirty="0"/>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Basics: anatomy of an analytics project</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Business question and the decision it informs</a:t>
            </a:r>
            <a:endParaRPr lang="en-US" sz="2400" dirty="0"/>
          </a:p>
          <a:p>
            <a:pPr algn="l" marL="342900" indent="-342900">
              <a:spcAft>
                <a:spcPts val="1000"/>
              </a:spcAft>
              <a:buSzPct val="100000"/>
              <a:buChar char="•"/>
            </a:pPr>
            <a:r>
              <a:rPr lang="en-US" sz="2400" dirty="0">
                <a:solidFill>
                  <a:srgbClr val="FFFFFF"/>
                </a:solidFill>
              </a:rPr>
              <a:t>Stakeholders: sponsor, users, data owners, experts</a:t>
            </a:r>
            <a:endParaRPr lang="en-US" sz="2400" dirty="0"/>
          </a:p>
          <a:p>
            <a:pPr algn="l" marL="342900" indent="-342900">
              <a:spcAft>
                <a:spcPts val="1000"/>
              </a:spcAft>
              <a:buSzPct val="100000"/>
              <a:buChar char="•"/>
            </a:pPr>
            <a:r>
              <a:rPr lang="en-US" sz="2400" dirty="0">
                <a:solidFill>
                  <a:srgbClr val="FFFFFF"/>
                </a:solidFill>
              </a:rPr>
              <a:t>Requirements, data, analysis, QA, deliverable</a:t>
            </a:r>
            <a:endParaRPr lang="en-US" sz="2400" dirty="0"/>
          </a:p>
          <a:p>
            <a:pPr algn="l" marL="342900" indent="-342900">
              <a:spcAft>
                <a:spcPts val="1000"/>
              </a:spcAft>
              <a:buSzPct val="100000"/>
              <a:buChar char="•"/>
            </a:pPr>
            <a:r>
              <a:rPr lang="en-US" sz="2400" dirty="0">
                <a:solidFill>
                  <a:srgbClr val="FFFFFF"/>
                </a:solidFill>
              </a:rPr>
              <a:t>Phases: intake, scoping, build, review, handoff</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Best practices: start with the decision</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Write the question as a decision someone will make</a:t>
            </a:r>
            <a:endParaRPr lang="en-US" sz="2400" dirty="0"/>
          </a:p>
          <a:p>
            <a:pPr algn="l" marL="342900" indent="-342900">
              <a:spcAft>
                <a:spcPts val="1000"/>
              </a:spcAft>
              <a:buSzPct val="100000"/>
              <a:buChar char="•"/>
            </a:pPr>
            <a:r>
              <a:rPr lang="en-US" sz="2400" dirty="0">
                <a:solidFill>
                  <a:srgbClr val="FFFFFF"/>
                </a:solidFill>
              </a:rPr>
              <a:t>Confirm the data exists before promising answers</a:t>
            </a:r>
            <a:endParaRPr lang="en-US" sz="2400" dirty="0"/>
          </a:p>
          <a:p>
            <a:pPr algn="l" marL="342900" indent="-342900">
              <a:spcAft>
                <a:spcPts val="1000"/>
              </a:spcAft>
              <a:buSzPct val="100000"/>
              <a:buChar char="•"/>
            </a:pPr>
            <a:r>
              <a:rPr lang="en-US" sz="2400" dirty="0">
                <a:solidFill>
                  <a:srgbClr val="FFFFFF"/>
                </a:solidFill>
              </a:rPr>
              <a:t>Agree on definitions up front (member, visit, rate)</a:t>
            </a:r>
            <a:endParaRPr lang="en-US" sz="2400" dirty="0"/>
          </a:p>
          <a:p>
            <a:pPr algn="l" marL="342900" indent="-342900">
              <a:spcAft>
                <a:spcPts val="1000"/>
              </a:spcAft>
              <a:buSzPct val="100000"/>
              <a:buChar char="•"/>
            </a:pPr>
            <a:r>
              <a:rPr lang="en-US" sz="2400" dirty="0">
                <a:solidFill>
                  <a:srgbClr val="FFFFFF"/>
                </a:solidFill>
              </a:rPr>
              <a:t>Size the work: hours, data access, review time</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Best practices: build in checkpoints</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Share a mock-up of the deliverable early</a:t>
            </a:r>
            <a:endParaRPr lang="en-US" sz="2400" dirty="0"/>
          </a:p>
          <a:p>
            <a:pPr algn="l" marL="342900" indent="-342900">
              <a:spcAft>
                <a:spcPts val="1000"/>
              </a:spcAft>
              <a:buSzPct val="100000"/>
              <a:buChar char="•"/>
            </a:pPr>
            <a:r>
              <a:rPr lang="en-US" sz="2400" dirty="0">
                <a:solidFill>
                  <a:srgbClr val="FFFFFF"/>
                </a:solidFill>
              </a:rPr>
              <a:t>Review interim numbers with a subject expert</a:t>
            </a:r>
            <a:endParaRPr lang="en-US" sz="2400" dirty="0"/>
          </a:p>
          <a:p>
            <a:pPr algn="l" marL="342900" indent="-342900">
              <a:spcAft>
                <a:spcPts val="1000"/>
              </a:spcAft>
              <a:buSzPct val="100000"/>
              <a:buChar char="•"/>
            </a:pPr>
            <a:r>
              <a:rPr lang="en-US" sz="2400" dirty="0">
                <a:solidFill>
                  <a:srgbClr val="FFFFFF"/>
                </a:solidFill>
              </a:rPr>
              <a:t>Keep code, queries and notes in version control</a:t>
            </a:r>
            <a:endParaRPr lang="en-US" sz="2400" dirty="0"/>
          </a:p>
          <a:p>
            <a:pPr algn="l" marL="342900" indent="-342900">
              <a:spcAft>
                <a:spcPts val="1000"/>
              </a:spcAft>
              <a:buSzPct val="100000"/>
              <a:buChar char="•"/>
            </a:pPr>
            <a:r>
              <a:rPr lang="en-US" sz="2400" dirty="0">
                <a:solidFill>
                  <a:srgbClr val="FFFFFF"/>
                </a:solidFill>
              </a:rPr>
              <a:t>Plan the handoff: who maintains this next year?</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Common pitfalls and how to avoid them</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Vague question → restate it as a decision; get sign-off</a:t>
            </a:r>
            <a:endParaRPr lang="en-US" sz="2400" dirty="0"/>
          </a:p>
          <a:p>
            <a:pPr algn="l" marL="342900" indent="-342900">
              <a:spcAft>
                <a:spcPts val="1000"/>
              </a:spcAft>
              <a:buSzPct val="100000"/>
              <a:buChar char="•"/>
            </a:pPr>
            <a:r>
              <a:rPr lang="en-US" sz="2400" dirty="0">
                <a:solidFill>
                  <a:srgbClr val="FFFFFF"/>
                </a:solidFill>
              </a:rPr>
              <a:t>Data access delays → request access during scoping</a:t>
            </a:r>
            <a:endParaRPr lang="en-US" sz="2400" dirty="0"/>
          </a:p>
          <a:p>
            <a:pPr algn="l" marL="342900" indent="-342900">
              <a:spcAft>
                <a:spcPts val="1000"/>
              </a:spcAft>
              <a:buSzPct val="100000"/>
              <a:buChar char="•"/>
            </a:pPr>
            <a:r>
              <a:rPr lang="en-US" sz="2400" dirty="0">
                <a:solidFill>
                  <a:srgbClr val="FFFFFF"/>
                </a:solidFill>
              </a:rPr>
              <a:t>No clear user → name the person who will act on it</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More pitfalls and how to avoid them</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Scope creep → log changes and re-agree on the timeline</a:t>
            </a:r>
            <a:endParaRPr lang="en-US" sz="2400" dirty="0"/>
          </a:p>
          <a:p>
            <a:pPr algn="l" marL="342900" indent="-342900">
              <a:spcAft>
                <a:spcPts val="1000"/>
              </a:spcAft>
              <a:buSzPct val="100000"/>
              <a:buChar char="•"/>
            </a:pPr>
            <a:r>
              <a:rPr lang="en-US" sz="2400" dirty="0">
                <a:solidFill>
                  <a:srgbClr val="FFFFFF"/>
                </a:solidFill>
              </a:rPr>
              <a:t>QA skipped under deadline → schedule QA as its own phase</a:t>
            </a:r>
            <a:endParaRPr lang="en-US" sz="2400" dirty="0"/>
          </a:p>
          <a:p>
            <a:pPr algn="l" marL="342900" indent="-342900">
              <a:spcAft>
                <a:spcPts val="1000"/>
              </a:spcAft>
              <a:buSzPct val="100000"/>
              <a:buChar char="•"/>
            </a:pPr>
            <a:r>
              <a:rPr lang="en-US" sz="2400" dirty="0">
                <a:solidFill>
                  <a:srgbClr val="FFFFFF"/>
                </a:solidFill>
              </a:rPr>
              <a:t>Scripts no one can rerun → document and parameterize</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Discussion</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Think of a data request you've made or received. How would you restate it as a decision, and who would act on the answer?</a:t>
            </a:r>
            <a:endParaRPr lang="en-US" sz="2400" dirty="0"/>
          </a:p>
          <a:p>
            <a:pPr algn="l" marL="342900" indent="-342900">
              <a:spcAft>
                <a:spcPts val="1000"/>
              </a:spcAft>
              <a:buSzPct val="100000"/>
              <a:buChar char="•"/>
            </a:pPr>
            <a:r>
              <a:rPr lang="en-US" sz="2400" dirty="0">
                <a:solidFill>
                  <a:srgbClr val="FFFFFF"/>
                </a:solidFill>
              </a:rPr>
              <a:t>Draw on your own experience and career, and apply today's seminar to that setting.</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Components of a Data Analytics Project</dc:title>
  <dc:subject>Week 2 Management Seminar</dc:subject>
  <dc:creator>Health-Data-Analytics</dc:creator>
  <cp:lastModifiedBy>Health-Data-Analytics</cp:lastModifiedBy>
  <cp:revision>1</cp:revision>
  <dcterms:created xsi:type="dcterms:W3CDTF">2026-10-13T20:23:19Z</dcterms:created>
  <dcterms:modified xsi:type="dcterms:W3CDTF">2026-10-13T20:23:19Z</dcterms:modified>
</cp:coreProperties>
</file>