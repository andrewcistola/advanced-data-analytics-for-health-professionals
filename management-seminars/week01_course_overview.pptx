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 Course Overview. We will go through what the course covers, the four seminar types, how the labs work, and the course arc.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picks up where an introductory analytics course leaves off (spreadsheets, statistical testing, visualization). By the end, students should be able to query relational databases with industry-standard tools, use machine learning to find insights, design and run an analytics project, and evaluate AI-generated outputs.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week combines four strands. The management seminar covers project skills: stakeholders, requirements, quality assurance, deliverables and communication. The AI seminar covers how generative AI works and when to trust it. The domain seminar explains the business setting and policy. The technical seminar teaches the SQL or machine learning skill the lab uses.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follows the same rhythm: read the question, query or model, check the AI's work, and write for a stakeholder. Labs take about 60 to 75 minutes and have three to five tasks. The written answer matters as much as the code, because in practice the analysis only counts if a decision maker can use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phase builds SQL skills on claims, denials and prior authorization. The second covers attribution, quality measures and provider performance. The third introduces machine learning: coding gaps, program evaluation, random forests, neural networks and clustering. The final week links several models into one intervention decision with an estimated return.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install the tools in the first week; a setup checker confirms everything works. The data warehouse looks like what a health plan and a regional hospital system would hold: members and coverage, medical and pharmacy claims, prior authorizations, care management, a hospital payment ledger, providers and area-level measures. It is fully synthetic but has realistic messiness: churn, denials, small denominators and selection bias.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Course Overview</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What this course covers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Relational databases, SQL and machine learning</a:t>
            </a:r>
            <a:endParaRPr lang="en-US" sz="2400" dirty="0"/>
          </a:p>
          <a:p>
            <a:pPr algn="l" marL="342900" indent="-342900">
              <a:spcAft>
                <a:spcPts val="1000"/>
              </a:spcAft>
              <a:buSzPct val="100000"/>
              <a:buChar char="•"/>
            </a:pPr>
            <a:r>
              <a:rPr lang="en-US" sz="2400" dirty="0">
                <a:solidFill>
                  <a:srgbClr val="FFFFFF"/>
                </a:solidFill>
              </a:rPr>
              <a:t>Applied to revenue cycle, value-based payment, population health</a:t>
            </a:r>
            <a:endParaRPr lang="en-US" sz="2400" dirty="0"/>
          </a:p>
          <a:p>
            <a:pPr algn="l" marL="342900" indent="-342900">
              <a:spcAft>
                <a:spcPts val="1000"/>
              </a:spcAft>
              <a:buSzPct val="100000"/>
              <a:buChar char="•"/>
            </a:pPr>
            <a:r>
              <a:rPr lang="en-US" sz="2400" dirty="0">
                <a:solidFill>
                  <a:srgbClr val="FFFFFF"/>
                </a:solidFill>
              </a:rPr>
              <a:t>Leading analytics projects from question to deliverable</a:t>
            </a:r>
            <a:endParaRPr lang="en-US" sz="2400" dirty="0"/>
          </a:p>
          <a:p>
            <a:pPr algn="l" marL="342900" indent="-342900">
              <a:spcAft>
                <a:spcPts val="1000"/>
              </a:spcAft>
              <a:buSzPct val="100000"/>
              <a:buChar char="•"/>
            </a:pPr>
            <a:r>
              <a:rPr lang="en-US" sz="2400" dirty="0">
                <a:solidFill>
                  <a:srgbClr val="FFFFFF"/>
                </a:solidFill>
              </a:rPr>
              <a:t>Using generative AI effectively and responsibly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Four seminar types each week</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Management seminar: running analytics projects</a:t>
            </a:r>
            <a:endParaRPr lang="en-US" sz="2400" dirty="0"/>
          </a:p>
          <a:p>
            <a:pPr algn="l" marL="342900" indent="-342900">
              <a:spcAft>
                <a:spcPts val="1000"/>
              </a:spcAft>
              <a:buSzPct val="100000"/>
              <a:buChar char="•"/>
            </a:pPr>
            <a:r>
              <a:rPr lang="en-US" sz="2400" dirty="0">
                <a:solidFill>
                  <a:srgbClr val="FFFFFF"/>
                </a:solidFill>
              </a:rPr>
              <a:t>AI seminar: using generative AI and checking its work</a:t>
            </a:r>
            <a:endParaRPr lang="en-US" sz="2400" dirty="0"/>
          </a:p>
          <a:p>
            <a:pPr algn="l" marL="342900" indent="-342900">
              <a:spcAft>
                <a:spcPts val="1000"/>
              </a:spcAft>
              <a:buSzPct val="100000"/>
              <a:buChar char="•"/>
            </a:pPr>
            <a:r>
              <a:rPr lang="en-US" sz="2400" dirty="0">
                <a:solidFill>
                  <a:srgbClr val="FFFFFF"/>
                </a:solidFill>
              </a:rPr>
              <a:t>Domain seminar: the healthcare administration context</a:t>
            </a:r>
            <a:endParaRPr lang="en-US" sz="2400" dirty="0"/>
          </a:p>
          <a:p>
            <a:pPr algn="l" marL="342900" indent="-342900">
              <a:spcAft>
                <a:spcPts val="1000"/>
              </a:spcAft>
              <a:buSzPct val="100000"/>
              <a:buChar char="•"/>
            </a:pPr>
            <a:r>
              <a:rPr lang="en-US" sz="2400" dirty="0">
                <a:solidFill>
                  <a:srgbClr val="FFFFFF"/>
                </a:solidFill>
              </a:rPr>
              <a:t>Technical seminar: the skill that week's lab needs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Labs: where the strands meet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One business question each week</a:t>
            </a:r>
            <a:endParaRPr lang="en-US" sz="2400" dirty="0"/>
          </a:p>
          <a:p>
            <a:pPr algn="l" marL="342900" indent="-342900">
              <a:spcAft>
                <a:spcPts val="1000"/>
              </a:spcAft>
              <a:buSzPct val="100000"/>
              <a:buChar char="•"/>
            </a:pPr>
            <a:r>
              <a:rPr lang="en-US" sz="2400" dirty="0">
                <a:solidFill>
                  <a:srgbClr val="FFFFFF"/>
                </a:solidFill>
              </a:rPr>
              <a:t>One realistic synthetic dataset all term</a:t>
            </a:r>
            <a:endParaRPr lang="en-US" sz="2400" dirty="0"/>
          </a:p>
          <a:p>
            <a:pPr algn="l" marL="342900" indent="-342900">
              <a:spcAft>
                <a:spcPts val="1000"/>
              </a:spcAft>
              <a:buSzPct val="100000"/>
              <a:buChar char="•"/>
            </a:pPr>
            <a:r>
              <a:rPr lang="en-US" sz="2400" dirty="0">
                <a:solidFill>
                  <a:srgbClr val="FFFFFF"/>
                </a:solidFill>
              </a:rPr>
              <a:t>Every lab has an AI step: use a tool, then check it</a:t>
            </a:r>
            <a:endParaRPr lang="en-US" sz="2400" dirty="0"/>
          </a:p>
          <a:p>
            <a:pPr algn="l" marL="342900" indent="-342900">
              <a:spcAft>
                <a:spcPts val="1000"/>
              </a:spcAft>
              <a:buSzPct val="100000"/>
              <a:buChar char="•"/>
            </a:pPr>
            <a:r>
              <a:rPr lang="en-US" sz="2400" dirty="0">
                <a:solidFill>
                  <a:srgbClr val="FFFFFF"/>
                </a:solidFill>
              </a:rPr>
              <a:t>Every lab ends with a written answer for a stakeholder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Course arc</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Weeks 1–4: SQL and the revenue cycle</a:t>
            </a:r>
            <a:endParaRPr lang="en-US" sz="2400" dirty="0"/>
          </a:p>
          <a:p>
            <a:pPr algn="l" marL="342900" indent="-342900">
              <a:spcAft>
                <a:spcPts val="1000"/>
              </a:spcAft>
              <a:buSzPct val="100000"/>
              <a:buChar char="•"/>
            </a:pPr>
            <a:r>
              <a:rPr lang="en-US" sz="2400" dirty="0">
                <a:solidFill>
                  <a:srgbClr val="FFFFFF"/>
                </a:solidFill>
              </a:rPr>
              <a:t>Weeks 5–7: Value-based payment and quality</a:t>
            </a:r>
            <a:endParaRPr lang="en-US" sz="2400" dirty="0"/>
          </a:p>
          <a:p>
            <a:pPr algn="l" marL="342900" indent="-342900">
              <a:spcAft>
                <a:spcPts val="1000"/>
              </a:spcAft>
              <a:buSzPct val="100000"/>
              <a:buChar char="•"/>
            </a:pPr>
            <a:r>
              <a:rPr lang="en-US" sz="2400" dirty="0">
                <a:solidFill>
                  <a:srgbClr val="FFFFFF"/>
                </a:solidFill>
              </a:rPr>
              <a:t>Weeks 8–12: Machine learning for population health</a:t>
            </a:r>
            <a:endParaRPr lang="en-US" sz="2400" dirty="0"/>
          </a:p>
          <a:p>
            <a:pPr algn="l" marL="342900" indent="-342900">
              <a:spcAft>
                <a:spcPts val="1000"/>
              </a:spcAft>
              <a:buSzPct val="100000"/>
              <a:buChar char="•"/>
            </a:pPr>
            <a:r>
              <a:rPr lang="en-US" sz="2400" dirty="0">
                <a:solidFill>
                  <a:srgbClr val="FFFFFF"/>
                </a:solidFill>
              </a:rPr>
              <a:t>Week 13: Putting it together in one decision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Tools and data</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DuckDB database, DBeaver for SQL, JupyterLab for Python</a:t>
            </a:r>
            <a:endParaRPr lang="en-US" sz="2400" dirty="0"/>
          </a:p>
          <a:p>
            <a:pPr algn="l" marL="342900" indent="-342900">
              <a:spcAft>
                <a:spcPts val="1000"/>
              </a:spcAft>
              <a:buSzPct val="100000"/>
              <a:buChar char="•"/>
            </a:pPr>
            <a:r>
              <a:rPr lang="en-US" sz="2400" dirty="0">
                <a:solidFill>
                  <a:srgbClr val="FFFFFF"/>
                </a:solidFill>
              </a:rPr>
              <a:t>All free and open source</a:t>
            </a:r>
            <a:endParaRPr lang="en-US" sz="2400" dirty="0"/>
          </a:p>
          <a:p>
            <a:pPr algn="l" marL="342900" indent="-342900">
              <a:spcAft>
                <a:spcPts val="1000"/>
              </a:spcAft>
              <a:buSzPct val="100000"/>
              <a:buChar char="•"/>
            </a:pPr>
            <a:r>
              <a:rPr lang="en-US" sz="2400" dirty="0">
                <a:solidFill>
                  <a:srgbClr val="FFFFFF"/>
                </a:solidFill>
              </a:rPr>
              <a:t>Synthetic health plan and hospital data, 2021–2025</a:t>
            </a:r>
            <a:endParaRPr lang="en-US" sz="2400" dirty="0"/>
          </a:p>
          <a:p>
            <a:pPr algn="l" marL="342900" indent="-342900">
              <a:spcAft>
                <a:spcPts val="1000"/>
              </a:spcAft>
              <a:buSzPct val="100000"/>
              <a:buChar char="•"/>
            </a:pPr>
            <a:r>
              <a:rPr lang="en-US" sz="2400" dirty="0">
                <a:solidFill>
                  <a:srgbClr val="FFFFFF"/>
                </a:solidFill>
              </a:rPr>
              <a:t>No real patients, providers or plans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What decision at work would have gone better with stronger data, and what do you want to be able to do by the end of this course?</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Course Overview</dc:title>
  <dc:subject>Week 1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