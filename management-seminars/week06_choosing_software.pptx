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seminar for week 6: Choosing Analytical Software. We will go through basics and terminology, best practices for data analytics, and common pitfalls and how to avoid them.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Examples: databases and warehouses (DuckDB, PostgreSQL, SQL Server, Snowflake, Databricks), SQL clients (DBeaver), BI tools (Tableau, Power BI), languages (SQL, Python, R, SAS), notebooks (JupyterLab). Total cost of ownership includes licenses, hosting, support, training and the staff time to maintain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vendor that stores or processes protected health information needs a business associate agreement (BAA). A tool few people know is costly to staff. A pilot on your own messy data reveals more than any vendor demo.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in open formats (Parquet, CSV, standard SQL) can move between tools. Audit logs show who accessed what, which compliance teams require. A new tool succeeds only if people actually switch to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Demos use clean data and ideal workflows. Hidden costs include compute charges in usage-based cloud pricing, add-on modules and consultants. Many organizations run several overlapping BI tools, which splits skills and multiplies versions of the truth.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reviews late in a purchase can stall it for months. Lock-in raises prices at renewal; exportable data keeps options open. Adoption depends on training time being protected, not squeezed around daily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6: Choosing Analytical Software</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6 Management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the analytics software landscape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Databases and warehouses, SQL clients, BI tools</a:t>
            </a:r>
            <a:endParaRPr lang="en-US" sz="2400" dirty="0"/>
          </a:p>
          <a:p>
            <a:pPr algn="l" marL="342900" indent="-342900">
              <a:spcAft>
                <a:spcPts val="1000"/>
              </a:spcAft>
              <a:buSzPct val="100000"/>
              <a:buChar char="•"/>
            </a:pPr>
            <a:r>
              <a:rPr lang="en-US" sz="2400" dirty="0">
                <a:solidFill>
                  <a:srgbClr val="FFFFFF"/>
                </a:solidFill>
              </a:rPr>
              <a:t>Statistical languages, ML libraries, notebooks</a:t>
            </a:r>
            <a:endParaRPr lang="en-US" sz="2400" dirty="0"/>
          </a:p>
          <a:p>
            <a:pPr algn="l" marL="342900" indent="-342900">
              <a:spcAft>
                <a:spcPts val="1000"/>
              </a:spcAft>
              <a:buSzPct val="100000"/>
              <a:buChar char="•"/>
            </a:pPr>
            <a:r>
              <a:rPr lang="en-US" sz="2400" dirty="0">
                <a:solidFill>
                  <a:srgbClr val="FFFFFF"/>
                </a:solidFill>
              </a:rPr>
              <a:t>Open source vs. commercial; cloud vs. on-premises</a:t>
            </a:r>
            <a:endParaRPr lang="en-US" sz="2400" dirty="0"/>
          </a:p>
          <a:p>
            <a:pPr algn="l" marL="342900" indent="-342900">
              <a:spcAft>
                <a:spcPts val="1000"/>
              </a:spcAft>
              <a:buSzPct val="100000"/>
              <a:buChar char="•"/>
            </a:pPr>
            <a:r>
              <a:rPr lang="en-US" sz="2400" dirty="0">
                <a:solidFill>
                  <a:srgbClr val="FFFFFF"/>
                </a:solidFill>
              </a:rPr>
              <a:t>Total cost of ownership: license, infrastructure, people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start from requirements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List use cases and users before looking at tools</a:t>
            </a:r>
            <a:endParaRPr lang="en-US" sz="2400" dirty="0"/>
          </a:p>
          <a:p>
            <a:pPr algn="l" marL="342900" indent="-342900">
              <a:spcAft>
                <a:spcPts val="1000"/>
              </a:spcAft>
              <a:buSzPct val="100000"/>
              <a:buChar char="•"/>
            </a:pPr>
            <a:r>
              <a:rPr lang="en-US" sz="2400" dirty="0">
                <a:solidFill>
                  <a:srgbClr val="FFFFFF"/>
                </a:solidFill>
              </a:rPr>
              <a:t>Check security and HIPAA needs, including BAAs</a:t>
            </a:r>
            <a:endParaRPr lang="en-US" sz="2400" dirty="0"/>
          </a:p>
          <a:p>
            <a:pPr algn="l" marL="342900" indent="-342900">
              <a:spcAft>
                <a:spcPts val="1000"/>
              </a:spcAft>
              <a:buSzPct val="100000"/>
              <a:buChar char="•"/>
            </a:pPr>
            <a:r>
              <a:rPr lang="en-US" sz="2400" dirty="0">
                <a:solidFill>
                  <a:srgbClr val="FFFFFF"/>
                </a:solidFill>
              </a:rPr>
              <a:t>Match tools to team skills and the hiring market</a:t>
            </a:r>
            <a:endParaRPr lang="en-US" sz="2400" dirty="0"/>
          </a:p>
          <a:p>
            <a:pPr algn="l" marL="342900" indent="-342900">
              <a:spcAft>
                <a:spcPts val="1000"/>
              </a:spcAft>
              <a:buSzPct val="100000"/>
              <a:buChar char="•"/>
            </a:pPr>
            <a:r>
              <a:rPr lang="en-US" sz="2400" dirty="0">
                <a:solidFill>
                  <a:srgbClr val="FFFFFF"/>
                </a:solidFill>
              </a:rPr>
              <a:t>Pilot with real data before committing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think long term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Favor open formats and standard SQL</a:t>
            </a:r>
            <a:endParaRPr lang="en-US" sz="2400" dirty="0"/>
          </a:p>
          <a:p>
            <a:pPr algn="l" marL="342900" indent="-342900">
              <a:spcAft>
                <a:spcPts val="1000"/>
              </a:spcAft>
              <a:buSzPct val="100000"/>
              <a:buChar char="•"/>
            </a:pPr>
            <a:r>
              <a:rPr lang="en-US" sz="2400" dirty="0">
                <a:solidFill>
                  <a:srgbClr val="FFFFFF"/>
                </a:solidFill>
              </a:rPr>
              <a:t>Check vendor viability and support</a:t>
            </a:r>
            <a:endParaRPr lang="en-US" sz="2400" dirty="0"/>
          </a:p>
          <a:p>
            <a:pPr algn="l" marL="342900" indent="-342900">
              <a:spcAft>
                <a:spcPts val="1000"/>
              </a:spcAft>
              <a:buSzPct val="100000"/>
              <a:buChar char="•"/>
            </a:pPr>
            <a:r>
              <a:rPr lang="en-US" sz="2400" dirty="0">
                <a:solidFill>
                  <a:srgbClr val="FFFFFF"/>
                </a:solidFill>
              </a:rPr>
              <a:t>Governance: access control and audit logs</a:t>
            </a:r>
            <a:endParaRPr lang="en-US" sz="2400" dirty="0"/>
          </a:p>
          <a:p>
            <a:pPr algn="l" marL="342900" indent="-342900">
              <a:spcAft>
                <a:spcPts val="1000"/>
              </a:spcAft>
              <a:buSzPct val="100000"/>
              <a:buChar char="•"/>
            </a:pPr>
            <a:r>
              <a:rPr lang="en-US" sz="2400" dirty="0">
                <a:solidFill>
                  <a:srgbClr val="FFFFFF"/>
                </a:solidFill>
              </a:rPr>
              <a:t>Plan training and change management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Common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Choosing by demo → pilot with your own workflows</a:t>
            </a:r>
            <a:endParaRPr lang="en-US" sz="2400" dirty="0"/>
          </a:p>
          <a:p>
            <a:pPr algn="l" marL="342900" indent="-342900">
              <a:spcAft>
                <a:spcPts val="1000"/>
              </a:spcAft>
              <a:buSzPct val="100000"/>
              <a:buChar char="•"/>
            </a:pPr>
            <a:r>
              <a:rPr lang="en-US" sz="2400" dirty="0">
                <a:solidFill>
                  <a:srgbClr val="FFFFFF"/>
                </a:solidFill>
              </a:rPr>
              <a:t>Hidden costs → estimate TCO over three to five years</a:t>
            </a:r>
            <a:endParaRPr lang="en-US" sz="2400" dirty="0"/>
          </a:p>
          <a:p>
            <a:pPr algn="l" marL="342900" indent="-342900">
              <a:spcAft>
                <a:spcPts val="1000"/>
              </a:spcAft>
              <a:buSzPct val="100000"/>
              <a:buChar char="•"/>
            </a:pPr>
            <a:r>
              <a:rPr lang="en-US" sz="2400" dirty="0">
                <a:solidFill>
                  <a:srgbClr val="FFFFFF"/>
                </a:solidFill>
              </a:rPr>
              <a:t>Tool sprawl → set standards and retire duplicates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More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Ignoring compliance → involve security and privacy early</a:t>
            </a:r>
            <a:endParaRPr lang="en-US" sz="2400" dirty="0"/>
          </a:p>
          <a:p>
            <a:pPr algn="l" marL="342900" indent="-342900">
              <a:spcAft>
                <a:spcPts val="1000"/>
              </a:spcAft>
              <a:buSzPct val="100000"/>
              <a:buChar char="•"/>
            </a:pPr>
            <a:r>
              <a:rPr lang="en-US" sz="2400" dirty="0">
                <a:solidFill>
                  <a:srgbClr val="FFFFFF"/>
                </a:solidFill>
              </a:rPr>
              <a:t>Vendor lock-in → keep data exportable</a:t>
            </a:r>
            <a:endParaRPr lang="en-US" sz="2400" dirty="0"/>
          </a:p>
          <a:p>
            <a:pPr algn="l" marL="342900" indent="-342900">
              <a:spcAft>
                <a:spcPts val="1000"/>
              </a:spcAft>
              <a:buSzPct val="100000"/>
              <a:buChar char="•"/>
            </a:pPr>
            <a:r>
              <a:rPr lang="en-US" sz="2400" dirty="0">
                <a:solidFill>
                  <a:srgbClr val="FFFFFF"/>
                </a:solidFill>
              </a:rPr>
              <a:t>Underestimating training → budget time to learn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If your team had to choose a new analytics tool next quarter, what three requirements would you insist on, and why?</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Choosing Analytical Software</dc:title>
  <dc:subject>Week 6 Management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