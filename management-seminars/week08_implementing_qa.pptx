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8: Implementing and Documenting Quality Assurance.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QA plan turns good intentions into routine steps. Automated tests check the same things every run (row counts, totals, nulls in key fields); manual review catches logic and interpretation problems. Data lineage traces each output back to its source tables.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might include: totals reconciled, row counts checked after joins, definitions match the spec, a second person reviewed code, charts match tables. Recording who reviewed what creates accountability and an audit trail, which payers and regulators may ask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documentation for a capable analyst who has never seen the project. When a stakeholder asks why last year's number differs, versioned outputs tied to code versions make the answer quick.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it isn't written down, it can't be shown to an auditor or a new team member. A test should be checked against data that ought to fail it. Documentation written months later loses the reasons behind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Wrong documentation is worse than none. Templates keep documents short and consistent. Every recurring output needs a named owner and a 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8: Implementing and Documenting Quality Assurance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QA in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plan: what is checked, by whom, and when</a:t>
            </a:r>
            <a:endParaRPr lang="en-US" sz="2400" dirty="0"/>
          </a:p>
          <a:p>
            <a:pPr algn="l" marL="342900" indent="-342900">
              <a:spcAft>
                <a:spcPts val="1000"/>
              </a:spcAft>
              <a:buSzPct val="100000"/>
              <a:buChar char="•"/>
            </a:pPr>
            <a:r>
              <a:rPr lang="en-US" sz="2400" dirty="0">
                <a:solidFill>
                  <a:srgbClr val="FFFFFF"/>
                </a:solidFill>
              </a:rPr>
              <a:t>Checklists, test cases and review logs</a:t>
            </a:r>
            <a:endParaRPr lang="en-US" sz="2400" dirty="0"/>
          </a:p>
          <a:p>
            <a:pPr algn="l" marL="342900" indent="-342900">
              <a:spcAft>
                <a:spcPts val="1000"/>
              </a:spcAft>
              <a:buSzPct val="100000"/>
              <a:buChar char="•"/>
            </a:pPr>
            <a:r>
              <a:rPr lang="en-US" sz="2400" dirty="0">
                <a:solidFill>
                  <a:srgbClr val="FFFFFF"/>
                </a:solidFill>
              </a:rPr>
              <a:t>Automated tests vs. manual review</a:t>
            </a:r>
            <a:endParaRPr lang="en-US" sz="2400" dirty="0"/>
          </a:p>
          <a:p>
            <a:pPr algn="l" marL="342900" indent="-342900">
              <a:spcAft>
                <a:spcPts val="1000"/>
              </a:spcAft>
              <a:buSzPct val="100000"/>
              <a:buChar char="•"/>
            </a:pPr>
            <a:r>
              <a:rPr lang="en-US" sz="2400" dirty="0">
                <a:solidFill>
                  <a:srgbClr val="FFFFFF"/>
                </a:solidFill>
              </a:rPr>
              <a:t>Documentation: methods, assumptions, data lineage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make QA routine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 standard QA checklist for every deliverable</a:t>
            </a:r>
            <a:endParaRPr lang="en-US" sz="2400" dirty="0"/>
          </a:p>
          <a:p>
            <a:pPr algn="l" marL="342900" indent="-342900">
              <a:spcAft>
                <a:spcPts val="1000"/>
              </a:spcAft>
              <a:buSzPct val="100000"/>
              <a:buChar char="•"/>
            </a:pPr>
            <a:r>
              <a:rPr lang="en-US" sz="2400" dirty="0">
                <a:solidFill>
                  <a:srgbClr val="FFFFFF"/>
                </a:solidFill>
              </a:rPr>
              <a:t>Tests that run every time data refreshes</a:t>
            </a:r>
            <a:endParaRPr lang="en-US" sz="2400" dirty="0"/>
          </a:p>
          <a:p>
            <a:pPr algn="l" marL="342900" indent="-342900">
              <a:spcAft>
                <a:spcPts val="1000"/>
              </a:spcAft>
              <a:buSzPct val="100000"/>
              <a:buChar char="•"/>
            </a:pPr>
            <a:r>
              <a:rPr lang="en-US" sz="2400" dirty="0">
                <a:solidFill>
                  <a:srgbClr val="FFFFFF"/>
                </a:solidFill>
              </a:rPr>
              <a:t>Record reviewer, date and findings</a:t>
            </a:r>
            <a:endParaRPr lang="en-US" sz="2400" dirty="0"/>
          </a:p>
          <a:p>
            <a:pPr algn="l" marL="342900" indent="-342900">
              <a:spcAft>
                <a:spcPts val="1000"/>
              </a:spcAft>
              <a:buSzPct val="100000"/>
              <a:buChar char="•"/>
            </a:pPr>
            <a:r>
              <a:rPr lang="en-US" sz="2400" dirty="0">
                <a:solidFill>
                  <a:srgbClr val="FFFFFF"/>
                </a:solidFill>
              </a:rPr>
              <a:t>Sign-off before release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document for the next person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README: purpose, inputs, steps to rerun</a:t>
            </a:r>
            <a:endParaRPr lang="en-US" sz="2400" dirty="0"/>
          </a:p>
          <a:p>
            <a:pPr algn="l" marL="342900" indent="-342900">
              <a:spcAft>
                <a:spcPts val="1000"/>
              </a:spcAft>
              <a:buSzPct val="100000"/>
              <a:buChar char="•"/>
            </a:pPr>
            <a:r>
              <a:rPr lang="en-US" sz="2400" dirty="0">
                <a:solidFill>
                  <a:srgbClr val="FFFFFF"/>
                </a:solidFill>
              </a:rPr>
              <a:t>Data dictionary and metric definitions</a:t>
            </a:r>
            <a:endParaRPr lang="en-US" sz="2400" dirty="0"/>
          </a:p>
          <a:p>
            <a:pPr algn="l" marL="342900" indent="-342900">
              <a:spcAft>
                <a:spcPts val="1000"/>
              </a:spcAft>
              <a:buSzPct val="100000"/>
              <a:buChar char="•"/>
            </a:pPr>
            <a:r>
              <a:rPr lang="en-US" sz="2400" dirty="0">
                <a:solidFill>
                  <a:srgbClr val="FFFFFF"/>
                </a:solidFill>
              </a:rPr>
              <a:t>Log of assumptions and decisions</a:t>
            </a:r>
            <a:endParaRPr lang="en-US" sz="2400" dirty="0"/>
          </a:p>
          <a:p>
            <a:pPr algn="l" marL="342900" indent="-342900">
              <a:spcAft>
                <a:spcPts val="1000"/>
              </a:spcAft>
              <a:buSzPct val="100000"/>
              <a:buChar char="•"/>
            </a:pPr>
            <a:r>
              <a:rPr lang="en-US" sz="2400" dirty="0">
                <a:solidFill>
                  <a:srgbClr val="FFFFFF"/>
                </a:solidFill>
              </a:rPr>
              <a:t>Version outputs and tie them to code versions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QA done but not recorded → keep a review log</a:t>
            </a:r>
            <a:endParaRPr lang="en-US" sz="2400" dirty="0"/>
          </a:p>
          <a:p>
            <a:pPr algn="l" marL="342900" indent="-342900">
              <a:spcAft>
                <a:spcPts val="1000"/>
              </a:spcAft>
              <a:buSzPct val="100000"/>
              <a:buChar char="•"/>
            </a:pPr>
            <a:r>
              <a:rPr lang="en-US" sz="2400" dirty="0">
                <a:solidFill>
                  <a:srgbClr val="FFFFFF"/>
                </a:solidFill>
              </a:rPr>
              <a:t>Tests that never fail → include known-bad cases</a:t>
            </a:r>
            <a:endParaRPr lang="en-US" sz="2400" dirty="0"/>
          </a:p>
          <a:p>
            <a:pPr algn="l" marL="342900" indent="-342900">
              <a:spcAft>
                <a:spcPts val="1000"/>
              </a:spcAft>
              <a:buSzPct val="100000"/>
              <a:buChar char="•"/>
            </a:pPr>
            <a:r>
              <a:rPr lang="en-US" sz="2400" dirty="0">
                <a:solidFill>
                  <a:srgbClr val="FFFFFF"/>
                </a:solidFill>
              </a:rPr>
              <a:t>Docs written at the end → document as you go</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Outdated docs → update them in the same change as code</a:t>
            </a:r>
            <a:endParaRPr lang="en-US" sz="2400" dirty="0"/>
          </a:p>
          <a:p>
            <a:pPr algn="l" marL="342900" indent="-342900">
              <a:spcAft>
                <a:spcPts val="1000"/>
              </a:spcAft>
              <a:buSzPct val="100000"/>
              <a:buChar char="•"/>
            </a:pPr>
            <a:r>
              <a:rPr lang="en-US" sz="2400" dirty="0">
                <a:solidFill>
                  <a:srgbClr val="FFFFFF"/>
                </a:solidFill>
              </a:rPr>
              <a:t>Over-long documentation → short, structured templates</a:t>
            </a:r>
            <a:endParaRPr lang="en-US" sz="2400" dirty="0"/>
          </a:p>
          <a:p>
            <a:pPr algn="l" marL="342900" indent="-342900">
              <a:spcAft>
                <a:spcPts val="1000"/>
              </a:spcAft>
              <a:buSzPct val="100000"/>
              <a:buChar char="•"/>
            </a:pPr>
            <a:r>
              <a:rPr lang="en-US" sz="2400" dirty="0">
                <a:solidFill>
                  <a:srgbClr val="FFFFFF"/>
                </a:solidFill>
              </a:rPr>
              <a:t>No owner after handoff → name a maintainer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What one QA step or piece of documentation would make your team's most important recurring report more trustworthy?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and Documenting Quality Assurance</dc:title>
  <dc:subject>Week 8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