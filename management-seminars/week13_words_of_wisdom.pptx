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6.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13: Analytics Words of Wisdom. We will go through four pieces of advice that come up again and again among experienced analytics practitioners. Ask students which one they found hardest to follow this term.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Projects that begin with "let's see what the data says" tend to wander. Projects that begin with "should we expand this program?" know what to measure and when to stop. Before running anything, ask what the organization will do if the answer is yes, if it is no, and if it is unclear. A simple count or rate answers many business questions better than a complex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analysis that is never acted on has no value to the organization. Leaders are busy and switch between many topics; the analyst's job is to make the meaning and the next step easy to see. Tailor depth to the audience, put the conclusion first, and end with a specific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healthcare, many analytics problems trace back to registration, coding, billing and EHR workflows. Cleaning the same issue downstream every month is slower than fixing it at the source, so build relationships with those teams and agree on definitions. Improving input data usually helps more than switching to a more sophisticated model. Stakeholders trust numbers that are reliable month after month.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tools appear every year, including AI assistants, but most day-to-day analytics still runs on querying, joining, summarizing and explaining data. Practicing on real questions builds judgment that tutorials don't. Sharing work, inside the organization or publicly, invites feedback and speeds learning. The habit of asking why a number looks the way it does outlasts any specific tool.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13: Analytics Words of Wisdom</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13 Management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Start with the decision, not the data</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Name the decision and who will make it</a:t>
            </a:r>
            <a:endParaRPr lang="en-US" sz="2400" dirty="0"/>
          </a:p>
          <a:p>
            <a:pPr algn="l" marL="342900" indent="-342900">
              <a:spcAft>
                <a:spcPts val="1000"/>
              </a:spcAft>
              <a:buSzPct val="100000"/>
              <a:buChar char="•"/>
            </a:pPr>
            <a:r>
              <a:rPr lang="en-US" sz="2400" dirty="0">
                <a:solidFill>
                  <a:srgbClr val="FFFFFF"/>
                </a:solidFill>
              </a:rPr>
              <a:t>Know what result would change the plan</a:t>
            </a:r>
            <a:endParaRPr lang="en-US" sz="2400" dirty="0"/>
          </a:p>
          <a:p>
            <a:pPr algn="l" marL="342900" indent="-342900">
              <a:spcAft>
                <a:spcPts val="1000"/>
              </a:spcAft>
              <a:buSzPct val="100000"/>
              <a:buChar char="•"/>
            </a:pPr>
            <a:r>
              <a:rPr lang="en-US" sz="2400" dirty="0">
                <a:solidFill>
                  <a:srgbClr val="FFFFFF"/>
                </a:solidFill>
              </a:rPr>
              <a:t>Exploring data is fine; just call it exploring</a:t>
            </a:r>
            <a:endParaRPr lang="en-US" sz="2400" dirty="0"/>
          </a:p>
          <a:p>
            <a:pPr algn="l" marL="342900" indent="-342900">
              <a:spcAft>
                <a:spcPts val="1000"/>
              </a:spcAft>
              <a:buSzPct val="100000"/>
              <a:buChar char="•"/>
            </a:pPr>
            <a:r>
              <a:rPr lang="en-US" sz="2400" dirty="0">
                <a:solidFill>
                  <a:srgbClr val="FFFFFF"/>
                </a:solidFill>
              </a:rPr>
              <a:t>Not every question needs a model</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 insight only matters if it drives action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Know your audience and what they care about</a:t>
            </a:r>
            <a:endParaRPr lang="en-US" sz="2400" dirty="0"/>
          </a:p>
          <a:p>
            <a:pPr algn="l" marL="342900" indent="-342900">
              <a:spcAft>
                <a:spcPts val="1000"/>
              </a:spcAft>
              <a:buSzPct val="100000"/>
              <a:buChar char="•"/>
            </a:pPr>
            <a:r>
              <a:rPr lang="en-US" sz="2400" dirty="0">
                <a:solidFill>
                  <a:srgbClr val="FFFFFF"/>
                </a:solidFill>
              </a:rPr>
              <a:t>Lead with the "so what"</a:t>
            </a:r>
            <a:endParaRPr lang="en-US" sz="2400" dirty="0"/>
          </a:p>
          <a:p>
            <a:pPr algn="l" marL="342900" indent="-342900">
              <a:spcAft>
                <a:spcPts val="1000"/>
              </a:spcAft>
              <a:buSzPct val="100000"/>
              <a:buChar char="•"/>
            </a:pPr>
            <a:r>
              <a:rPr lang="en-US" sz="2400" dirty="0">
                <a:solidFill>
                  <a:srgbClr val="FFFFFF"/>
                </a:solidFill>
              </a:rPr>
              <a:t>One clear message beats ten charts</a:t>
            </a:r>
            <a:endParaRPr lang="en-US" sz="2400" dirty="0"/>
          </a:p>
          <a:p>
            <a:pPr algn="l" marL="342900" indent="-342900">
              <a:spcAft>
                <a:spcPts val="1000"/>
              </a:spcAft>
              <a:buSzPct val="100000"/>
              <a:buChar char="•"/>
            </a:pPr>
            <a:r>
              <a:rPr lang="en-US" sz="2400" dirty="0">
                <a:solidFill>
                  <a:srgbClr val="FFFFFF"/>
                </a:solidFill>
              </a:rPr>
              <a:t>Make the next step obvious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Quality starts upstream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Most data problems start where data is created</a:t>
            </a:r>
            <a:endParaRPr lang="en-US" sz="2400" dirty="0"/>
          </a:p>
          <a:p>
            <a:pPr algn="l" marL="342900" indent="-342900">
              <a:spcAft>
                <a:spcPts val="1000"/>
              </a:spcAft>
              <a:buSzPct val="100000"/>
              <a:buChar char="•"/>
            </a:pPr>
            <a:r>
              <a:rPr lang="en-US" sz="2400" dirty="0">
                <a:solidFill>
                  <a:srgbClr val="FFFFFF"/>
                </a:solidFill>
              </a:rPr>
              <a:t>Work with the teams that produce the data</a:t>
            </a:r>
            <a:endParaRPr lang="en-US" sz="2400" dirty="0"/>
          </a:p>
          <a:p>
            <a:pPr algn="l" marL="342900" indent="-342900">
              <a:spcAft>
                <a:spcPts val="1000"/>
              </a:spcAft>
              <a:buSzPct val="100000"/>
              <a:buChar char="•"/>
            </a:pPr>
            <a:r>
              <a:rPr lang="en-US" sz="2400" dirty="0">
                <a:solidFill>
                  <a:srgbClr val="FFFFFF"/>
                </a:solidFill>
              </a:rPr>
              <a:t>Better data often beats a better model</a:t>
            </a:r>
            <a:endParaRPr lang="en-US" sz="2400" dirty="0"/>
          </a:p>
          <a:p>
            <a:pPr algn="l" marL="342900" indent="-342900">
              <a:spcAft>
                <a:spcPts val="1000"/>
              </a:spcAft>
              <a:buSzPct val="100000"/>
              <a:buChar char="•"/>
            </a:pPr>
            <a:r>
              <a:rPr lang="en-US" sz="2400" dirty="0">
                <a:solidFill>
                  <a:srgbClr val="FFFFFF"/>
                </a:solidFill>
              </a:rPr>
              <a:t>Trust is earned through consistency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Fundamentals and curiosity compound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SQL and spreadsheets still do most of the work</a:t>
            </a:r>
            <a:endParaRPr lang="en-US" sz="2400" dirty="0"/>
          </a:p>
          <a:p>
            <a:pPr algn="l" marL="342900" indent="-342900">
              <a:spcAft>
                <a:spcPts val="1000"/>
              </a:spcAft>
              <a:buSzPct val="100000"/>
              <a:buChar char="•"/>
            </a:pPr>
            <a:r>
              <a:rPr lang="en-US" sz="2400" dirty="0">
                <a:solidFill>
                  <a:srgbClr val="FFFFFF"/>
                </a:solidFill>
              </a:rPr>
              <a:t>Build projects that answer real questions</a:t>
            </a:r>
            <a:endParaRPr lang="en-US" sz="2400" dirty="0"/>
          </a:p>
          <a:p>
            <a:pPr algn="l" marL="342900" indent="-342900">
              <a:spcAft>
                <a:spcPts val="1000"/>
              </a:spcAft>
              <a:buSzPct val="100000"/>
              <a:buChar char="•"/>
            </a:pPr>
            <a:r>
              <a:rPr lang="en-US" sz="2400" dirty="0">
                <a:solidFill>
                  <a:srgbClr val="FFFFFF"/>
                </a:solidFill>
              </a:rPr>
              <a:t>Share your work and ask for feedback</a:t>
            </a:r>
            <a:endParaRPr lang="en-US" sz="2400" dirty="0"/>
          </a:p>
          <a:p>
            <a:pPr algn="l" marL="342900" indent="-342900">
              <a:spcAft>
                <a:spcPts val="1000"/>
              </a:spcAft>
              <a:buSzPct val="100000"/>
              <a:buChar char="•"/>
            </a:pPr>
            <a:r>
              <a:rPr lang="en-US" sz="2400" dirty="0">
                <a:solidFill>
                  <a:srgbClr val="FFFFFF"/>
                </a:solidFill>
              </a:rPr>
              <a:t>Tools change; problem-solving lasts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piece of advice from this course will you put into practice first, and on what project in your career?</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Analytics Words of Wisdom</dc:title>
  <dc:subject>Week 13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