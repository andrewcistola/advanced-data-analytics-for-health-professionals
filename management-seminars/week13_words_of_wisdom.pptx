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13: Analytics Words of Wisdom. We will go through ideas from widely followed analytics voices on LinkedIn, grouped into four themes. Encourage students to follow a few of these people and add their own favorites.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Cassie Kozyrkov, Google's first chief decision scientist, built a large LinkedIn following around decision intelligence: frame the decision and your default action before looking at data, and know whether you are exploring for inspiration or testing to decide. Bernard Marr, a widely read author on data strategy, makes a similar point: start from the organization's key business questions, not from the data you happen to have. Paraphrased from their public writing and talks.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Brent Dykes, author of Effective Data Storytelling, argues that data, narrative and visuals each fail alone and persuade together, and that dashboards are exploratory tools rather than stories. Cole Nussbaumer Knaflic (Storytelling with Data) teaches removing clutter and focusing attention on the one point that matters. Both stress tailoring the story to the audience's goals. Paraphrased from their public writing and talks.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Chad Sanderson popularized data contracts on LinkedIn: agreements between the teams that produce data and the teams that use it, so quality is checked at the source ("shifting left"). Andrew Ng, co-founder of Coursera and DeepLearning.AI, champions data-centric AI: improving data quality often helps more than tuning the model. In healthcare, that means working with billing, registration and EHR teams, not just cleaning data downstream. Paraphrased from their public writing and talks.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Popular analytics educators on LinkedIn, including Alex Freberg (Alex the Analyst), Luke Barousse and Avery Smith, consistently emphasize mastering fundamentals like SQL and Excel, building portfolio projects on real questions, and sharing work publicly to learn faster. Their audiences are mostly career builders, and the advice holds at every career stage. Paraphrased from their public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Analytics Words of Wisdom</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13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Start with the decision, not the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Name the decision and who will make it</a:t>
            </a:r>
            <a:endParaRPr lang="en-US" sz="2400" dirty="0"/>
          </a:p>
          <a:p>
            <a:pPr algn="l" marL="342900" indent="-342900">
              <a:spcAft>
                <a:spcPts val="1000"/>
              </a:spcAft>
              <a:buSzPct val="100000"/>
              <a:buChar char="•"/>
            </a:pPr>
            <a:r>
              <a:rPr lang="en-US" sz="2400" dirty="0">
                <a:solidFill>
                  <a:srgbClr val="FFFFFF"/>
                </a:solidFill>
              </a:rPr>
              <a:t>Decide what evidence would change your mind first</a:t>
            </a:r>
            <a:endParaRPr lang="en-US" sz="2400" dirty="0"/>
          </a:p>
          <a:p>
            <a:pPr algn="l" marL="342900" indent="-342900">
              <a:spcAft>
                <a:spcPts val="1000"/>
              </a:spcAft>
              <a:buSzPct val="100000"/>
              <a:buChar char="•"/>
            </a:pPr>
            <a:r>
              <a:rPr lang="en-US" sz="2400" dirty="0">
                <a:solidFill>
                  <a:srgbClr val="FFFFFF"/>
                </a:solidFill>
              </a:rPr>
              <a:t>Data without a question is exploration, not an answer</a:t>
            </a:r>
            <a:endParaRPr lang="en-US" sz="2400" dirty="0"/>
          </a:p>
          <a:p>
            <a:pPr algn="l" marL="342900" indent="-342900">
              <a:spcAft>
                <a:spcPts val="1000"/>
              </a:spcAft>
              <a:buSzPct val="100000"/>
              <a:buChar char="•"/>
            </a:pPr>
            <a:r>
              <a:rPr lang="en-US" sz="2400" dirty="0">
                <a:solidFill>
                  <a:srgbClr val="FFFFFF"/>
                </a:solidFill>
              </a:rPr>
              <a:t>Not every question needs a model</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 insight only matters if it drives action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Combine data, narrative and visuals</a:t>
            </a:r>
            <a:endParaRPr lang="en-US" sz="2400" dirty="0"/>
          </a:p>
          <a:p>
            <a:pPr algn="l" marL="342900" indent="-342900">
              <a:spcAft>
                <a:spcPts val="1000"/>
              </a:spcAft>
              <a:buSzPct val="100000"/>
              <a:buChar char="•"/>
            </a:pPr>
            <a:r>
              <a:rPr lang="en-US" sz="2400" dirty="0">
                <a:solidFill>
                  <a:srgbClr val="FFFFFF"/>
                </a:solidFill>
              </a:rPr>
              <a:t>Know your audience and what they care about</a:t>
            </a:r>
            <a:endParaRPr lang="en-US" sz="2400" dirty="0"/>
          </a:p>
          <a:p>
            <a:pPr algn="l" marL="342900" indent="-342900">
              <a:spcAft>
                <a:spcPts val="1000"/>
              </a:spcAft>
              <a:buSzPct val="100000"/>
              <a:buChar char="•"/>
            </a:pPr>
            <a:r>
              <a:rPr lang="en-US" sz="2400" dirty="0">
                <a:solidFill>
                  <a:srgbClr val="FFFFFF"/>
                </a:solidFill>
              </a:rPr>
              <a:t>Dashboards explore; stories explain</a:t>
            </a:r>
            <a:endParaRPr lang="en-US" sz="2400" dirty="0"/>
          </a:p>
          <a:p>
            <a:pPr algn="l" marL="342900" indent="-342900">
              <a:spcAft>
                <a:spcPts val="1000"/>
              </a:spcAft>
              <a:buSzPct val="100000"/>
              <a:buChar char="•"/>
            </a:pPr>
            <a:r>
              <a:rPr lang="en-US" sz="2400" dirty="0">
                <a:solidFill>
                  <a:srgbClr val="FFFFFF"/>
                </a:solidFill>
              </a:rPr>
              <a:t>Lead with the "so what"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Quality starts upstream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Most data problems start where data is produced</a:t>
            </a:r>
            <a:endParaRPr lang="en-US" sz="2400" dirty="0"/>
          </a:p>
          <a:p>
            <a:pPr algn="l" marL="342900" indent="-342900">
              <a:spcAft>
                <a:spcPts val="1000"/>
              </a:spcAft>
              <a:buSzPct val="100000"/>
              <a:buChar char="•"/>
            </a:pPr>
            <a:r>
              <a:rPr lang="en-US" sz="2400" dirty="0">
                <a:solidFill>
                  <a:srgbClr val="FFFFFF"/>
                </a:solidFill>
              </a:rPr>
              <a:t>Agree on definitions with the teams that create data</a:t>
            </a:r>
            <a:endParaRPr lang="en-US" sz="2400" dirty="0"/>
          </a:p>
          <a:p>
            <a:pPr algn="l" marL="342900" indent="-342900">
              <a:spcAft>
                <a:spcPts val="1000"/>
              </a:spcAft>
              <a:buSzPct val="100000"/>
              <a:buChar char="•"/>
            </a:pPr>
            <a:r>
              <a:rPr lang="en-US" sz="2400" dirty="0">
                <a:solidFill>
                  <a:srgbClr val="FFFFFF"/>
                </a:solidFill>
              </a:rPr>
              <a:t>Better data often beats a better model</a:t>
            </a:r>
            <a:endParaRPr lang="en-US" sz="2400" dirty="0"/>
          </a:p>
          <a:p>
            <a:pPr algn="l" marL="342900" indent="-342900">
              <a:spcAft>
                <a:spcPts val="1000"/>
              </a:spcAft>
              <a:buSzPct val="100000"/>
              <a:buChar char="•"/>
            </a:pPr>
            <a:r>
              <a:rPr lang="en-US" sz="2400" dirty="0">
                <a:solidFill>
                  <a:srgbClr val="FFFFFF"/>
                </a:solidFill>
              </a:rPr>
              <a:t>Trust is earned through consistency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Fundamentals and curiosity compound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SQL and spreadsheets still do most of the work</a:t>
            </a:r>
            <a:endParaRPr lang="en-US" sz="2400" dirty="0"/>
          </a:p>
          <a:p>
            <a:pPr algn="l" marL="342900" indent="-342900">
              <a:spcAft>
                <a:spcPts val="1000"/>
              </a:spcAft>
              <a:buSzPct val="100000"/>
              <a:buChar char="•"/>
            </a:pPr>
            <a:r>
              <a:rPr lang="en-US" sz="2400" dirty="0">
                <a:solidFill>
                  <a:srgbClr val="FFFFFF"/>
                </a:solidFill>
              </a:rPr>
              <a:t>Build projects that answer real questions</a:t>
            </a:r>
            <a:endParaRPr lang="en-US" sz="2400" dirty="0"/>
          </a:p>
          <a:p>
            <a:pPr algn="l" marL="342900" indent="-342900">
              <a:spcAft>
                <a:spcPts val="1000"/>
              </a:spcAft>
              <a:buSzPct val="100000"/>
              <a:buChar char="•"/>
            </a:pPr>
            <a:r>
              <a:rPr lang="en-US" sz="2400" dirty="0">
                <a:solidFill>
                  <a:srgbClr val="FFFFFF"/>
                </a:solidFill>
              </a:rPr>
              <a:t>Share your work and learn in public</a:t>
            </a:r>
            <a:endParaRPr lang="en-US" sz="2400" dirty="0"/>
          </a:p>
          <a:p>
            <a:pPr algn="l" marL="342900" indent="-342900">
              <a:spcAft>
                <a:spcPts val="1000"/>
              </a:spcAft>
              <a:buSzPct val="100000"/>
              <a:buChar char="•"/>
            </a:pPr>
            <a:r>
              <a:rPr lang="en-US" sz="2400" dirty="0">
                <a:solidFill>
                  <a:srgbClr val="FFFFFF"/>
                </a:solidFill>
              </a:rPr>
              <a:t>Tools change; problem-solving lasts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Analytics Words of Wisdom</dc:title>
  <dc:subject>Week 13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