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10: Communicating Complex Findings.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finding becomes useful when the audience understands what it means for them and what to do next. The charts an analyst uses to search the data are rarely the right ones to present; a presentation chart should make one point obvious. Every estimate has uncertainty that the audience needs in plain terms.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answer and what you recommend, then the evidence. A slide title that states the message ("Denials from missing authorizations cost the most") does more than a label ("Denials by category"). Terms like odds ratio or PDC need a one-line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Bars for comparing categories, lines for trends, scatter plots for relationships. Gray out everything except the point of the chart. "The program likely cut readmissions by 20–35%, about 40 fewer readmissions a year" is clearer than an odds ratio alone.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Audiences lose interest in a long method walkthrough before the result. Overstated certainty destroys credibility when results don't hold up. Observational data shows association unless the design (randomization, difference-in-differences, careful adjustment) supports a causal claim.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Halving a risk from 2% to 1% and from 40% to 20% are very different decisions. A CFO, a medical director and an analyst need different levels of detail from the same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Communicating Complex Findings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analysis to understanding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Insight: a finding that changes understanding</a:t>
            </a:r>
            <a:endParaRPr lang="en-US" sz="2400" dirty="0"/>
          </a:p>
          <a:p>
            <a:pPr algn="l" marL="342900" indent="-342900">
              <a:spcAft>
                <a:spcPts val="1000"/>
              </a:spcAft>
              <a:buSzPct val="100000"/>
              <a:buChar char="•"/>
            </a:pPr>
            <a:r>
              <a:rPr lang="en-US" sz="2400" dirty="0">
                <a:solidFill>
                  <a:srgbClr val="FFFFFF"/>
                </a:solidFill>
              </a:rPr>
              <a:t>Message: what the audience should know or do</a:t>
            </a:r>
            <a:endParaRPr lang="en-US" sz="2400" dirty="0"/>
          </a:p>
          <a:p>
            <a:pPr algn="l" marL="342900" indent="-342900">
              <a:spcAft>
                <a:spcPts val="1000"/>
              </a:spcAft>
              <a:buSzPct val="100000"/>
              <a:buChar char="•"/>
            </a:pPr>
            <a:r>
              <a:rPr lang="en-US" sz="2400" dirty="0">
                <a:solidFill>
                  <a:srgbClr val="FFFFFF"/>
                </a:solidFill>
              </a:rPr>
              <a:t>Charts for finding things vs. charts for showing them</a:t>
            </a:r>
            <a:endParaRPr lang="en-US" sz="2400" dirty="0"/>
          </a:p>
          <a:p>
            <a:pPr algn="l" marL="342900" indent="-342900">
              <a:spcAft>
                <a:spcPts val="1000"/>
              </a:spcAft>
              <a:buSzPct val="100000"/>
              <a:buChar char="•"/>
            </a:pPr>
            <a:r>
              <a:rPr lang="en-US" sz="2400" dirty="0">
                <a:solidFill>
                  <a:srgbClr val="FFFFFF"/>
                </a:solidFill>
              </a:rPr>
              <a:t>Uncertainty: intervals, ranges, caveats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structure the story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Bottom line up front</a:t>
            </a:r>
            <a:endParaRPr lang="en-US" sz="2400" dirty="0"/>
          </a:p>
          <a:p>
            <a:pPr algn="l" marL="342900" indent="-342900">
              <a:spcAft>
                <a:spcPts val="1000"/>
              </a:spcAft>
              <a:buSzPct val="100000"/>
              <a:buChar char="•"/>
            </a:pPr>
            <a:r>
              <a:rPr lang="en-US" sz="2400" dirty="0">
                <a:solidFill>
                  <a:srgbClr val="FFFFFF"/>
                </a:solidFill>
              </a:rPr>
              <a:t>Context, finding, implication, recommendation</a:t>
            </a:r>
            <a:endParaRPr lang="en-US" sz="2400" dirty="0"/>
          </a:p>
          <a:p>
            <a:pPr algn="l" marL="342900" indent="-342900">
              <a:spcAft>
                <a:spcPts val="1000"/>
              </a:spcAft>
              <a:buSzPct val="100000"/>
              <a:buChar char="•"/>
            </a:pPr>
            <a:r>
              <a:rPr lang="en-US" sz="2400" dirty="0">
                <a:solidFill>
                  <a:srgbClr val="FFFFFF"/>
                </a:solidFill>
              </a:rPr>
              <a:t>One message per slide or chart</a:t>
            </a:r>
            <a:endParaRPr lang="en-US" sz="2400" dirty="0"/>
          </a:p>
          <a:p>
            <a:pPr algn="l" marL="342900" indent="-342900">
              <a:spcAft>
                <a:spcPts val="1000"/>
              </a:spcAft>
              <a:buSzPct val="100000"/>
              <a:buChar char="•"/>
            </a:pPr>
            <a:r>
              <a:rPr lang="en-US" sz="2400" dirty="0">
                <a:solidFill>
                  <a:srgbClr val="FFFFFF"/>
                </a:solidFill>
              </a:rPr>
              <a:t>Plain language; define jargon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show it clearly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the chart for the comparison you need</a:t>
            </a:r>
            <a:endParaRPr lang="en-US" sz="2400" dirty="0"/>
          </a:p>
          <a:p>
            <a:pPr algn="l" marL="342900" indent="-342900">
              <a:spcAft>
                <a:spcPts val="1000"/>
              </a:spcAft>
              <a:buSzPct val="100000"/>
              <a:buChar char="•"/>
            </a:pPr>
            <a:r>
              <a:rPr lang="en-US" sz="2400" dirty="0">
                <a:solidFill>
                  <a:srgbClr val="FFFFFF"/>
                </a:solidFill>
              </a:rPr>
              <a:t>Highlight what matters; mute the rest</a:t>
            </a:r>
            <a:endParaRPr lang="en-US" sz="2400" dirty="0"/>
          </a:p>
          <a:p>
            <a:pPr algn="l" marL="342900" indent="-342900">
              <a:spcAft>
                <a:spcPts val="1000"/>
              </a:spcAft>
              <a:buSzPct val="100000"/>
              <a:buChar char="•"/>
            </a:pPr>
            <a:r>
              <a:rPr lang="en-US" sz="2400" dirty="0">
                <a:solidFill>
                  <a:srgbClr val="FFFFFF"/>
                </a:solidFill>
              </a:rPr>
              <a:t>Express uncertainty in words and numbers</a:t>
            </a:r>
            <a:endParaRPr lang="en-US" sz="2400" dirty="0"/>
          </a:p>
          <a:p>
            <a:pPr algn="l" marL="342900" indent="-342900">
              <a:spcAft>
                <a:spcPts val="1000"/>
              </a:spcAft>
              <a:buSzPct val="100000"/>
              <a:buChar char="•"/>
            </a:pPr>
            <a:r>
              <a:rPr lang="en-US" sz="2400" dirty="0">
                <a:solidFill>
                  <a:srgbClr val="FFFFFF"/>
                </a:solidFill>
              </a:rPr>
              <a:t>Translate effects into dollars, patients or events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Leading with methods → answer first, methods in appendix</a:t>
            </a:r>
            <a:endParaRPr lang="en-US" sz="2400" dirty="0"/>
          </a:p>
          <a:p>
            <a:pPr algn="l" marL="342900" indent="-342900">
              <a:spcAft>
                <a:spcPts val="1000"/>
              </a:spcAft>
              <a:buSzPct val="100000"/>
              <a:buChar char="•"/>
            </a:pPr>
            <a:r>
              <a:rPr lang="en-US" sz="2400" dirty="0">
                <a:solidFill>
                  <a:srgbClr val="FFFFFF"/>
                </a:solidFill>
              </a:rPr>
              <a:t>Overstating certainty → give ranges and limitations</a:t>
            </a:r>
            <a:endParaRPr lang="en-US" sz="2400" dirty="0"/>
          </a:p>
          <a:p>
            <a:pPr algn="l" marL="342900" indent="-342900">
              <a:spcAft>
                <a:spcPts val="1000"/>
              </a:spcAft>
              <a:buSzPct val="100000"/>
              <a:buChar char="•"/>
            </a:pPr>
            <a:r>
              <a:rPr lang="en-US" sz="2400" dirty="0">
                <a:solidFill>
                  <a:srgbClr val="FFFFFF"/>
                </a:solidFill>
              </a:rPr>
              <a:t>Correlation as causation → say what the design supports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Cluttered charts → remove noise; label directly</a:t>
            </a:r>
            <a:endParaRPr lang="en-US" sz="2400" dirty="0"/>
          </a:p>
          <a:p>
            <a:pPr algn="l" marL="342900" indent="-342900">
              <a:spcAft>
                <a:spcPts val="1000"/>
              </a:spcAft>
              <a:buSzPct val="100000"/>
              <a:buChar char="•"/>
            </a:pPr>
            <a:r>
              <a:rPr lang="en-US" sz="2400" dirty="0">
                <a:solidFill>
                  <a:srgbClr val="FFFFFF"/>
                </a:solidFill>
              </a:rPr>
              <a:t>Relative risk without base rates → add absolute numbers</a:t>
            </a:r>
            <a:endParaRPr lang="en-US" sz="2400" dirty="0"/>
          </a:p>
          <a:p>
            <a:pPr algn="l" marL="342900" indent="-342900">
              <a:spcAft>
                <a:spcPts val="1000"/>
              </a:spcAft>
              <a:buSzPct val="100000"/>
              <a:buChar char="•"/>
            </a:pPr>
            <a:r>
              <a:rPr lang="en-US" sz="2400" dirty="0">
                <a:solidFill>
                  <a:srgbClr val="FFFFFF"/>
                </a:solidFill>
              </a:rPr>
              <a:t>One message for all audiences → tailor the depth</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Choose a finding from your work that a busy leader needs to hear. How would you state it in one sentence, with the action you recommend?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Complex Findings</dc:title>
  <dc:subject>Week 10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