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Management seminar for week 4: Writing Specifications and Requirements. We will go through basics and terminology, best practices for data analytics, and common pitfalls and how to avoid them.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requirements state the need ("identify members likely to miss a wellness visit"). Functional requirements state what the output does ("a monthly list ranked by risk"). Technical requirements state how ("refreshes from the claims warehouse by the 5th"). A measure specification, like a HEDIS measure, is the model: eligible population, exclusions, numerator, time periods.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requirement is testable when two analysts would build the same thing from it. Example output rows remove ambiguity about grain and columns faster than prose. Acceptance criteria might be "totals reconcile to finance within 1%" or "rates match last year's audited report."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Specs change as people learn; a version history explains why this quarter's number differs from last quarter's. Tying requirements to decisions makes it easy to drop the ones that no longer matter.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Edge cases in health data include members who die, switch plans mid-year, have retroactive eligibility, or have corrected claims. Walking a few real examples through the rules exposes gaps before anyone writes code.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Must-have versus nice-to-have (MoSCoW: must, should, could, won't) keeps scope honest. Assumptions such as "pending claims excluded" belong in the spec where stakeholders can challenge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Writing Specifications and Requirements</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4 Management Seminar</a:t>
            </a:r>
            <a:endParaRPr lang="en-US" sz="2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Basics: requirements and specifications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Requirement: what the output must do or contain</a:t>
            </a:r>
            <a:endParaRPr lang="en-US" sz="2400" dirty="0"/>
          </a:p>
          <a:p>
            <a:pPr algn="l" marL="342900" indent="-342900">
              <a:spcAft>
                <a:spcPts val="1000"/>
              </a:spcAft>
              <a:buSzPct val="100000"/>
              <a:buChar char="•"/>
            </a:pPr>
            <a:r>
              <a:rPr lang="en-US" sz="2400" dirty="0">
                <a:solidFill>
                  <a:srgbClr val="FFFFFF"/>
                </a:solidFill>
              </a:rPr>
              <a:t>Business, functional and technical requirements</a:t>
            </a:r>
            <a:endParaRPr lang="en-US" sz="2400" dirty="0"/>
          </a:p>
          <a:p>
            <a:pPr algn="l" marL="342900" indent="-342900">
              <a:spcAft>
                <a:spcPts val="1000"/>
              </a:spcAft>
              <a:buSzPct val="100000"/>
              <a:buChar char="•"/>
            </a:pPr>
            <a:r>
              <a:rPr lang="en-US" sz="2400" dirty="0">
                <a:solidFill>
                  <a:srgbClr val="FFFFFF"/>
                </a:solidFill>
              </a:rPr>
              <a:t>Specification: exact definitions, logic and sources</a:t>
            </a:r>
            <a:endParaRPr lang="en-US" sz="2400" dirty="0"/>
          </a:p>
          <a:p>
            <a:pPr algn="l" marL="342900" indent="-342900">
              <a:spcAft>
                <a:spcPts val="1000"/>
              </a:spcAft>
              <a:buSzPct val="100000"/>
              <a:buChar char="•"/>
            </a:pPr>
            <a:r>
              <a:rPr lang="en-US" sz="2400" dirty="0">
                <a:solidFill>
                  <a:srgbClr val="FFFFFF"/>
                </a:solidFill>
              </a:rPr>
              <a:t>Acceptance criteria: how you'll know it's done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Best practices: make it testable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Define every term: population, period, units</a:t>
            </a:r>
            <a:endParaRPr lang="en-US" sz="2400" dirty="0"/>
          </a:p>
          <a:p>
            <a:pPr algn="l" marL="342900" indent="-342900">
              <a:spcAft>
                <a:spcPts val="1000"/>
              </a:spcAft>
              <a:buSzPct val="100000"/>
              <a:buChar char="•"/>
            </a:pPr>
            <a:r>
              <a:rPr lang="en-US" sz="2400" dirty="0">
                <a:solidFill>
                  <a:srgbClr val="FFFFFF"/>
                </a:solidFill>
              </a:rPr>
              <a:t>State inclusion and exclusion rules explicitly</a:t>
            </a:r>
            <a:endParaRPr lang="en-US" sz="2400" dirty="0"/>
          </a:p>
          <a:p>
            <a:pPr algn="l" marL="342900" indent="-342900">
              <a:spcAft>
                <a:spcPts val="1000"/>
              </a:spcAft>
              <a:buSzPct val="100000"/>
              <a:buChar char="•"/>
            </a:pPr>
            <a:r>
              <a:rPr lang="en-US" sz="2400" dirty="0">
                <a:solidFill>
                  <a:srgbClr val="FFFFFF"/>
                </a:solidFill>
              </a:rPr>
              <a:t>Show example rows of the expected output</a:t>
            </a:r>
            <a:endParaRPr lang="en-US" sz="2400" dirty="0"/>
          </a:p>
          <a:p>
            <a:pPr algn="l" marL="342900" indent="-342900">
              <a:spcAft>
                <a:spcPts val="1000"/>
              </a:spcAft>
              <a:buSzPct val="100000"/>
              <a:buChar char="•"/>
            </a:pPr>
            <a:r>
              <a:rPr lang="en-US" sz="2400" dirty="0">
                <a:solidFill>
                  <a:srgbClr val="FFFFFF"/>
                </a:solidFill>
              </a:rPr>
              <a:t>Write acceptance criteria before building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Best practices: make it maintainable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Version the spec and log every change</a:t>
            </a:r>
            <a:endParaRPr lang="en-US" sz="2400" dirty="0"/>
          </a:p>
          <a:p>
            <a:pPr algn="l" marL="342900" indent="-342900">
              <a:spcAft>
                <a:spcPts val="1000"/>
              </a:spcAft>
              <a:buSzPct val="100000"/>
              <a:buChar char="•"/>
            </a:pPr>
            <a:r>
              <a:rPr lang="en-US" sz="2400" dirty="0">
                <a:solidFill>
                  <a:srgbClr val="FFFFFF"/>
                </a:solidFill>
              </a:rPr>
              <a:t>Link each requirement to the decision it supports</a:t>
            </a:r>
            <a:endParaRPr lang="en-US" sz="2400" dirty="0"/>
          </a:p>
          <a:p>
            <a:pPr algn="l" marL="342900" indent="-342900">
              <a:spcAft>
                <a:spcPts val="1000"/>
              </a:spcAft>
              <a:buSzPct val="100000"/>
              <a:buChar char="•"/>
            </a:pPr>
            <a:r>
              <a:rPr lang="en-US" sz="2400" dirty="0">
                <a:solidFill>
                  <a:srgbClr val="FFFFFF"/>
                </a:solidFill>
              </a:rPr>
              <a:t>Note data sources, grain and known limitations</a:t>
            </a:r>
            <a:endParaRPr lang="en-US" sz="2400" dirty="0"/>
          </a:p>
          <a:p>
            <a:pPr algn="l" marL="342900" indent="-342900">
              <a:spcAft>
                <a:spcPts val="1000"/>
              </a:spcAft>
              <a:buSzPct val="100000"/>
              <a:buChar char="•"/>
            </a:pPr>
            <a:r>
              <a:rPr lang="en-US" sz="2400" dirty="0">
                <a:solidFill>
                  <a:srgbClr val="FFFFFF"/>
                </a:solidFill>
              </a:rPr>
              <a:t>Get stakeholder sign-off in writing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Common pitfalls and how to avoid them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Ambiguous terms → a glossary with exact definitions</a:t>
            </a:r>
            <a:endParaRPr lang="en-US" sz="2400" dirty="0"/>
          </a:p>
          <a:p>
            <a:pPr algn="l" marL="342900" indent="-342900">
              <a:spcAft>
                <a:spcPts val="1000"/>
              </a:spcAft>
              <a:buSzPct val="100000"/>
              <a:buChar char="•"/>
            </a:pPr>
            <a:r>
              <a:rPr lang="en-US" sz="2400" dirty="0">
                <a:solidFill>
                  <a:srgbClr val="FFFFFF"/>
                </a:solidFill>
              </a:rPr>
              <a:t>Missing edge cases → walk through tricky examples</a:t>
            </a:r>
            <a:endParaRPr lang="en-US" sz="2400" dirty="0"/>
          </a:p>
          <a:p>
            <a:pPr algn="l" marL="342900" indent="-342900">
              <a:spcAft>
                <a:spcPts val="1000"/>
              </a:spcAft>
              <a:buSzPct val="100000"/>
              <a:buChar char="•"/>
            </a:pPr>
            <a:r>
              <a:rPr lang="en-US" sz="2400" dirty="0">
                <a:solidFill>
                  <a:srgbClr val="FFFFFF"/>
                </a:solidFill>
              </a:rPr>
              <a:t>Spec written after the code → write it first, update it</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More pitfalls and how to avoid them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Gold-plating → separate must-haves from nice-to-haves</a:t>
            </a:r>
            <a:endParaRPr lang="en-US" sz="2400" dirty="0"/>
          </a:p>
          <a:p>
            <a:pPr algn="l" marL="342900" indent="-342900">
              <a:spcAft>
                <a:spcPts val="1000"/>
              </a:spcAft>
              <a:buSzPct val="100000"/>
              <a:buChar char="•"/>
            </a:pPr>
            <a:r>
              <a:rPr lang="en-US" sz="2400" dirty="0">
                <a:solidFill>
                  <a:srgbClr val="FFFFFF"/>
                </a:solidFill>
              </a:rPr>
              <a:t>Unstated assumptions → list them for review</a:t>
            </a:r>
            <a:endParaRPr lang="en-US" sz="2400" dirty="0"/>
          </a:p>
          <a:p>
            <a:pPr algn="l" marL="342900" indent="-342900">
              <a:spcAft>
                <a:spcPts val="1000"/>
              </a:spcAft>
              <a:buSzPct val="100000"/>
              <a:buChar char="•"/>
            </a:pPr>
            <a:r>
              <a:rPr lang="en-US" sz="2400" dirty="0">
                <a:solidFill>
                  <a:srgbClr val="FFFFFF"/>
                </a:solidFill>
              </a:rPr>
              <a:t>Spec drifts from the code → review both together</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Writing Specifications and Requirements</dc:title>
  <dc:subject>Week 4 Management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