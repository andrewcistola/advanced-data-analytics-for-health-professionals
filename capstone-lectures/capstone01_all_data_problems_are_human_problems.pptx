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23"/>
    <p:sldId id="273" r:id="rId24"/>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Capstone seminar 1: All Data Problems Are Human Problems. We will go through why the problems that slow analytics work down are usually human problems, and how framing them that way leads to human solutions for data quality, governance, QA and deliverables.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back to the problems that make your projects harder, whether or not you're an analyst. The biggest is usually poor data quality, and most often, missing data. Missing data comes from an instrument failure, someone not completing a step, or a systematic gap, but in every case it's a failure of implementation: the collection plan wasn't carried out. Even when a machine caused it, someone has to contact whoever produced the data and ask why. Unreliable measurement is worse. If a value is wrong one time in five, you can't fix it; you just know it's sometimes wrong. Imagine chopping vegetables and mistaking a carrot for a finger one time in five. And if you impute missing values but don't document it, the next person assumes the data was collected perfectly, and now you also have a communication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us have seen a file named with initials, a date, "final," then "v2," then a "(2)" from the downloads folder. That isn't a computer problem. It's people declaring something final and then revising it five more times without ever agreeing how files should be named. We've been naming things for as long as we've been human; this is a data governance problem, not a technology failure. The "what is this spreadsheet?" game may be job security for analysts, but it's the most avoidable problem in analytics. Generative AI might help, but people still have to sit down, agree on conventions and keep to them. Often that means getting a handful of people who prefer computers to meetings to work through details together, in a conversation rather than a code review. Make that agreement the first step, and the technical side falls into place.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reasons. First, culture: people who are strong with code and data are often less comfortable talking problems through in groups. They can be good at it, but the culture doesn't push them there. Second, it takes extra time. Documentation is the classic example: the steps are to open a document and write it. Once any documentation exists, the team can argue about what the right version is. Getting to that first draft is the important part.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School teaches us to get it right the first time. Good physics teachers asked us to show our work, so they could give credit when the method was right and the calculator entry was wrong, because humans make mistakes. Missing details is part of being human; it comes with being able to see the bigger picture. If your QA process is "don't make mistakes," you have a QA process; you just don't know how bad it is. Good QA is negotiated: identify where mistakes are likely, have someone else check those points, and agree on it as a team. When a reviewer catches an error, the reaction should be "good, that's why we check," not blame. If someone is struggling, the team helps them get up to 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temptation to fill a dashboard with everything. It looks like analytics, but it may not tell anyone what they need to know. The fix is to ask: which metrics do you actually use? At a bike shop where I closed each night, I ran the full end-of-day reports, but I texted the owner the same three numbers every day. The full report was there if he wanted to dig in; the three numbers were what he used. Getting a leader to admit they only look at a few numbers can be awkward, and that's exactly why it's a human problem. It has nothing to do with which BI tool you use.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when you start an analysis, ask what the human problems are and what human solutions they need, then pick the data tools that get you to the goal. Framed that way, you avoid most of what usually goes wrong. In my experience we are rarely limited by technical ability; we are limited by our ability to communicate. The most frustrating cases are teams with advanced tools communicating so poorly they might as well be using snail mail. The tools are not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All Data Problems Are Human Problems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Capstone Seminar 1</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The claim: data problems start with people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Missing data: a collection plan that wasn't carried out</a:t>
            </a:r>
            <a:endParaRPr lang="en-US" sz="2400" dirty="0"/>
          </a:p>
          <a:p>
            <a:pPr algn="l" marL="342900" indent="-342900">
              <a:spcAft>
                <a:spcPts val="1000"/>
              </a:spcAft>
              <a:buSzPct val="100000"/>
              <a:buChar char="•"/>
            </a:pPr>
            <a:r>
              <a:rPr lang="en-US" sz="2400" dirty="0">
                <a:solidFill>
                  <a:srgbClr val="FFFFFF"/>
                </a:solidFill>
              </a:rPr>
              <a:t>Unreliable data: definitions applied inconsistently</a:t>
            </a:r>
            <a:endParaRPr lang="en-US" sz="2400" dirty="0"/>
          </a:p>
          <a:p>
            <a:pPr algn="l" marL="342900" indent="-342900">
              <a:spcAft>
                <a:spcPts val="1000"/>
              </a:spcAft>
              <a:buSzPct val="100000"/>
              <a:buChar char="•"/>
            </a:pPr>
            <a:r>
              <a:rPr lang="en-US" sz="2400" dirty="0">
                <a:solidFill>
                  <a:srgbClr val="FFFFFF"/>
                </a:solidFill>
              </a:rPr>
              <a:t>Undocumented fixes: adjustments nobody knows about</a:t>
            </a:r>
            <a:endParaRPr lang="en-US" sz="2400" dirty="0"/>
          </a:p>
          <a:p>
            <a:pPr algn="l" marL="342900" indent="-342900">
              <a:spcAft>
                <a:spcPts val="1000"/>
              </a:spcAft>
              <a:buSzPct val="100000"/>
              <a:buChar char="•"/>
            </a:pPr>
            <a:r>
              <a:rPr lang="en-US" sz="2400" dirty="0">
                <a:solidFill>
                  <a:srgbClr val="FFFFFF"/>
                </a:solidFill>
              </a:rPr>
              <a:t>Each one needs a human follow-up, not just code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Governance is an agreement, not a tool</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report_DS_0315_final_v2 (2).xlsx</a:t>
            </a:r>
            <a:endParaRPr lang="en-US" sz="2400" dirty="0"/>
          </a:p>
          <a:p>
            <a:pPr algn="l" marL="342900" indent="-342900">
              <a:spcAft>
                <a:spcPts val="1000"/>
              </a:spcAft>
              <a:buSzPct val="100000"/>
              <a:buChar char="•"/>
            </a:pPr>
            <a:r>
              <a:rPr lang="en-US" sz="2400" dirty="0">
                <a:solidFill>
                  <a:srgbClr val="FFFFFF"/>
                </a:solidFill>
              </a:rPr>
              <a:t>Not a technology failure: no agreed convention</a:t>
            </a:r>
            <a:endParaRPr lang="en-US" sz="2400" dirty="0"/>
          </a:p>
          <a:p>
            <a:pPr algn="l" marL="342900" indent="-342900">
              <a:spcAft>
                <a:spcPts val="1000"/>
              </a:spcAft>
              <a:buSzPct val="100000"/>
              <a:buChar char="•"/>
            </a:pPr>
            <a:r>
              <a:rPr lang="en-US" sz="2400" dirty="0">
                <a:solidFill>
                  <a:srgbClr val="FFFFFF"/>
                </a:solidFill>
              </a:rPr>
              <a:t>"What is this spreadsheet?" is an avoidable game</a:t>
            </a:r>
            <a:endParaRPr lang="en-US" sz="2400" dirty="0"/>
          </a:p>
          <a:p>
            <a:pPr algn="l" marL="342900" indent="-342900">
              <a:spcAft>
                <a:spcPts val="1000"/>
              </a:spcAft>
              <a:buSzPct val="100000"/>
              <a:buChar char="•"/>
            </a:pPr>
            <a:r>
              <a:rPr lang="en-US" sz="2400" dirty="0">
                <a:solidFill>
                  <a:srgbClr val="FFFFFF"/>
                </a:solidFill>
              </a:rPr>
              <a:t>Getting people to agree is often the hardest part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Why the human work gets skipped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Analytics culture rewards code over conversation</a:t>
            </a:r>
            <a:endParaRPr lang="en-US" sz="2400" dirty="0"/>
          </a:p>
          <a:p>
            <a:pPr algn="l" marL="342900" indent="-342900">
              <a:spcAft>
                <a:spcPts val="1000"/>
              </a:spcAft>
              <a:buSzPct val="100000"/>
              <a:buChar char="•"/>
            </a:pPr>
            <a:r>
              <a:rPr lang="en-US" sz="2400" dirty="0">
                <a:solidFill>
                  <a:srgbClr val="FFFFFF"/>
                </a:solidFill>
              </a:rPr>
              <a:t>Alignment takes extra time up front</a:t>
            </a:r>
            <a:endParaRPr lang="en-US" sz="2400" dirty="0"/>
          </a:p>
          <a:p>
            <a:pPr algn="l" marL="342900" indent="-342900">
              <a:spcAft>
                <a:spcPts val="1000"/>
              </a:spcAft>
              <a:buSzPct val="100000"/>
              <a:buChar char="•"/>
            </a:pPr>
            <a:r>
              <a:rPr lang="en-US" sz="2400" dirty="0">
                <a:solidFill>
                  <a:srgbClr val="FFFFFF"/>
                </a:solidFill>
              </a:rPr>
              <a:t>Documentation: open a document, then write it</a:t>
            </a:r>
            <a:endParaRPr lang="en-US" sz="2400" dirty="0"/>
          </a:p>
          <a:p>
            <a:pPr algn="l" marL="342900" indent="-342900">
              <a:spcAft>
                <a:spcPts val="1000"/>
              </a:spcAft>
              <a:buSzPct val="100000"/>
              <a:buChar char="•"/>
            </a:pPr>
            <a:r>
              <a:rPr lang="en-US" sz="2400" dirty="0">
                <a:solidFill>
                  <a:srgbClr val="FFFFFF"/>
                </a:solidFill>
              </a:rPr>
              <a:t>Any documentation beats no documentation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Quality assurance: catch mistakes, don't forbid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"Don't make mistakes" is not a QA process</a:t>
            </a:r>
            <a:endParaRPr lang="en-US" sz="2400" dirty="0"/>
          </a:p>
          <a:p>
            <a:pPr algn="l" marL="342900" indent="-342900">
              <a:spcAft>
                <a:spcPts val="1000"/>
              </a:spcAft>
              <a:buSzPct val="100000"/>
              <a:buChar char="•"/>
            </a:pPr>
            <a:r>
              <a:rPr lang="en-US" sz="2400" dirty="0">
                <a:solidFill>
                  <a:srgbClr val="FFFFFF"/>
                </a:solidFill>
              </a:rPr>
              <a:t>Find where errors are likely; have someone else check</a:t>
            </a:r>
            <a:endParaRPr lang="en-US" sz="2400" dirty="0"/>
          </a:p>
          <a:p>
            <a:pPr algn="l" marL="342900" indent="-342900">
              <a:spcAft>
                <a:spcPts val="1000"/>
              </a:spcAft>
              <a:buSzPct val="100000"/>
              <a:buChar char="•"/>
            </a:pPr>
            <a:r>
              <a:rPr lang="en-US" sz="2400" dirty="0">
                <a:solidFill>
                  <a:srgbClr val="FFFFFF"/>
                </a:solidFill>
              </a:rPr>
              <a:t>Agree on the process as a team</a:t>
            </a:r>
            <a:endParaRPr lang="en-US" sz="2400" dirty="0"/>
          </a:p>
          <a:p>
            <a:pPr algn="l" marL="342900" indent="-342900">
              <a:spcAft>
                <a:spcPts val="1000"/>
              </a:spcAft>
              <a:buSzPct val="100000"/>
              <a:buChar char="•"/>
            </a:pPr>
            <a:r>
              <a:rPr lang="en-US" sz="2400" dirty="0">
                <a:solidFill>
                  <a:srgbClr val="FFFFFF"/>
                </a:solidFill>
              </a:rPr>
              <a:t>A caught error means the process is working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Deliverables: ask what they actually use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 full dashboard can look like work and inform no one</a:t>
            </a:r>
            <a:endParaRPr lang="en-US" sz="2400" dirty="0"/>
          </a:p>
          <a:p>
            <a:pPr algn="l" marL="342900" indent="-342900">
              <a:spcAft>
                <a:spcPts val="1000"/>
              </a:spcAft>
              <a:buSzPct val="100000"/>
              <a:buChar char="•"/>
            </a:pPr>
            <a:r>
              <a:rPr lang="en-US" sz="2400" dirty="0">
                <a:solidFill>
                  <a:srgbClr val="FFFFFF"/>
                </a:solidFill>
              </a:rPr>
              <a:t>Ask which few numbers they act on</a:t>
            </a:r>
            <a:endParaRPr lang="en-US" sz="2400" dirty="0"/>
          </a:p>
          <a:p>
            <a:pPr algn="l" marL="342900" indent="-342900">
              <a:spcAft>
                <a:spcPts val="1000"/>
              </a:spcAft>
              <a:buSzPct val="100000"/>
              <a:buChar char="•"/>
            </a:pPr>
            <a:r>
              <a:rPr lang="en-US" sz="2400" dirty="0">
                <a:solidFill>
                  <a:srgbClr val="FFFFFF"/>
                </a:solidFill>
              </a:rPr>
              <a:t>Lead with those; keep the full report as backup</a:t>
            </a:r>
            <a:endParaRPr lang="en-US" sz="2400" dirty="0"/>
          </a:p>
          <a:p>
            <a:pPr algn="l" marL="342900" indent="-342900">
              <a:spcAft>
                <a:spcPts val="1000"/>
              </a:spcAft>
              <a:buSzPct val="100000"/>
              <a:buChar char="•"/>
            </a:pPr>
            <a:r>
              <a:rPr lang="en-US" sz="2400" dirty="0">
                <a:solidFill>
                  <a:srgbClr val="FFFFFF"/>
                </a:solidFill>
              </a:rPr>
              <a:t>That is a conversation, not a tool choice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Start every analysis with the human problem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What are the human problems here?</a:t>
            </a:r>
            <a:endParaRPr lang="en-US" sz="2400" dirty="0"/>
          </a:p>
          <a:p>
            <a:pPr algn="l" marL="342900" indent="-342900">
              <a:spcAft>
                <a:spcPts val="1000"/>
              </a:spcAft>
              <a:buSzPct val="100000"/>
              <a:buChar char="•"/>
            </a:pPr>
            <a:r>
              <a:rPr lang="en-US" sz="2400" dirty="0">
                <a:solidFill>
                  <a:srgbClr val="FFFFFF"/>
                </a:solidFill>
              </a:rPr>
              <a:t>What are the human solutions?</a:t>
            </a:r>
            <a:endParaRPr lang="en-US" sz="2400" dirty="0"/>
          </a:p>
          <a:p>
            <a:pPr algn="l" marL="342900" indent="-342900">
              <a:spcAft>
                <a:spcPts val="1000"/>
              </a:spcAft>
              <a:buSzPct val="100000"/>
              <a:buChar char="•"/>
            </a:pPr>
            <a:r>
              <a:rPr lang="en-US" sz="2400" dirty="0">
                <a:solidFill>
                  <a:srgbClr val="FFFFFF"/>
                </a:solidFill>
              </a:rPr>
              <a:t>Then choose the tools that reach the goal</a:t>
            </a:r>
            <a:endParaRPr lang="en-US" sz="2400" dirty="0"/>
          </a:p>
          <a:p>
            <a:pPr algn="l" marL="342900" indent="-342900">
              <a:spcAft>
                <a:spcPts val="1000"/>
              </a:spcAft>
              <a:buSzPct val="100000"/>
              <a:buChar char="•"/>
            </a:pPr>
            <a:r>
              <a:rPr lang="en-US" sz="2400" dirty="0">
                <a:solidFill>
                  <a:srgbClr val="FFFFFF"/>
                </a:solidFill>
              </a:rPr>
              <a:t>We are limited more by communication than technology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Think of the most frustrating data problem you've faced. What was the human problem underneath it, and what human solution would have prevented it?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Data Problems Are Human Problems</dc:title>
  <dc:subject>Capstone Seminar 1</dc:subject>
  <dc:creator>Health-Data-Analytics</dc:creator>
  <cp:lastModifiedBy>Health-Data-Analytics</cp:lastModifiedBy>
  <cp:revision>1</cp:revision>
  <dcterms:created xsi:type="dcterms:W3CDTF">2026-10-13T20:23:19Z</dcterms:created>
  <dcterms:modified xsi:type="dcterms:W3CDTF">2026-10-13T20:23:19Z</dcterms:modified>
</cp:coreProperties>
</file>