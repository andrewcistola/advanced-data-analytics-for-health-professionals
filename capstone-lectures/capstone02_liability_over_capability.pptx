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6" r:id="rId17"/>
    <p:sldId id="267" r:id="rId18"/>
    <p:sldId id="268" r:id="rId19"/>
    <p:sldId id="269" r:id="rId20"/>
    <p:sldId id="270" r:id="rId21"/>
    <p:sldId id="271" r:id="rId22"/>
    <p:sldId id="272" r:id="rId23"/>
    <p:sldId id="273" r:id="rId24"/>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Capstone seminar 2: Liability over Capability. We will go through the shift in analytics from capability to liability: why being able to do the work matters less as AI spreads capability, and why being able to stand behind the work matters more. Provide opening remarks here.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Over the past 25 years, and especially the last five, analytics has shifted from capability to liability. This applies whether you call it data analytics, data science, quantitative research or statistical support. Capability means organizations bring in people who can do what they can't: crunch numbers, write code, run a study, and turn requirements into a result. Much consulting worked that way. But capability used to sit with a small set of people and hard-to-access knowledge. The internet, then LLMs, chatbots and now AI agents, let people build those capabilities on their own. As capability spreads, liability, being able to show the work is right, becomes the scarce thing.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capability was concentrated, liability came with it. Asking "did you consult a statistician?" was a way of saying you had done what was required to get the numbers right. A PhD isn't just more school, like a JD, MD or a long master's. In many ways it's getting four or five experts in a room to agree you did it right, which is hard. That consensus, peer-reviewed structure is a liability structure: several smart people agreed the work considered risk and error. As capability moves to master's graduates, undergraduates and self-taught analysts, that structure doesn't come along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work itself has grown more complex. It's no longer two columns of 30 values and a t-test; it's machine learning on tables with billions of rows. At the same time, the people doing it come from a much wider supply: applied math master's programs, domain master's degrees, MBAs with quantitative training. That's a good thing, but it means the framework that used to be automatic has to be built deliberately. Quality assurance and quality control are how organizations outside academia protect themselves from the liability of error.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Expect AI to be built into data systems and interfaces, so much analytics work becomes AI-assisted: dashboards built quickly, first results in minutes. Unless you are in consulting, analytics supports the mission rather than generating revenue; to put it bluntly, it's a cost center. A manager will reasonably ask how to get the most from it with the leanest team, and with broad capability, relatively junior staff with good tools can produce a lot. Even if the tools were perfect, the main question would remain: how do you protect the organization from acting on something wrong?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technical expertise doesn't go away. Teams still need to understand SQL and Python well enough to review and debug code an agent wrote, and to fix it rather than just asking the chatbot to try again. Second, validation has to be built in and designed around the user. An agent can help build checks, but the standard is whether the team's expertise says the result fits the business need. Third, someone has to know it's their job to take responsibility for the delivery. That is a managerial skill.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can't prevent an error, you can't take responsibility for it, and if no one can take responsibility, there's no protection against liability. That's the skill set that has to stay in place. Teams will likely be smaller, with more liability at the junior level. That's consistent with how we've always worked, just reweighted: capability is maybe a quarter of the job, and liability is the rest. That shift is what this course has been preparing you for: knowing the data, checking the work, including AI's, and standing behind the result.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few minutes to write an answer drawn from their own experience and career, then ask two or three to share. Connect their examples back to this seminar's content. In an online section, post the same question to the discussion board.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rtlCol="0"/>
          <a:lstStyle>
            <a:lvl1pPr algn="l" indent="0" marL="0">
              <a:buNone/>
              <a:defRPr lang="en-US" sz="2200" dirty="0">
                <a:solidFill>
                  <a:srgbClr val="FFFFFF"/>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rtlCol="0"/>
          <a:lstStyle>
            <a:lvl1pPr algn="l" indent="0" marL="0">
              <a:buNone/>
              <a:defRPr lang="en-US" sz="3200" b="1" dirty="0">
                <a:solidFill>
                  <a:srgbClr val="FFFFFF"/>
                </a:solidFill>
              </a:defRPr>
            </a:lvl1pPr>
          </a:lstStyle>
          <a:p>
            <a:pPr algn="l" indent="0" marL="0">
              <a:buNone/>
            </a:pP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lstStyle>
            <a:lvl1pPr algn="l" indent="0" marL="0">
              <a:spcAft>
                <a:spcPts val="1000"/>
              </a:spcAft>
              <a:buNone/>
              <a:defRPr lang="en-US" sz="2400" dirty="0">
                <a:solidFill>
                  <a:srgbClr val="FFFFFF"/>
                </a:solidFill>
              </a:defRPr>
            </a:lvl1pPr>
          </a:lstStyle>
          <a:p>
            <a:pPr algn="l" indent="0" marL="0">
              <a:spcAft>
                <a:spcPts val="1000"/>
              </a:spcAft>
              <a:buNone/>
            </a:pP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2011680"/>
            <a:ext cx="10698480" cy="1463040"/>
          </a:xfrm>
          <a:prstGeom prst="rect">
            <a:avLst/>
          </a:prstGeom>
          <a:noFill/>
          <a:ln/>
        </p:spPr>
        <p:txBody>
          <a:bodyPr wrap="square" lIns="0" tIns="0" rIns="0" bIns="0" rtlCol="0" anchor="b"/>
          <a:lstStyle/>
          <a:p>
            <a:pPr algn="l" indent="0" marL="0">
              <a:buNone/>
            </a:pPr>
            <a:r>
              <a:rPr lang="en-US" sz="4000" b="1" dirty="0">
                <a:solidFill>
                  <a:srgbClr val="FFFFFF"/>
                </a:solidFill>
              </a:rPr>
              <a:t>Liability over Capability</a:t>
            </a: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lIns="0" tIns="0" rIns="0" bIns="0" rtlCol="0" anchor="t"/>
          <a:lstStyle/>
          <a:p>
            <a:pPr algn="l" indent="0" marL="0">
              <a:buNone/>
            </a:pPr>
            <a:r>
              <a:rPr lang="en-US" sz="2200" dirty="0">
                <a:solidFill>
                  <a:srgbClr val="FFFFFF"/>
                </a:solidFill>
              </a:rPr>
              <a:t>Health Data Analytics · Capstone Seminar 2</a:t>
            </a:r>
            <a:endParaRPr lang="en-US" sz="2200" dirty="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The shift: from capability to liability</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Capability: people who can do the math, code or study</a:t>
            </a:r>
            <a:endParaRPr lang="en-US" sz="2400" dirty="0"/>
          </a:p>
          <a:p>
            <a:pPr algn="l" marL="342900" indent="-342900">
              <a:spcAft>
                <a:spcPts val="1000"/>
              </a:spcAft>
              <a:buSzPct val="100000"/>
              <a:buChar char="•"/>
            </a:pPr>
            <a:r>
              <a:rPr lang="en-US" sz="2400" dirty="0">
                <a:solidFill>
                  <a:srgbClr val="FFFFFF"/>
                </a:solidFill>
              </a:rPr>
              <a:t>Capability used to be scarce, with liability built in</a:t>
            </a:r>
            <a:endParaRPr lang="en-US" sz="2400" dirty="0"/>
          </a:p>
          <a:p>
            <a:pPr algn="l" marL="342900" indent="-342900">
              <a:spcAft>
                <a:spcPts val="1000"/>
              </a:spcAft>
              <a:buSzPct val="100000"/>
              <a:buChar char="•"/>
            </a:pPr>
            <a:r>
              <a:rPr lang="en-US" sz="2400" dirty="0">
                <a:solidFill>
                  <a:srgbClr val="FFFFFF"/>
                </a:solidFill>
              </a:rPr>
              <a:t>The internet, LLMs and AI agents spread capability widely</a:t>
            </a:r>
            <a:endParaRPr lang="en-US" sz="2400" dirty="0"/>
          </a:p>
          <a:p>
            <a:pPr algn="l" marL="342900" indent="-342900">
              <a:spcAft>
                <a:spcPts val="1000"/>
              </a:spcAft>
              <a:buSzPct val="100000"/>
              <a:buChar char="•"/>
            </a:pPr>
            <a:r>
              <a:rPr lang="en-US" sz="2400" dirty="0">
                <a:solidFill>
                  <a:srgbClr val="FFFFFF"/>
                </a:solidFill>
              </a:rPr>
              <a:t>The question becomes: how do you know it's right?</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2</a:t>
            </a:fld>
            <a:endParaRPr lang="en-US"/>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How liability used to be built in</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Consulting an expert was the risk control</a:t>
            </a:r>
            <a:endParaRPr lang="en-US" sz="2400" dirty="0"/>
          </a:p>
          <a:p>
            <a:pPr algn="l" marL="342900" indent="-342900">
              <a:spcAft>
                <a:spcPts val="1000"/>
              </a:spcAft>
              <a:buSzPct val="100000"/>
              <a:buChar char="•"/>
            </a:pPr>
            <a:r>
              <a:rPr lang="en-US" sz="2400" dirty="0">
                <a:solidFill>
                  <a:srgbClr val="FFFFFF"/>
                </a:solidFill>
              </a:rPr>
              <a:t>A PhD: several experts agree you did it right</a:t>
            </a:r>
            <a:endParaRPr lang="en-US" sz="2400" dirty="0"/>
          </a:p>
          <a:p>
            <a:pPr algn="l" marL="342900" indent="-342900">
              <a:spcAft>
                <a:spcPts val="1000"/>
              </a:spcAft>
              <a:buSzPct val="100000"/>
              <a:buChar char="•"/>
            </a:pPr>
            <a:r>
              <a:rPr lang="en-US" sz="2400" dirty="0">
                <a:solidFill>
                  <a:srgbClr val="FFFFFF"/>
                </a:solidFill>
              </a:rPr>
              <a:t>Peer review as built-in quality assurance</a:t>
            </a:r>
            <a:endParaRPr lang="en-US" sz="2400" dirty="0"/>
          </a:p>
          <a:p>
            <a:pPr algn="l" marL="342900" indent="-342900">
              <a:spcAft>
                <a:spcPts val="1000"/>
              </a:spcAft>
              <a:buSzPct val="100000"/>
              <a:buChar char="•"/>
            </a:pPr>
            <a:r>
              <a:rPr lang="en-US" sz="2400" dirty="0">
                <a:solidFill>
                  <a:srgbClr val="FFFFFF"/>
                </a:solidFill>
              </a:rPr>
              <a:t>Outside that structure, accountability fades</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3</a:t>
            </a:fld>
            <a:endParaRPr lang="en-US"/>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Complexity raises the stakes</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From a t-test on 30 values to models on billion-row tables</a:t>
            </a:r>
            <a:endParaRPr lang="en-US" sz="2400" dirty="0"/>
          </a:p>
          <a:p>
            <a:pPr algn="l" marL="342900" indent="-342900">
              <a:spcAft>
                <a:spcPts val="1000"/>
              </a:spcAft>
              <a:buSzPct val="100000"/>
              <a:buChar char="•"/>
            </a:pPr>
            <a:r>
              <a:rPr lang="en-US" sz="2400" dirty="0">
                <a:solidFill>
                  <a:srgbClr val="FFFFFF"/>
                </a:solidFill>
              </a:rPr>
              <a:t>Wider capability brings wider complexity</a:t>
            </a:r>
            <a:endParaRPr lang="en-US" sz="2400" dirty="0"/>
          </a:p>
          <a:p>
            <a:pPr algn="l" marL="342900" indent="-342900">
              <a:spcAft>
                <a:spcPts val="1000"/>
              </a:spcAft>
              <a:buSzPct val="100000"/>
              <a:buChar char="•"/>
            </a:pPr>
            <a:r>
              <a:rPr lang="en-US" sz="2400" dirty="0">
                <a:solidFill>
                  <a:srgbClr val="FFFFFF"/>
                </a:solidFill>
              </a:rPr>
              <a:t>"How do you know this is right?" matters more</a:t>
            </a:r>
            <a:endParaRPr lang="en-US" sz="2400" dirty="0"/>
          </a:p>
          <a:p>
            <a:pPr algn="l" marL="342900" indent="-342900">
              <a:spcAft>
                <a:spcPts val="1000"/>
              </a:spcAft>
              <a:buSzPct val="100000"/>
              <a:buChar char="•"/>
            </a:pPr>
            <a:r>
              <a:rPr lang="en-US" sz="2400" dirty="0">
                <a:solidFill>
                  <a:srgbClr val="FFFFFF"/>
                </a:solidFill>
              </a:rPr>
              <a:t>Teams must build QA and QC on purpose</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4</a:t>
            </a:fld>
            <a:endParaRPr lang="en-US"/>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AI and the lean analytics team</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Most analytics teams are cost centers</a:t>
            </a:r>
            <a:endParaRPr lang="en-US" sz="2400" dirty="0"/>
          </a:p>
          <a:p>
            <a:pPr algn="l" marL="342900" indent="-342900">
              <a:spcAft>
                <a:spcPts val="1000"/>
              </a:spcAft>
              <a:buSzPct val="100000"/>
              <a:buChar char="•"/>
            </a:pPr>
            <a:r>
              <a:rPr lang="en-US" sz="2400" dirty="0">
                <a:solidFill>
                  <a:srgbClr val="FFFFFF"/>
                </a:solidFill>
              </a:rPr>
              <a:t>AI will automate dashboards and first-pass results</a:t>
            </a:r>
            <a:endParaRPr lang="en-US" sz="2400" dirty="0"/>
          </a:p>
          <a:p>
            <a:pPr algn="l" marL="342900" indent="-342900">
              <a:spcAft>
                <a:spcPts val="1000"/>
              </a:spcAft>
              <a:buSzPct val="100000"/>
              <a:buChar char="•"/>
            </a:pPr>
            <a:r>
              <a:rPr lang="en-US" sz="2400" dirty="0">
                <a:solidFill>
                  <a:srgbClr val="FFFFFF"/>
                </a:solidFill>
              </a:rPr>
              <a:t>Leaders will build smaller, lower-cost teams</a:t>
            </a:r>
            <a:endParaRPr lang="en-US" sz="2400" dirty="0"/>
          </a:p>
          <a:p>
            <a:pPr algn="l" marL="342900" indent="-342900">
              <a:spcAft>
                <a:spcPts val="1000"/>
              </a:spcAft>
              <a:buSzPct val="100000"/>
              <a:buChar char="•"/>
            </a:pPr>
            <a:r>
              <a:rPr lang="en-US" sz="2400" dirty="0">
                <a:solidFill>
                  <a:srgbClr val="FFFFFF"/>
                </a:solidFill>
              </a:rPr>
              <a:t>The question: how do we protect against error?</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5</a:t>
            </a:fld>
            <a:endParaRPr lang="en-US"/>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Three things that must stay in place</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Technical fluency: read, debug and fix AI-written SQL and Python</a:t>
            </a:r>
            <a:endParaRPr lang="en-US" sz="2400" dirty="0"/>
          </a:p>
          <a:p>
            <a:pPr algn="l" marL="342900" indent="-342900">
              <a:spcAft>
                <a:spcPts val="1000"/>
              </a:spcAft>
              <a:buSzPct val="100000"/>
              <a:buChar char="•"/>
            </a:pPr>
            <a:r>
              <a:rPr lang="en-US" sz="2400" dirty="0">
                <a:solidFill>
                  <a:srgbClr val="FFFFFF"/>
                </a:solidFill>
              </a:rPr>
              <a:t>Validation designed around the user and the business need</a:t>
            </a:r>
            <a:endParaRPr lang="en-US" sz="2400" dirty="0"/>
          </a:p>
          <a:p>
            <a:pPr algn="l" marL="342900" indent="-342900">
              <a:spcAft>
                <a:spcPts val="1000"/>
              </a:spcAft>
              <a:buSzPct val="100000"/>
              <a:buChar char="•"/>
            </a:pPr>
            <a:r>
              <a:rPr lang="en-US" sz="2400" dirty="0">
                <a:solidFill>
                  <a:srgbClr val="FFFFFF"/>
                </a:solidFill>
              </a:rPr>
              <a:t>A named person accountable for each delivery</a:t>
            </a:r>
            <a:endParaRPr lang="en-US" sz="2400" dirty="0"/>
          </a:p>
          <a:p>
            <a:pPr algn="l" marL="342900" indent="-342900">
              <a:spcAft>
                <a:spcPts val="1000"/>
              </a:spcAft>
              <a:buSzPct val="100000"/>
              <a:buChar char="•"/>
            </a:pPr>
            <a:r>
              <a:rPr lang="en-US" sz="2400" dirty="0">
                <a:solidFill>
                  <a:srgbClr val="FFFFFF"/>
                </a:solidFill>
              </a:rPr>
              <a:t>"The agent said so" is not a defense</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6</a:t>
            </a:fld>
            <a:endParaRPr lang="en-US"/>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Capability 25%, liability 75%</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Smaller teams, more responsibility at junior levels</a:t>
            </a:r>
            <a:endParaRPr lang="en-US" sz="2400" dirty="0"/>
          </a:p>
          <a:p>
            <a:pPr algn="l" marL="342900" indent="-342900">
              <a:spcAft>
                <a:spcPts val="1000"/>
              </a:spcAft>
              <a:buSzPct val="100000"/>
              <a:buChar char="•"/>
            </a:pPr>
            <a:r>
              <a:rPr lang="en-US" sz="2400" dirty="0">
                <a:solidFill>
                  <a:srgbClr val="FFFFFF"/>
                </a:solidFill>
              </a:rPr>
              <a:t>You can't take responsibility for errors you can't prevent</a:t>
            </a:r>
            <a:endParaRPr lang="en-US" sz="2400" dirty="0"/>
          </a:p>
          <a:p>
            <a:pPr algn="l" marL="342900" indent="-342900">
              <a:spcAft>
                <a:spcPts val="1000"/>
              </a:spcAft>
              <a:buSzPct val="100000"/>
              <a:buChar char="•"/>
            </a:pPr>
            <a:r>
              <a:rPr lang="en-US" sz="2400" dirty="0">
                <a:solidFill>
                  <a:srgbClr val="FFFFFF"/>
                </a:solidFill>
              </a:rPr>
              <a:t>Accountability is the skill that keeps teams safe</a:t>
            </a:r>
            <a:endParaRPr lang="en-US" sz="2400" dirty="0"/>
          </a:p>
          <a:p>
            <a:pPr algn="l" marL="342900" indent="-342900">
              <a:spcAft>
                <a:spcPts val="1000"/>
              </a:spcAft>
              <a:buSzPct val="100000"/>
              <a:buChar char="•"/>
            </a:pPr>
            <a:r>
              <a:rPr lang="en-US" sz="2400" dirty="0">
                <a:solidFill>
                  <a:srgbClr val="FFFFFF"/>
                </a:solidFill>
              </a:rPr>
              <a:t>This course prepares you to carry that liability</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7</a:t>
            </a:fld>
            <a:endParaRPr lang="en-US"/>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Discussion</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In your field, who is accountable when an analysis or AI-generated result is wrong, and what would you need to know or have in place to take that responsibility yourself?</a:t>
            </a:r>
            <a:endParaRPr lang="en-US" sz="2400" dirty="0"/>
          </a:p>
          <a:p>
            <a:pPr algn="l" marL="342900" indent="-342900">
              <a:spcAft>
                <a:spcPts val="1000"/>
              </a:spcAft>
              <a:buSzPct val="100000"/>
              <a:buChar char="•"/>
            </a:pPr>
            <a:r>
              <a:rPr lang="en-US" sz="2400" dirty="0">
                <a:solidFill>
                  <a:srgbClr val="FFFFFF"/>
                </a:solidFill>
              </a:rPr>
              <a:t>Draw on your own experience and career, and apply today's seminar to that setting.</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Liability over Capability</dc:title>
  <dc:subject>Capstone Seminar 2</dc:subject>
  <dc:creator>Health-Data-Analytics</dc:creator>
  <cp:lastModifiedBy>Health-Data-Analytics</cp:lastModifiedBy>
  <cp:revision>1</cp:revision>
  <dcterms:created xsi:type="dcterms:W3CDTF">2026-10-13T20:23:19Z</dcterms:created>
  <dcterms:modified xsi:type="dcterms:W3CDTF">2026-10-13T20:23:19Z</dcterms:modified>
</cp:coreProperties>
</file>