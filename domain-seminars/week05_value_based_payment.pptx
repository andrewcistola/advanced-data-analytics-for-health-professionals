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 id="272"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5: Value Based Payment Current State. We will go through basics and terminology, where the topic is found across industry and policy, reform goals, how analytics is deployed, and how analytics drives decisions.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Health Care Payment Learning and Action Network (HCP-LAN) framework sorts payment into four categories: fee-for-service, fee-for-service linked to quality, alternative payment models built on fee-for-service (shared savings and shared risk), and population-based payment. Upside-only arrangements share savings; two-sided arrangements also share losses. Nothing works without attribution, because the benchmark, the spending and the quality scores are all calculated on the attributed population.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CMS 2026 Medicare Shared Savings Program fast facts. The MSSP, created by the Affordable Care Act, is Medicare's largest value-based program; ACO REACH covers about 1.7 million more. Commercial and Medicare Advantage plans contract with the same provider groups using their own attribution rules, so one practice may be accountable under several definitions at once.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CMS Innovation Center's LEAD model (Long-term Enhanced ACO Design) begins after REACH ends and runs ten years, the longest it has tested, with prospective population-based payments and two risk tracks. TEAM is a mandatory episode-based model for selected hospitals that began in 2026. ACCESS pays for technology-enabled chronic care with payments tied to outcomes. The common thread is longer commitments and more financial accountability for providers.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ACOs receive claims feeds from CMS and from contracted plans and rebuild their attributed population regularly. Leakage analysis shows how much of an attributed patient's spending happens outside the ACO, which shapes network and referral strategy.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Medicare's MSSP assigns each beneficiary to the practice that provided the plurality of their primary care services, with steps for specialists when no primary care visits exist. HMO assignment is set at enrollment and often reflects auto-assignment rather than where the member actually goes. When the two disagree, care managers call patients who don't know them, and quality gaps land on the wrong practice.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5: Value Based Payment Current State</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5 Domain Seminar</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paying for value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Fee-for-service pays per unit; value-based pays for results</a:t>
            </a:r>
            <a:endParaRPr lang="en-US" sz="2400" dirty="0"/>
          </a:p>
          <a:p>
            <a:pPr algn="l" marL="342900" indent="-342900">
              <a:spcAft>
                <a:spcPts val="1000"/>
              </a:spcAft>
              <a:buSzPct val="100000"/>
              <a:buChar char="•"/>
            </a:pPr>
            <a:r>
              <a:rPr lang="en-US" sz="2400" dirty="0">
                <a:solidFill>
                  <a:srgbClr val="FFFFFF"/>
                </a:solidFill>
              </a:rPr>
              <a:t>ACO: providers jointly accountable for cost and quality</a:t>
            </a:r>
            <a:endParaRPr lang="en-US" sz="2400" dirty="0"/>
          </a:p>
          <a:p>
            <a:pPr algn="l" marL="342900" indent="-342900">
              <a:spcAft>
                <a:spcPts val="1000"/>
              </a:spcAft>
              <a:buSzPct val="100000"/>
              <a:buChar char="•"/>
            </a:pPr>
            <a:r>
              <a:rPr lang="en-US" sz="2400" dirty="0">
                <a:solidFill>
                  <a:srgbClr val="FFFFFF"/>
                </a:solidFill>
              </a:rPr>
              <a:t>Shared savings: keep part of spending below a benchmark</a:t>
            </a:r>
            <a:endParaRPr lang="en-US" sz="2400" dirty="0"/>
          </a:p>
          <a:p>
            <a:pPr algn="l" marL="342900" indent="-342900">
              <a:spcAft>
                <a:spcPts val="1000"/>
              </a:spcAft>
              <a:buSzPct val="100000"/>
              <a:buChar char="•"/>
            </a:pPr>
            <a:r>
              <a:rPr lang="en-US" sz="2400" dirty="0">
                <a:solidFill>
                  <a:srgbClr val="FFFFFF"/>
                </a:solidFill>
              </a:rPr>
              <a:t>Attribution: which patients count toward which provider</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ACOs in Medicare and beyond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14.3 million Medicare beneficiaries in ACOs (2026)</a:t>
            </a:r>
            <a:endParaRPr lang="en-US" sz="2400" dirty="0"/>
          </a:p>
          <a:p>
            <a:pPr algn="l" marL="342900" indent="-342900">
              <a:spcAft>
                <a:spcPts val="1000"/>
              </a:spcAft>
              <a:buSzPct val="100000"/>
              <a:buChar char="•"/>
            </a:pPr>
            <a:r>
              <a:rPr lang="en-US" sz="2400" dirty="0">
                <a:solidFill>
                  <a:srgbClr val="FFFFFF"/>
                </a:solidFill>
              </a:rPr>
              <a:t>MSSP: 511 ACOs serving 12.6 million beneficiaries</a:t>
            </a:r>
            <a:endParaRPr lang="en-US" sz="2400" dirty="0"/>
          </a:p>
          <a:p>
            <a:pPr algn="l" marL="342900" indent="-342900">
              <a:spcAft>
                <a:spcPts val="1000"/>
              </a:spcAft>
              <a:buSzPct val="100000"/>
              <a:buChar char="•"/>
            </a:pPr>
            <a:r>
              <a:rPr lang="en-US" sz="2400" dirty="0">
                <a:solidFill>
                  <a:srgbClr val="FFFFFF"/>
                </a:solidFill>
              </a:rPr>
              <a:t>MA, Medicaid and commercial plans run VBP contracts</a:t>
            </a:r>
            <a:endParaRPr lang="en-US" sz="2400" dirty="0"/>
          </a:p>
          <a:p>
            <a:pPr algn="l" marL="342900" indent="-342900">
              <a:spcAft>
                <a:spcPts val="1000"/>
              </a:spcAft>
              <a:buSzPct val="100000"/>
              <a:buChar char="•"/>
            </a:pPr>
            <a:r>
              <a:rPr lang="en-US" sz="2400" dirty="0">
                <a:solidFill>
                  <a:srgbClr val="FFFFFF"/>
                </a:solidFill>
              </a:rPr>
              <a:t>HMO plans assign each member a PCP</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everyone in accountable care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CMS goal: all Traditional Medicare in accountable care by 2030</a:t>
            </a:r>
            <a:endParaRPr lang="en-US" sz="2400" dirty="0"/>
          </a:p>
          <a:p>
            <a:pPr algn="l" marL="342900" indent="-342900">
              <a:spcAft>
                <a:spcPts val="1000"/>
              </a:spcAft>
              <a:buSzPct val="100000"/>
              <a:buChar char="•"/>
            </a:pPr>
            <a:r>
              <a:rPr lang="en-US" sz="2400" dirty="0">
                <a:solidFill>
                  <a:srgbClr val="FFFFFF"/>
                </a:solidFill>
              </a:rPr>
              <a:t>ACO REACH ends 2026; LEAD is a 10-year successor</a:t>
            </a:r>
            <a:endParaRPr lang="en-US" sz="2400" dirty="0"/>
          </a:p>
          <a:p>
            <a:pPr algn="l" marL="342900" indent="-342900">
              <a:spcAft>
                <a:spcPts val="1000"/>
              </a:spcAft>
              <a:buSzPct val="100000"/>
              <a:buChar char="•"/>
            </a:pPr>
            <a:r>
              <a:rPr lang="en-US" sz="2400" dirty="0">
                <a:solidFill>
                  <a:srgbClr val="FFFFFF"/>
                </a:solidFill>
              </a:rPr>
              <a:t>Longer, more predictable models with more risk</a:t>
            </a:r>
            <a:endParaRPr lang="en-US" sz="2400" dirty="0"/>
          </a:p>
          <a:p>
            <a:pPr algn="l" marL="342900" indent="-342900">
              <a:spcAft>
                <a:spcPts val="1000"/>
              </a:spcAft>
              <a:buSzPct val="100000"/>
              <a:buChar char="•"/>
            </a:pPr>
            <a:r>
              <a:rPr lang="en-US" sz="2400" dirty="0">
                <a:solidFill>
                  <a:srgbClr val="FFFFFF"/>
                </a:solidFill>
              </a:rPr>
              <a:t>Episode (TEAM) and chronic care (ACCESS) models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Attribution rerun monthly or quarterly</a:t>
            </a:r>
            <a:endParaRPr lang="en-US" sz="2400" dirty="0"/>
          </a:p>
          <a:p>
            <a:pPr algn="l" marL="342900" indent="-342900">
              <a:spcAft>
                <a:spcPts val="1000"/>
              </a:spcAft>
              <a:buSzPct val="100000"/>
              <a:buChar char="•"/>
            </a:pPr>
            <a:r>
              <a:rPr lang="en-US" sz="2400" dirty="0">
                <a:solidFill>
                  <a:srgbClr val="FFFFFF"/>
                </a:solidFill>
              </a:rPr>
              <a:t>Spending tracked against the benchmark</a:t>
            </a:r>
            <a:endParaRPr lang="en-US" sz="2400" dirty="0"/>
          </a:p>
          <a:p>
            <a:pPr algn="l" marL="342900" indent="-342900">
              <a:spcAft>
                <a:spcPts val="1000"/>
              </a:spcAft>
              <a:buSzPct val="100000"/>
              <a:buChar char="•"/>
            </a:pPr>
            <a:r>
              <a:rPr lang="en-US" sz="2400" dirty="0">
                <a:solidFill>
                  <a:srgbClr val="FFFFFF"/>
                </a:solidFill>
              </a:rPr>
              <a:t>Care-gap and high-risk lists for each practice</a:t>
            </a:r>
            <a:endParaRPr lang="en-US" sz="2400" dirty="0"/>
          </a:p>
          <a:p>
            <a:pPr algn="l" marL="342900" indent="-342900">
              <a:spcAft>
                <a:spcPts val="1000"/>
              </a:spcAft>
              <a:buSzPct val="100000"/>
              <a:buChar char="•"/>
            </a:pPr>
            <a:r>
              <a:rPr lang="en-US" sz="2400" dirty="0">
                <a:solidFill>
                  <a:srgbClr val="FFFFFF"/>
                </a:solidFill>
              </a:rPr>
              <a:t>Leakage: care received outside the network</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who belongs to whom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Plurality rule: the PCP with the most primary care visits</a:t>
            </a:r>
            <a:endParaRPr lang="en-US" sz="2400" dirty="0"/>
          </a:p>
          <a:p>
            <a:pPr algn="l" marL="342900" indent="-342900">
              <a:spcAft>
                <a:spcPts val="1000"/>
              </a:spcAft>
              <a:buSzPct val="100000"/>
              <a:buChar char="•"/>
            </a:pPr>
            <a:r>
              <a:rPr lang="en-US" sz="2400" dirty="0">
                <a:solidFill>
                  <a:srgbClr val="FFFFFF"/>
                </a:solidFill>
              </a:rPr>
              <a:t>Ties broken by the most recent visit</a:t>
            </a:r>
            <a:endParaRPr lang="en-US" sz="2400" dirty="0"/>
          </a:p>
          <a:p>
            <a:pPr algn="l" marL="342900" indent="-342900">
              <a:spcAft>
                <a:spcPts val="1000"/>
              </a:spcAft>
              <a:buSzPct val="100000"/>
              <a:buChar char="•"/>
            </a:pPr>
            <a:r>
              <a:rPr lang="en-US" sz="2400" dirty="0">
                <a:solidFill>
                  <a:srgbClr val="FFFFFF"/>
                </a:solidFill>
              </a:rPr>
              <a:t>Plan-assigned PCPs often differ from actual care</a:t>
            </a:r>
            <a:endParaRPr lang="en-US" sz="2400" dirty="0"/>
          </a:p>
          <a:p>
            <a:pPr algn="l" marL="342900" indent="-342900">
              <a:spcAft>
                <a:spcPts val="1000"/>
              </a:spcAft>
              <a:buSzPct val="100000"/>
              <a:buChar char="•"/>
            </a:pPr>
            <a:r>
              <a:rPr lang="en-US" sz="2400" dirty="0">
                <a:solidFill>
                  <a:srgbClr val="FFFFFF"/>
                </a:solidFill>
              </a:rPr>
              <a:t>Mismatches distort outreach, quality scores and payment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How is your organization, or one you know well, paid for quality and cost today, and which patients does it count as its own?</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 Based Payment Current State</dc:title>
  <dc:subject>Week 5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