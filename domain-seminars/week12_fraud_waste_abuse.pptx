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12: Fraud, Waste, and Abuse.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separates fraud from abuse and waste. Upcoding bills a more expensive service than was provided; unbundling bills separately for parts of a single service; phantom billing charges for services never delivered. Improper payments are a broader category that also includes documentation and coding errors without intent.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2025 National Health Care Fraud Takedown was the largest in DOJ history. Its biggest case, Operation Gold Rush, involved about $10.6 billion in alleged urinary catheter and DME claims using stolen identities, flagged by DOJ's health care fraud data analytics team. Source: DOJ press release, June 30, 2025.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Recovering money after payment is slow and partial, so the emphasis is shifting to pre-payment screening such as CMS's Fraud Prevention System. DOJ, HHS-OIG and the FBI announced a Data Fusion Center using cloud computing and AI. The same takedown included a scheme that allegedly used AI-generated consent recordings, so detection has to keep 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rules catch the obvious: more billed hours than exist in a day, services dated after a patient's death. Peer comparison asks whether a provider's code mix, units or patient travel distance look like others in the same specialty. Unsupervised methods find patterns no one wrote a rule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investigations unit can audit only a few providers a year, so ranking matters. Unusual is not the same as fraudulent: some outliers have legitimate explanations, such as a specialty clinic. Analytics produces leads; investigators with medical records and due process make the determination.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Fraud, Waste, and Abuse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fraud, waste and abuse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Fraud: intentional deception to get paid</a:t>
            </a:r>
            <a:endParaRPr lang="en-US" sz="2400" dirty="0"/>
          </a:p>
          <a:p>
            <a:pPr algn="l" marL="342900" indent="-342900">
              <a:spcAft>
                <a:spcPts val="1000"/>
              </a:spcAft>
              <a:buSzPct val="100000"/>
              <a:buChar char="•"/>
            </a:pPr>
            <a:r>
              <a:rPr lang="en-US" sz="2400" dirty="0">
                <a:solidFill>
                  <a:srgbClr val="FFFFFF"/>
                </a:solidFill>
              </a:rPr>
              <a:t>Abuse: practices inconsistent with sound standards</a:t>
            </a:r>
            <a:endParaRPr lang="en-US" sz="2400" dirty="0"/>
          </a:p>
          <a:p>
            <a:pPr algn="l" marL="342900" indent="-342900">
              <a:spcAft>
                <a:spcPts val="1000"/>
              </a:spcAft>
              <a:buSzPct val="100000"/>
              <a:buChar char="•"/>
            </a:pPr>
            <a:r>
              <a:rPr lang="en-US" sz="2400" dirty="0">
                <a:solidFill>
                  <a:srgbClr val="FFFFFF"/>
                </a:solidFill>
              </a:rPr>
              <a:t>Waste: overuse or misuse of resources</a:t>
            </a:r>
            <a:endParaRPr lang="en-US" sz="2400" dirty="0"/>
          </a:p>
          <a:p>
            <a:pPr algn="l" marL="342900" indent="-342900">
              <a:spcAft>
                <a:spcPts val="1000"/>
              </a:spcAft>
              <a:buSzPct val="100000"/>
              <a:buChar char="•"/>
            </a:pPr>
            <a:r>
              <a:rPr lang="en-US" sz="2400" dirty="0">
                <a:solidFill>
                  <a:srgbClr val="FFFFFF"/>
                </a:solidFill>
              </a:rPr>
              <a:t>Schemes: upcoding, unbundling, phantom billing, kickbacks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laws, agencies, investigators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False Claims Act, Anti-Kickback Statute, Stark Law</a:t>
            </a:r>
            <a:endParaRPr lang="en-US" sz="2400" dirty="0"/>
          </a:p>
          <a:p>
            <a:pPr algn="l" marL="342900" indent="-342900">
              <a:spcAft>
                <a:spcPts val="1000"/>
              </a:spcAft>
              <a:buSzPct val="100000"/>
              <a:buChar char="•"/>
            </a:pPr>
            <a:r>
              <a:rPr lang="en-US" sz="2400" dirty="0">
                <a:solidFill>
                  <a:srgbClr val="FFFFFF"/>
                </a:solidFill>
              </a:rPr>
              <a:t>HHS-OIG, DOJ, CMS, state Medicaid Fraud Control Units</a:t>
            </a:r>
            <a:endParaRPr lang="en-US" sz="2400" dirty="0"/>
          </a:p>
          <a:p>
            <a:pPr algn="l" marL="342900" indent="-342900">
              <a:spcAft>
                <a:spcPts val="1000"/>
              </a:spcAft>
              <a:buSzPct val="100000"/>
              <a:buChar char="•"/>
            </a:pPr>
            <a:r>
              <a:rPr lang="en-US" sz="2400" dirty="0">
                <a:solidFill>
                  <a:srgbClr val="FFFFFF"/>
                </a:solidFill>
              </a:rPr>
              <a:t>Health plan special investigations units (SIUs)</a:t>
            </a:r>
            <a:endParaRPr lang="en-US" sz="2400" dirty="0"/>
          </a:p>
          <a:p>
            <a:pPr algn="l" marL="342900" indent="-342900">
              <a:spcAft>
                <a:spcPts val="1000"/>
              </a:spcAft>
              <a:buSzPct val="100000"/>
              <a:buChar char="•"/>
            </a:pPr>
            <a:r>
              <a:rPr lang="en-US" sz="2400" dirty="0">
                <a:solidFill>
                  <a:srgbClr val="FFFFFF"/>
                </a:solidFill>
              </a:rPr>
              <a:t>2025 takedown: 324 defendants, $14.6B alleged loss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prevent, don't pay and chase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Stop bad payments before they go out</a:t>
            </a:r>
            <a:endParaRPr lang="en-US" sz="2400" dirty="0"/>
          </a:p>
          <a:p>
            <a:pPr algn="l" marL="342900" indent="-342900">
              <a:spcAft>
                <a:spcPts val="1000"/>
              </a:spcAft>
              <a:buSzPct val="100000"/>
              <a:buChar char="•"/>
            </a:pPr>
            <a:r>
              <a:rPr lang="en-US" sz="2400" dirty="0">
                <a:solidFill>
                  <a:srgbClr val="FFFFFF"/>
                </a:solidFill>
              </a:rPr>
              <a:t>New interagency Health Care Fraud Data Fusion Center</a:t>
            </a:r>
            <a:endParaRPr lang="en-US" sz="2400" dirty="0"/>
          </a:p>
          <a:p>
            <a:pPr algn="l" marL="342900" indent="-342900">
              <a:spcAft>
                <a:spcPts val="1000"/>
              </a:spcAft>
              <a:buSzPct val="100000"/>
              <a:buChar char="•"/>
            </a:pPr>
            <a:r>
              <a:rPr lang="en-US" sz="2400" dirty="0">
                <a:solidFill>
                  <a:srgbClr val="FFFFFF"/>
                </a:solidFill>
              </a:rPr>
              <a:t>AI-assisted prior authorization tested in Medicare</a:t>
            </a:r>
            <a:endParaRPr lang="en-US" sz="2400" dirty="0"/>
          </a:p>
          <a:p>
            <a:pPr algn="l" marL="342900" indent="-342900">
              <a:spcAft>
                <a:spcPts val="1000"/>
              </a:spcAft>
              <a:buSzPct val="100000"/>
              <a:buChar char="•"/>
            </a:pPr>
            <a:r>
              <a:rPr lang="en-US" sz="2400" dirty="0">
                <a:solidFill>
                  <a:srgbClr val="FFFFFF"/>
                </a:solidFill>
              </a:rPr>
              <a:t>Future: AI-enabled fraud, such as fake consent recordings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Rules: impossible days, services after death</a:t>
            </a:r>
            <a:endParaRPr lang="en-US" sz="2400" dirty="0"/>
          </a:p>
          <a:p>
            <a:pPr algn="l" marL="342900" indent="-342900">
              <a:spcAft>
                <a:spcPts val="1000"/>
              </a:spcAft>
              <a:buSzPct val="100000"/>
              <a:buChar char="•"/>
            </a:pPr>
            <a:r>
              <a:rPr lang="en-US" sz="2400" dirty="0">
                <a:solidFill>
                  <a:srgbClr val="FFFFFF"/>
                </a:solidFill>
              </a:rPr>
              <a:t>Peer comparison of billing patterns</a:t>
            </a:r>
            <a:endParaRPr lang="en-US" sz="2400" dirty="0"/>
          </a:p>
          <a:p>
            <a:pPr algn="l" marL="342900" indent="-342900">
              <a:spcAft>
                <a:spcPts val="1000"/>
              </a:spcAft>
              <a:buSzPct val="100000"/>
              <a:buChar char="•"/>
            </a:pPr>
            <a:r>
              <a:rPr lang="en-US" sz="2400" dirty="0">
                <a:solidFill>
                  <a:srgbClr val="FFFFFF"/>
                </a:solidFill>
              </a:rPr>
              <a:t>Network analysis of referral relationships</a:t>
            </a:r>
            <a:endParaRPr lang="en-US" sz="2400" dirty="0"/>
          </a:p>
          <a:p>
            <a:pPr algn="l" marL="342900" indent="-342900">
              <a:spcAft>
                <a:spcPts val="1000"/>
              </a:spcAft>
              <a:buSzPct val="100000"/>
              <a:buChar char="•"/>
            </a:pPr>
            <a:r>
              <a:rPr lang="en-US" sz="2400" dirty="0">
                <a:solidFill>
                  <a:srgbClr val="FFFFFF"/>
                </a:solidFill>
              </a:rPr>
              <a:t>Unsupervised models find unusual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whom to audit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provider profiles: codes, units, patients, referrals</a:t>
            </a:r>
            <a:endParaRPr lang="en-US" sz="2400" dirty="0"/>
          </a:p>
          <a:p>
            <a:pPr algn="l" marL="342900" indent="-342900">
              <a:spcAft>
                <a:spcPts val="1000"/>
              </a:spcAft>
              <a:buSzPct val="100000"/>
              <a:buChar char="•"/>
            </a:pPr>
            <a:r>
              <a:rPr lang="en-US" sz="2400" dirty="0">
                <a:solidFill>
                  <a:srgbClr val="FFFFFF"/>
                </a:solidFill>
              </a:rPr>
              <a:t>Compare each provider with specialty peers</a:t>
            </a:r>
            <a:endParaRPr lang="en-US" sz="2400" dirty="0"/>
          </a:p>
          <a:p>
            <a:pPr algn="l" marL="342900" indent="-342900">
              <a:spcAft>
                <a:spcPts val="1000"/>
              </a:spcAft>
              <a:buSzPct val="100000"/>
              <a:buChar char="•"/>
            </a:pPr>
            <a:r>
              <a:rPr lang="en-US" sz="2400" dirty="0">
                <a:solidFill>
                  <a:srgbClr val="FFFFFF"/>
                </a:solidFill>
              </a:rPr>
              <a:t>Clusters and outliers become audit leads</a:t>
            </a:r>
            <a:endParaRPr lang="en-US" sz="2400" dirty="0"/>
          </a:p>
          <a:p>
            <a:pPr algn="l" marL="342900" indent="-342900">
              <a:spcAft>
                <a:spcPts val="1000"/>
              </a:spcAft>
              <a:buSzPct val="100000"/>
              <a:buChar char="•"/>
            </a:pPr>
            <a:r>
              <a:rPr lang="en-US" sz="2400" dirty="0">
                <a:solidFill>
                  <a:srgbClr val="FFFFFF"/>
                </a:solidFill>
              </a:rPr>
              <a:t>Investigators confirm; analytics only prioritizes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 Waste, and Abuse</dc:title>
  <dc:subject>Week 12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