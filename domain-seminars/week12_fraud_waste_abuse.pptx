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6" r:id="rId17"/>
    <p:sldId id="267" r:id="rId18"/>
    <p:sldId id="268" r:id="rId19"/>
    <p:sldId id="269" r:id="rId20"/>
    <p:sldId id="270" r:id="rId21"/>
    <p:sldId id="271" r:id="rId22"/>
    <p:sldId id="272"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1" Type="http://schemas.openxmlformats.org/officeDocument/2006/relationships/slide" Target="slides/slide7.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students a few minutes to write an answer drawn from their own experience and career, then ask two or three to share. Connect their examples back to this seminar's content. In an online section, post the same question to the discussion board.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seminar for week 12: Fraud, Waste, and Abuse. We will go through basics and terminology, where the topic is found across industry and policy, reform goals, how analytics is deployed, and how analytics drives decisions. Provide opening remarks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Intent separates fraud from abuse and waste. Upcoding bills a more expensive service than was provided; unbundling bills separately for parts of a single service; phantom billing charges for services never delivered. Improper payments are a broader category that also includes documentation and coding errors without intent.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June 2025 National Health Care Fraud Takedown was the largest in DOJ history. Its biggest case, Operation Gold Rush, involved about $10.6 billion in alleged urinary catheter and DME claims using stolen identities, flagged by DOJ's health care fraud data analytics team. Source: DOJ press release, June 30, 2025.</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Recovering money after payment is slow and partial, so the emphasis is shifting to pre-payment screening such as CMS's Fraud Prevention System. DOJ, HHS-OIG and the FBI announced a Data Fusion Center using cloud computing and AI. The same takedown included a scheme that allegedly used AI-generated consent recordings, so detection has to keep pace.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Simple rules catch the obvious: more billed hours than exist in a day, services dated after a patient's death. Peer comparison asks whether a provider's code mix, units or patient travel distance look like others in the same specialty. Unsupervised methods find patterns no one wrote a rule for.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investigations unit can audit only a few providers a year, so ranking matters. Unusual is not the same as fraudulent: some outliers have legitimate explanations, such as a specialty clinic. Analytics produces leads; investigators with medical records and due process make the determination.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algn="l" indent="0" marL="0">
              <a:buNone/>
              <a:defRPr lang="en-US" sz="2200" dirty="0">
                <a:solidFill>
                  <a:srgbClr val="FFFFFF"/>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lstStyle>
            <a:lvl1pPr algn="l" indent="0" marL="0">
              <a:spcAft>
                <a:spcPts val="1000"/>
              </a:spcAft>
              <a:buNone/>
              <a:defRPr lang="en-US" sz="2400" dirty="0">
                <a:solidFill>
                  <a:srgbClr val="FFFFFF"/>
                </a:solidFill>
              </a:defRPr>
            </a:lvl1pPr>
          </a:lstStyle>
          <a:p>
            <a:pPr algn="l" indent="0" marL="0">
              <a:spcAft>
                <a:spcPts val="1000"/>
              </a:spcAft>
              <a:buNone/>
            </a:pP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000" b="1" dirty="0">
                <a:solidFill>
                  <a:srgbClr val="FFFFFF"/>
                </a:solidFill>
              </a:rPr>
              <a:t>Week 12: Fraud, Waste, and Abuse</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algn="l" indent="0" marL="0">
              <a:buNone/>
            </a:pPr>
            <a:r>
              <a:rPr lang="en-US" sz="2200" dirty="0">
                <a:solidFill>
                  <a:srgbClr val="FFFFFF"/>
                </a:solidFill>
              </a:rPr>
              <a:t>Health Data Analytics · Week 12 Domain Seminar</a:t>
            </a:r>
            <a:endParaRPr lang="en-US" sz="22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Basics: fraud, waste and abuse</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Fraud: intentional deception to get paid</a:t>
            </a:r>
            <a:endParaRPr lang="en-US" sz="2400" dirty="0"/>
          </a:p>
          <a:p>
            <a:pPr algn="l" marL="342900" indent="-342900">
              <a:spcAft>
                <a:spcPts val="1000"/>
              </a:spcAft>
              <a:buSzPct val="100000"/>
              <a:buChar char="•"/>
            </a:pPr>
            <a:r>
              <a:rPr lang="en-US" sz="2400" dirty="0">
                <a:solidFill>
                  <a:srgbClr val="FFFFFF"/>
                </a:solidFill>
              </a:rPr>
              <a:t>Abuse: practices inconsistent with sound standards</a:t>
            </a:r>
            <a:endParaRPr lang="en-US" sz="2400" dirty="0"/>
          </a:p>
          <a:p>
            <a:pPr algn="l" marL="342900" indent="-342900">
              <a:spcAft>
                <a:spcPts val="1000"/>
              </a:spcAft>
              <a:buSzPct val="100000"/>
              <a:buChar char="•"/>
            </a:pPr>
            <a:r>
              <a:rPr lang="en-US" sz="2400" dirty="0">
                <a:solidFill>
                  <a:srgbClr val="FFFFFF"/>
                </a:solidFill>
              </a:rPr>
              <a:t>Waste: overuse or misuse of resources</a:t>
            </a:r>
            <a:endParaRPr lang="en-US" sz="2400" dirty="0"/>
          </a:p>
          <a:p>
            <a:pPr algn="l" marL="342900" indent="-342900">
              <a:spcAft>
                <a:spcPts val="1000"/>
              </a:spcAft>
              <a:buSzPct val="100000"/>
              <a:buChar char="•"/>
            </a:pPr>
            <a:r>
              <a:rPr lang="en-US" sz="2400" dirty="0">
                <a:solidFill>
                  <a:srgbClr val="FFFFFF"/>
                </a:solidFill>
              </a:rPr>
              <a:t>Schemes: upcoding, unbundling, phantom billing, kickbacks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Where it sits: laws, agencies, investigators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False Claims Act, Anti-Kickback Statute, Stark Law</a:t>
            </a:r>
            <a:endParaRPr lang="en-US" sz="2400" dirty="0"/>
          </a:p>
          <a:p>
            <a:pPr algn="l" marL="342900" indent="-342900">
              <a:spcAft>
                <a:spcPts val="1000"/>
              </a:spcAft>
              <a:buSzPct val="100000"/>
              <a:buChar char="•"/>
            </a:pPr>
            <a:r>
              <a:rPr lang="en-US" sz="2400" dirty="0">
                <a:solidFill>
                  <a:srgbClr val="FFFFFF"/>
                </a:solidFill>
              </a:rPr>
              <a:t>HHS-OIG, DOJ, CMS, state Medicaid Fraud Control Units</a:t>
            </a:r>
            <a:endParaRPr lang="en-US" sz="2400" dirty="0"/>
          </a:p>
          <a:p>
            <a:pPr algn="l" marL="342900" indent="-342900">
              <a:spcAft>
                <a:spcPts val="1000"/>
              </a:spcAft>
              <a:buSzPct val="100000"/>
              <a:buChar char="•"/>
            </a:pPr>
            <a:r>
              <a:rPr lang="en-US" sz="2400" dirty="0">
                <a:solidFill>
                  <a:srgbClr val="FFFFFF"/>
                </a:solidFill>
              </a:rPr>
              <a:t>Health plan special investigations units (SIUs)</a:t>
            </a:r>
            <a:endParaRPr lang="en-US" sz="2400" dirty="0"/>
          </a:p>
          <a:p>
            <a:pPr algn="l" marL="342900" indent="-342900">
              <a:spcAft>
                <a:spcPts val="1000"/>
              </a:spcAft>
              <a:buSzPct val="100000"/>
              <a:buChar char="•"/>
            </a:pPr>
            <a:r>
              <a:rPr lang="en-US" sz="2400" dirty="0">
                <a:solidFill>
                  <a:srgbClr val="FFFFFF"/>
                </a:solidFill>
              </a:rPr>
              <a:t>2025 takedown: 324 defendants, $14.6B alleged loss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Reform goals: prevent, don't pay and chase</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Stop bad payments before they go out</a:t>
            </a:r>
            <a:endParaRPr lang="en-US" sz="2400" dirty="0"/>
          </a:p>
          <a:p>
            <a:pPr algn="l" marL="342900" indent="-342900">
              <a:spcAft>
                <a:spcPts val="1000"/>
              </a:spcAft>
              <a:buSzPct val="100000"/>
              <a:buChar char="•"/>
            </a:pPr>
            <a:r>
              <a:rPr lang="en-US" sz="2400" dirty="0">
                <a:solidFill>
                  <a:srgbClr val="FFFFFF"/>
                </a:solidFill>
              </a:rPr>
              <a:t>New interagency Health Care Fraud Data Fusion Center</a:t>
            </a:r>
            <a:endParaRPr lang="en-US" sz="2400" dirty="0"/>
          </a:p>
          <a:p>
            <a:pPr algn="l" marL="342900" indent="-342900">
              <a:spcAft>
                <a:spcPts val="1000"/>
              </a:spcAft>
              <a:buSzPct val="100000"/>
              <a:buChar char="•"/>
            </a:pPr>
            <a:r>
              <a:rPr lang="en-US" sz="2400" dirty="0">
                <a:solidFill>
                  <a:srgbClr val="FFFFFF"/>
                </a:solidFill>
              </a:rPr>
              <a:t>AI-assisted prior authorization tested in Medicare</a:t>
            </a:r>
            <a:endParaRPr lang="en-US" sz="2400" dirty="0"/>
          </a:p>
          <a:p>
            <a:pPr algn="l" marL="342900" indent="-342900">
              <a:spcAft>
                <a:spcPts val="1000"/>
              </a:spcAft>
              <a:buSzPct val="100000"/>
              <a:buChar char="•"/>
            </a:pPr>
            <a:r>
              <a:rPr lang="en-US" sz="2400" dirty="0">
                <a:solidFill>
                  <a:srgbClr val="FFFFFF"/>
                </a:solidFill>
              </a:rPr>
              <a:t>Future: AI-enabled fraud, such as fake consent recordings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How analytics is deployed</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Rules: impossible days, services after death</a:t>
            </a:r>
            <a:endParaRPr lang="en-US" sz="2400" dirty="0"/>
          </a:p>
          <a:p>
            <a:pPr algn="l" marL="342900" indent="-342900">
              <a:spcAft>
                <a:spcPts val="1000"/>
              </a:spcAft>
              <a:buSzPct val="100000"/>
              <a:buChar char="•"/>
            </a:pPr>
            <a:r>
              <a:rPr lang="en-US" sz="2400" dirty="0">
                <a:solidFill>
                  <a:srgbClr val="FFFFFF"/>
                </a:solidFill>
              </a:rPr>
              <a:t>Peer comparison of billing patterns</a:t>
            </a:r>
            <a:endParaRPr lang="en-US" sz="2400" dirty="0"/>
          </a:p>
          <a:p>
            <a:pPr algn="l" marL="342900" indent="-342900">
              <a:spcAft>
                <a:spcPts val="1000"/>
              </a:spcAft>
              <a:buSzPct val="100000"/>
              <a:buChar char="•"/>
            </a:pPr>
            <a:r>
              <a:rPr lang="en-US" sz="2400" dirty="0">
                <a:solidFill>
                  <a:srgbClr val="FFFFFF"/>
                </a:solidFill>
              </a:rPr>
              <a:t>Network analysis of referral relationships</a:t>
            </a:r>
            <a:endParaRPr lang="en-US" sz="2400" dirty="0"/>
          </a:p>
          <a:p>
            <a:pPr algn="l" marL="342900" indent="-342900">
              <a:spcAft>
                <a:spcPts val="1000"/>
              </a:spcAft>
              <a:buSzPct val="100000"/>
              <a:buChar char="•"/>
            </a:pPr>
            <a:r>
              <a:rPr lang="en-US" sz="2400" dirty="0">
                <a:solidFill>
                  <a:srgbClr val="FFFFFF"/>
                </a:solidFill>
              </a:rPr>
              <a:t>Unsupervised models find unusual providers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Analytics in decisions: whom to audit</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Build provider profiles: codes, units, patients, referrals</a:t>
            </a:r>
            <a:endParaRPr lang="en-US" sz="2400" dirty="0"/>
          </a:p>
          <a:p>
            <a:pPr algn="l" marL="342900" indent="-342900">
              <a:spcAft>
                <a:spcPts val="1000"/>
              </a:spcAft>
              <a:buSzPct val="100000"/>
              <a:buChar char="•"/>
            </a:pPr>
            <a:r>
              <a:rPr lang="en-US" sz="2400" dirty="0">
                <a:solidFill>
                  <a:srgbClr val="FFFFFF"/>
                </a:solidFill>
              </a:rPr>
              <a:t>Compare each provider with specialty peers</a:t>
            </a:r>
            <a:endParaRPr lang="en-US" sz="2400" dirty="0"/>
          </a:p>
          <a:p>
            <a:pPr algn="l" marL="342900" indent="-342900">
              <a:spcAft>
                <a:spcPts val="1000"/>
              </a:spcAft>
              <a:buSzPct val="100000"/>
              <a:buChar char="•"/>
            </a:pPr>
            <a:r>
              <a:rPr lang="en-US" sz="2400" dirty="0">
                <a:solidFill>
                  <a:srgbClr val="FFFFFF"/>
                </a:solidFill>
              </a:rPr>
              <a:t>Clusters and outliers become audit leads</a:t>
            </a:r>
            <a:endParaRPr lang="en-US" sz="2400" dirty="0"/>
          </a:p>
          <a:p>
            <a:pPr algn="l" marL="342900" indent="-342900">
              <a:spcAft>
                <a:spcPts val="1000"/>
              </a:spcAft>
              <a:buSzPct val="100000"/>
              <a:buChar char="•"/>
            </a:pPr>
            <a:r>
              <a:rPr lang="en-US" sz="2400" dirty="0">
                <a:solidFill>
                  <a:srgbClr val="FFFFFF"/>
                </a:solidFill>
              </a:rPr>
              <a:t>Investigators confirm; analytics only prioritizes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Discussion</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What billing or utilization pattern in your field would make you suspicious, and how would you check it fairly before raising a concern?</a:t>
            </a:r>
            <a:endParaRPr lang="en-US" sz="2400" dirty="0"/>
          </a:p>
          <a:p>
            <a:pPr algn="l" marL="342900" indent="-342900">
              <a:spcAft>
                <a:spcPts val="1000"/>
              </a:spcAft>
              <a:buSzPct val="100000"/>
              <a:buChar char="•"/>
            </a:pPr>
            <a:r>
              <a:rPr lang="en-US" sz="2400" dirty="0">
                <a:solidFill>
                  <a:srgbClr val="FFFFFF"/>
                </a:solidFill>
              </a:rPr>
              <a:t>Draw on your own experience and career, and apply today's seminar to that setting.</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Fraud, Waste, and Abuse</dc:title>
  <dc:subject>Week 12 Domain Seminar</dc:subject>
  <dc:creator>Health-Data-Analytics</dc:creator>
  <cp:lastModifiedBy>Health-Data-Analytics</cp:lastModifiedBy>
  <cp:revision>1</cp:revision>
  <dcterms:created xsi:type="dcterms:W3CDTF">2026-10-13T20:23:19Z</dcterms:created>
  <dcterms:modified xsi:type="dcterms:W3CDTF">2026-10-13T20:23:19Z</dcterms:modified>
</cp:coreProperties>
</file>