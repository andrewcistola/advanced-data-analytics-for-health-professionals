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3: Claim Denials and Rework. It follows the course pattern: basics and terminology, where the topic sits in industry and policy, reform goals, how analytics is deployed, and how analytics drives decisions. Replace this note with your own opening remarks.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Claim adjustment reason codes (CARCs) and remittance advice remark codes (RARCs) come back on the 835 remittance and are maintained by national code committees. The group code says who is responsible for the adjusted amount. The initial denial rate counts denied original submissions over all original submissions. Many denials are preventable: eligibility, missing authorization, coding errors and late filing.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KFF analysis of 2024 Medicare Advantage prior authorization data (denial rate up from 6.4% in 2023). The low appeal rate and high overturn rate suggest many denials would not hold up if challenged. Since 2024, CMS rules require MA plans to follow Traditional Medicare coverage criteria, including the two-midnight rule for inpatient admissions, which makes inpatient-versus-observation denials a frequent dispute.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CMS Interoperability and Prior Authorization rule (CMS-0057-F) requires Medicare Advantage, Medicaid, CHIP and federal Marketplace plans to give specific reasons for prior authorization denials and to report approval and denial metrics publicly. Several states now require a clinician, not an algorithm alone, to make medical necessity denials. Payers use AI to review claims and providers use it to write appeals, which raises the stakes for validation on both sides.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systems map CARCs into a handful of categories (eligibility, authorization, coding, medical necessity, timely filing) so each has an owner. Claim scrubbers apply edits before submission. The true cost of a denial shows up only when you follow the account to its end: paid after appeal, paid by another payer, or written off.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 only original submissions when computing the initial denial rate, because corrected and rebilled claims are new rows. Ranking by count and ranking by dollars often differ. The best first fix is usually a preventable category where much of the money is never recovered.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Claim Denials and Rework</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3 Domain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denials and the codes behind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Denial: payer refuses to pay all or part of a claim</a:t>
            </a:r>
            <a:endParaRPr lang="en-US" sz="2400" dirty="0"/>
          </a:p>
          <a:p>
            <a:pPr algn="l" marL="342900" indent="-342900">
              <a:spcAft>
                <a:spcPts val="1000"/>
              </a:spcAft>
              <a:buSzPct val="100000"/>
              <a:buChar char="•"/>
            </a:pPr>
            <a:r>
              <a:rPr lang="en-US" sz="2400" dirty="0">
                <a:solidFill>
                  <a:srgbClr val="FFFFFF"/>
                </a:solidFill>
              </a:rPr>
              <a:t>CARCs say why; RARCs add detail</a:t>
            </a:r>
            <a:endParaRPr lang="en-US" sz="2400" dirty="0"/>
          </a:p>
          <a:p>
            <a:pPr algn="l" marL="342900" indent="-342900">
              <a:spcAft>
                <a:spcPts val="1000"/>
              </a:spcAft>
              <a:buSzPct val="100000"/>
              <a:buChar char="•"/>
            </a:pPr>
            <a:r>
              <a:rPr lang="en-US" sz="2400" dirty="0">
                <a:solidFill>
                  <a:srgbClr val="FFFFFF"/>
                </a:solidFill>
              </a:rPr>
              <a:t>Group codes: CO (provider), PR (patient), OA (other)</a:t>
            </a:r>
            <a:endParaRPr lang="en-US" sz="2400" dirty="0"/>
          </a:p>
          <a:p>
            <a:pPr algn="l" marL="342900" indent="-342900">
              <a:spcAft>
                <a:spcPts val="1000"/>
              </a:spcAft>
              <a:buSzPct val="100000"/>
              <a:buChar char="•"/>
            </a:pPr>
            <a:r>
              <a:rPr lang="en-US" sz="2400" dirty="0">
                <a:solidFill>
                  <a:srgbClr val="FFFFFF"/>
                </a:solidFill>
              </a:rPr>
              <a:t>Rework: corrected claims, appeals, rebills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payers, providers and regulators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Every remittance carries CARC and RARC codes</a:t>
            </a:r>
            <a:endParaRPr lang="en-US" sz="2400" dirty="0"/>
          </a:p>
          <a:p>
            <a:pPr algn="l" marL="342900" indent="-342900">
              <a:spcAft>
                <a:spcPts val="1000"/>
              </a:spcAft>
              <a:buSzPct val="100000"/>
              <a:buChar char="•"/>
            </a:pPr>
            <a:r>
              <a:rPr lang="en-US" sz="2400" dirty="0">
                <a:solidFill>
                  <a:srgbClr val="FFFFFF"/>
                </a:solidFill>
              </a:rPr>
              <a:t>MA plans made ~53M prior auth decisions in 2024; 7.7% denied</a:t>
            </a:r>
            <a:endParaRPr lang="en-US" sz="2400" dirty="0"/>
          </a:p>
          <a:p>
            <a:pPr algn="l" marL="342900" indent="-342900">
              <a:spcAft>
                <a:spcPts val="1000"/>
              </a:spcAft>
              <a:buSzPct val="100000"/>
              <a:buChar char="•"/>
            </a:pPr>
            <a:r>
              <a:rPr lang="en-US" sz="2400" dirty="0">
                <a:solidFill>
                  <a:srgbClr val="FFFFFF"/>
                </a:solidFill>
              </a:rPr>
              <a:t>Only 11.5% of denials were appealed; 81% of appeals won</a:t>
            </a:r>
            <a:endParaRPr lang="en-US" sz="2400" dirty="0"/>
          </a:p>
          <a:p>
            <a:pPr algn="l" marL="342900" indent="-342900">
              <a:spcAft>
                <a:spcPts val="1000"/>
              </a:spcAft>
              <a:buSzPct val="100000"/>
              <a:buChar char="•"/>
            </a:pPr>
            <a:r>
              <a:rPr lang="en-US" sz="2400" dirty="0">
                <a:solidFill>
                  <a:srgbClr val="FFFFFF"/>
                </a:solidFill>
              </a:rPr>
              <a:t>MA plans must follow Traditional Medicare coverage rules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fewer, clearer, faster denials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Payers must give specific denial reasons</a:t>
            </a:r>
            <a:endParaRPr lang="en-US" sz="2400" dirty="0"/>
          </a:p>
          <a:p>
            <a:pPr algn="l" marL="342900" indent="-342900">
              <a:spcAft>
                <a:spcPts val="1000"/>
              </a:spcAft>
              <a:buSzPct val="100000"/>
              <a:buChar char="•"/>
            </a:pPr>
            <a:r>
              <a:rPr lang="en-US" sz="2400" dirty="0">
                <a:solidFill>
                  <a:srgbClr val="FFFFFF"/>
                </a:solidFill>
              </a:rPr>
              <a:t>Public reporting of prior auth approvals and denials</a:t>
            </a:r>
            <a:endParaRPr lang="en-US" sz="2400" dirty="0"/>
          </a:p>
          <a:p>
            <a:pPr algn="l" marL="342900" indent="-342900">
              <a:spcAft>
                <a:spcPts val="1000"/>
              </a:spcAft>
              <a:buSzPct val="100000"/>
              <a:buChar char="•"/>
            </a:pPr>
            <a:r>
              <a:rPr lang="en-US" sz="2400" dirty="0">
                <a:solidFill>
                  <a:srgbClr val="FFFFFF"/>
                </a:solidFill>
              </a:rPr>
              <a:t>States limiting automated, AI-only denials</a:t>
            </a:r>
            <a:endParaRPr lang="en-US" sz="2400" dirty="0"/>
          </a:p>
          <a:p>
            <a:pPr algn="l" marL="342900" indent="-342900">
              <a:spcAft>
                <a:spcPts val="1000"/>
              </a:spcAft>
              <a:buSzPct val="100000"/>
              <a:buChar char="•"/>
            </a:pPr>
            <a:r>
              <a:rPr lang="en-US" sz="2400" dirty="0">
                <a:solidFill>
                  <a:srgbClr val="FFFFFF"/>
                </a:solidFill>
              </a:rPr>
              <a:t>Future: AI on both sides of the claim</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Denial dashboards by payer, reason and department</a:t>
            </a:r>
            <a:endParaRPr lang="en-US" sz="2400" dirty="0"/>
          </a:p>
          <a:p>
            <a:pPr algn="l" marL="342900" indent="-342900">
              <a:spcAft>
                <a:spcPts val="1000"/>
              </a:spcAft>
              <a:buSzPct val="100000"/>
              <a:buChar char="•"/>
            </a:pPr>
            <a:r>
              <a:rPr lang="en-US" sz="2400" dirty="0">
                <a:solidFill>
                  <a:srgbClr val="FFFFFF"/>
                </a:solidFill>
              </a:rPr>
              <a:t>Map codes into categories that point to a fix</a:t>
            </a:r>
            <a:endParaRPr lang="en-US" sz="2400" dirty="0"/>
          </a:p>
          <a:p>
            <a:pPr algn="l" marL="342900" indent="-342900">
              <a:spcAft>
                <a:spcPts val="1000"/>
              </a:spcAft>
              <a:buSzPct val="100000"/>
              <a:buChar char="•"/>
            </a:pPr>
            <a:r>
              <a:rPr lang="en-US" sz="2400" dirty="0">
                <a:solidFill>
                  <a:srgbClr val="FFFFFF"/>
                </a:solidFill>
              </a:rPr>
              <a:t>Pre-submission edits catch likely denials</a:t>
            </a:r>
            <a:endParaRPr lang="en-US" sz="2400" dirty="0"/>
          </a:p>
          <a:p>
            <a:pPr algn="l" marL="342900" indent="-342900">
              <a:spcAft>
                <a:spcPts val="1000"/>
              </a:spcAft>
              <a:buSzPct val="100000"/>
              <a:buChar char="•"/>
            </a:pPr>
            <a:r>
              <a:rPr lang="en-US" sz="2400" dirty="0">
                <a:solidFill>
                  <a:srgbClr val="FFFFFF"/>
                </a:solidFill>
              </a:rPr>
              <a:t>Track recovery: appealed, overturned, written off</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which denials to fix first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Initial denial rate by payer and over time</a:t>
            </a:r>
            <a:endParaRPr lang="en-US" sz="2400" dirty="0"/>
          </a:p>
          <a:p>
            <a:pPr algn="l" marL="342900" indent="-342900">
              <a:spcAft>
                <a:spcPts val="1000"/>
              </a:spcAft>
              <a:buSzPct val="100000"/>
              <a:buChar char="•"/>
            </a:pPr>
            <a:r>
              <a:rPr lang="en-US" sz="2400" dirty="0">
                <a:solidFill>
                  <a:srgbClr val="FFFFFF"/>
                </a:solidFill>
              </a:rPr>
              <a:t>Group reason codes into actionable categories</a:t>
            </a:r>
            <a:endParaRPr lang="en-US" sz="2400" dirty="0"/>
          </a:p>
          <a:p>
            <a:pPr algn="l" marL="342900" indent="-342900">
              <a:spcAft>
                <a:spcPts val="1000"/>
              </a:spcAft>
              <a:buSzPct val="100000"/>
              <a:buChar char="•"/>
            </a:pPr>
            <a:r>
              <a:rPr lang="en-US" sz="2400" dirty="0">
                <a:solidFill>
                  <a:srgbClr val="FFFFFF"/>
                </a:solidFill>
              </a:rPr>
              <a:t>Follow each denial to payment or write-off</a:t>
            </a:r>
            <a:endParaRPr lang="en-US" sz="2400" dirty="0"/>
          </a:p>
          <a:p>
            <a:pPr algn="l" marL="342900" indent="-342900">
              <a:spcAft>
                <a:spcPts val="1000"/>
              </a:spcAft>
              <a:buSzPct val="100000"/>
              <a:buChar char="•"/>
            </a:pPr>
            <a:r>
              <a:rPr lang="en-US" sz="2400" dirty="0">
                <a:solidFill>
                  <a:srgbClr val="FFFFFF"/>
                </a:solidFill>
              </a:rPr>
              <a:t>Target the category with the most unrecovered dollars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 Denials and Rework</dc:title>
  <dc:subject>Week 3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