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7: Provider Performance and Value-Based Data. It follows the course pattern: basics and terminology, where the topic sits in industry and policy, reform goals, how analytics is deployed, and how analytics drives decisions. Replace this note with your own opening remarks.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practice with eight diabetic patients moves 12.5 percentage points with each patient. Fair comparison needs minimum denominators, confidence intervals and some adjustment for how sick each panel is. Without these, rankings mostly reflect luck and patient mix.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Merit-based Incentive Payment System (MIPS) can raise or cut Medicare Part B payments by up to 9% based on quality, cost, improvement activities and interoperability. CMS sets minimum case counts and reliability standards before scoring or publishing a measure. Inside ACOs, scorecards drive bonus pools and coaching.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CMS is moving clinicians from traditional MIPS toward MIPS Value Pathways (MVPs), smaller measure sets tied to a specialty or condition. Digital measures pull directly from EHR data. Measure alignment across Medicare, Medicaid and commercial payers would cut the burden of reporting different versions of the same idea.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Scorecards combine member-months, claims, claim lines, pharmacy fills and providers, each at a different grain. Filtering and aggregating before joining keeps queries fast and avoids double counting. Funnel plots show each practice's rate against control limits that widen as the denominator shrinks.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Physicians lose trust in a scorecard fast when it ranks them on noise. Show the denominator next to every rate. Practices whose intervals overlap the network average should not be singled out; the ones clearly outside it, in either direction, are where coaching or recognition belongs.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Provider Performance and Value-Based Data</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7 Domain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measuring providers fairly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Scorecards compare practices on cost and quality</a:t>
            </a:r>
            <a:endParaRPr lang="en-US" sz="2400" dirty="0"/>
          </a:p>
          <a:p>
            <a:pPr algn="l" marL="342900" indent="-342900">
              <a:spcAft>
                <a:spcPts val="1000"/>
              </a:spcAft>
              <a:buSzPct val="100000"/>
              <a:buChar char="•"/>
            </a:pPr>
            <a:r>
              <a:rPr lang="en-US" sz="2400" dirty="0">
                <a:solidFill>
                  <a:srgbClr val="FFFFFF"/>
                </a:solidFill>
              </a:rPr>
              <a:t>Denominator: patients attributed to each practice</a:t>
            </a:r>
            <a:endParaRPr lang="en-US" sz="2400" dirty="0"/>
          </a:p>
          <a:p>
            <a:pPr algn="l" marL="342900" indent="-342900">
              <a:spcAft>
                <a:spcPts val="1000"/>
              </a:spcAft>
              <a:buSzPct val="100000"/>
              <a:buChar char="•"/>
            </a:pPr>
            <a:r>
              <a:rPr lang="en-US" sz="2400" dirty="0">
                <a:solidFill>
                  <a:srgbClr val="FFFFFF"/>
                </a:solidFill>
              </a:rPr>
              <a:t>Small denominators make rates noisy</a:t>
            </a:r>
            <a:endParaRPr lang="en-US" sz="2400" dirty="0"/>
          </a:p>
          <a:p>
            <a:pPr algn="l" marL="342900" indent="-342900">
              <a:spcAft>
                <a:spcPts val="1000"/>
              </a:spcAft>
              <a:buSzPct val="100000"/>
              <a:buChar char="•"/>
            </a:pPr>
            <a:r>
              <a:rPr lang="en-US" sz="2400" dirty="0">
                <a:solidFill>
                  <a:srgbClr val="FFFFFF"/>
                </a:solidFill>
              </a:rPr>
              <a:t>Risk adjustment levels the field for sicker panels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incentive programs and public reporting</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Medicare's MIPS adjusts clinician pay up or down</a:t>
            </a:r>
            <a:endParaRPr lang="en-US" sz="2400" dirty="0"/>
          </a:p>
          <a:p>
            <a:pPr algn="l" marL="342900" indent="-342900">
              <a:spcAft>
                <a:spcPts val="1000"/>
              </a:spcAft>
              <a:buSzPct val="100000"/>
              <a:buChar char="•"/>
            </a:pPr>
            <a:r>
              <a:rPr lang="en-US" sz="2400" dirty="0">
                <a:solidFill>
                  <a:srgbClr val="FFFFFF"/>
                </a:solidFill>
              </a:rPr>
              <a:t>Care Compare publishes clinician and hospital ratings</a:t>
            </a:r>
            <a:endParaRPr lang="en-US" sz="2400" dirty="0"/>
          </a:p>
          <a:p>
            <a:pPr algn="l" marL="342900" indent="-342900">
              <a:spcAft>
                <a:spcPts val="1000"/>
              </a:spcAft>
              <a:buSzPct val="100000"/>
              <a:buChar char="•"/>
            </a:pPr>
            <a:r>
              <a:rPr lang="en-US" sz="2400" dirty="0">
                <a:solidFill>
                  <a:srgbClr val="FFFFFF"/>
                </a:solidFill>
              </a:rPr>
              <a:t>ACOs and plans run internal scorecards and bonuses</a:t>
            </a:r>
            <a:endParaRPr lang="en-US" sz="2400" dirty="0"/>
          </a:p>
          <a:p>
            <a:pPr algn="l" marL="342900" indent="-342900">
              <a:spcAft>
                <a:spcPts val="1000"/>
              </a:spcAft>
              <a:buSzPct val="100000"/>
              <a:buChar char="•"/>
            </a:pPr>
            <a:r>
              <a:rPr lang="en-US" sz="2400" dirty="0">
                <a:solidFill>
                  <a:srgbClr val="FFFFFF"/>
                </a:solidFill>
              </a:rPr>
              <a:t>Minimum case sizes required for public reporting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fewer, more meaningful measures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MIPS shifting toward specialty MIPS Value Pathways</a:t>
            </a:r>
            <a:endParaRPr lang="en-US" sz="2400" dirty="0"/>
          </a:p>
          <a:p>
            <a:pPr algn="l" marL="342900" indent="-342900">
              <a:spcAft>
                <a:spcPts val="1000"/>
              </a:spcAft>
              <a:buSzPct val="100000"/>
              <a:buChar char="•"/>
            </a:pPr>
            <a:r>
              <a:rPr lang="en-US" sz="2400" dirty="0">
                <a:solidFill>
                  <a:srgbClr val="FFFFFF"/>
                </a:solidFill>
              </a:rPr>
              <a:t>Digital quality measures from EHR data</a:t>
            </a:r>
            <a:endParaRPr lang="en-US" sz="2400" dirty="0"/>
          </a:p>
          <a:p>
            <a:pPr algn="l" marL="342900" indent="-342900">
              <a:spcAft>
                <a:spcPts val="1000"/>
              </a:spcAft>
              <a:buSzPct val="100000"/>
              <a:buChar char="•"/>
            </a:pPr>
            <a:r>
              <a:rPr lang="en-US" sz="2400" dirty="0">
                <a:solidFill>
                  <a:srgbClr val="FFFFFF"/>
                </a:solidFill>
              </a:rPr>
              <a:t>Reliability standards for reported results</a:t>
            </a:r>
            <a:endParaRPr lang="en-US" sz="2400" dirty="0"/>
          </a:p>
          <a:p>
            <a:pPr algn="l" marL="342900" indent="-342900">
              <a:spcAft>
                <a:spcPts val="1000"/>
              </a:spcAft>
              <a:buSzPct val="100000"/>
              <a:buChar char="•"/>
            </a:pPr>
            <a:r>
              <a:rPr lang="en-US" sz="2400" dirty="0">
                <a:solidFill>
                  <a:srgbClr val="FFFFFF"/>
                </a:solidFill>
              </a:rPr>
              <a:t>Aligning measures across payers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Many tables at different grains rolled up per practice</a:t>
            </a:r>
            <a:endParaRPr lang="en-US" sz="2400" dirty="0"/>
          </a:p>
          <a:p>
            <a:pPr algn="l" marL="342900" indent="-342900">
              <a:spcAft>
                <a:spcPts val="1000"/>
              </a:spcAft>
              <a:buSzPct val="100000"/>
              <a:buChar char="•"/>
            </a:pPr>
            <a:r>
              <a:rPr lang="en-US" sz="2400" dirty="0">
                <a:solidFill>
                  <a:srgbClr val="FFFFFF"/>
                </a:solidFill>
              </a:rPr>
              <a:t>Filters, indexes and pre-aggregation keep queries fast</a:t>
            </a:r>
            <a:endParaRPr lang="en-US" sz="2400" dirty="0"/>
          </a:p>
          <a:p>
            <a:pPr algn="l" marL="342900" indent="-342900">
              <a:spcAft>
                <a:spcPts val="1000"/>
              </a:spcAft>
              <a:buSzPct val="100000"/>
              <a:buChar char="•"/>
            </a:pPr>
            <a:r>
              <a:rPr lang="en-US" sz="2400" dirty="0">
                <a:solidFill>
                  <a:srgbClr val="FFFFFF"/>
                </a:solidFill>
              </a:rPr>
              <a:t>Confidence intervals and funnel plots flag true outliers</a:t>
            </a:r>
            <a:endParaRPr lang="en-US" sz="2400" dirty="0"/>
          </a:p>
          <a:p>
            <a:pPr algn="l" marL="342900" indent="-342900">
              <a:spcAft>
                <a:spcPts val="1000"/>
              </a:spcAft>
              <a:buSzPct val="100000"/>
              <a:buChar char="•"/>
            </a:pPr>
            <a:r>
              <a:rPr lang="en-US" sz="2400" dirty="0">
                <a:solidFill>
                  <a:srgbClr val="FFFFFF"/>
                </a:solidFill>
              </a:rPr>
              <a:t>Peer groups compare like with like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real differences vs. noise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Rank practices on quality and cost per patient</a:t>
            </a:r>
            <a:endParaRPr lang="en-US" sz="2400" dirty="0"/>
          </a:p>
          <a:p>
            <a:pPr algn="l" marL="342900" indent="-342900">
              <a:spcAft>
                <a:spcPts val="1000"/>
              </a:spcAft>
              <a:buSzPct val="100000"/>
              <a:buChar char="•"/>
            </a:pPr>
            <a:r>
              <a:rPr lang="en-US" sz="2400" dirty="0">
                <a:solidFill>
                  <a:srgbClr val="FFFFFF"/>
                </a:solidFill>
              </a:rPr>
              <a:t>Add a confidence interval to every rate</a:t>
            </a:r>
            <a:endParaRPr lang="en-US" sz="2400" dirty="0"/>
          </a:p>
          <a:p>
            <a:pPr algn="l" marL="342900" indent="-342900">
              <a:spcAft>
                <a:spcPts val="1000"/>
              </a:spcAft>
              <a:buSzPct val="100000"/>
              <a:buChar char="•"/>
            </a:pPr>
            <a:r>
              <a:rPr lang="en-US" sz="2400" dirty="0">
                <a:solidFill>
                  <a:srgbClr val="FFFFFF"/>
                </a:solidFill>
              </a:rPr>
              <a:t>Separate true outliers from small-number swings</a:t>
            </a:r>
            <a:endParaRPr lang="en-US" sz="2400" dirty="0"/>
          </a:p>
          <a:p>
            <a:pPr algn="l" marL="342900" indent="-342900">
              <a:spcAft>
                <a:spcPts val="1000"/>
              </a:spcAft>
              <a:buSzPct val="100000"/>
              <a:buChar char="•"/>
            </a:pPr>
            <a:r>
              <a:rPr lang="en-US" sz="2400" dirty="0">
                <a:solidFill>
                  <a:srgbClr val="FFFFFF"/>
                </a:solidFill>
              </a:rPr>
              <a:t>Reward or coach only where differences are real</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Provider Performance and Value-Based Data</dc:title>
  <dc:subject>Week 7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