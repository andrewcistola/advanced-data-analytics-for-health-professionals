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6: Quality Measurement.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measure specification defines who is eligible (age, diagnosis, enrollment), who is excluded (hospice, advanced illness and frailty, for example) and what counts as meeting the numerator. Lookback periods vary: a colonoscopy counts for ten years, an A1c test only for the measurement year. Administrative measures use claims only; hybrid measures add a sample of medical records.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HEDIS is used by nearly all health plans for accreditation, public reporting and contracts. MA Star Ratings combine HEDIS, member surveys (CAHPS), health outcomes surveys and administrative measures; plans with four or more stars receive quality bonus payments, so a fraction of a point can be worth millions. Reporting of the Medicaid Child Core Set and the behavioral health measures in the Adult Core Set became mandatory for states in 2024.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CY 2027 Medicare Advantage final rule removed 11 measures CMS described as administrative or showing little variation (kept the diabetic eye exam), added a depression screening and follow-up measure, and did not implement the planned health equity reward. NCQA is moving hybrid measures to administrative or ECDS (electronic clinical data systems) reporting, with blood pressure measures moving in MY 2028 and glycemic status and transitions of care in MY 2029. Sources: Becker's summary of the 2027 final rule; NCQA hybrid retirement timeline.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Plans run measures throughout the year to see where they stand against Star cut points. Gap-closure campaigns reach members missing a screening or test. Official HEDIS rates come from NCQA-certified measure software and pass a compliance audit before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a measure in clear steps (eligible population, exclusions, numerator) makes each step auditable and easy to check. Comparing plans is only fair when every plan is scored with the same specification and measurement year. A plan near a cut point gets more value from closing gaps on that measure than from one already safely above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Quality Measurement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6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how quality is measured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Rate = numerator ÷ eligible denominator</a:t>
            </a:r>
            <a:endParaRPr lang="en-US" sz="2400" dirty="0"/>
          </a:p>
          <a:p>
            <a:pPr algn="l" marL="342900" indent="-342900">
              <a:spcAft>
                <a:spcPts val="1000"/>
              </a:spcAft>
              <a:buSzPct val="100000"/>
              <a:buChar char="•"/>
            </a:pPr>
            <a:r>
              <a:rPr lang="en-US" sz="2400" dirty="0">
                <a:solidFill>
                  <a:srgbClr val="FFFFFF"/>
                </a:solidFill>
              </a:rPr>
              <a:t>Exclusions remove members the measure doesn't fit</a:t>
            </a:r>
            <a:endParaRPr lang="en-US" sz="2400" dirty="0"/>
          </a:p>
          <a:p>
            <a:pPr algn="l" marL="342900" indent="-342900">
              <a:spcAft>
                <a:spcPts val="1000"/>
              </a:spcAft>
              <a:buSzPct val="100000"/>
              <a:buChar char="•"/>
            </a:pPr>
            <a:r>
              <a:rPr lang="en-US" sz="2400" dirty="0">
                <a:solidFill>
                  <a:srgbClr val="FFFFFF"/>
                </a:solidFill>
              </a:rPr>
              <a:t>Continuous enrollment and lookback periods</a:t>
            </a:r>
            <a:endParaRPr lang="en-US" sz="2400" dirty="0"/>
          </a:p>
          <a:p>
            <a:pPr algn="l" marL="342900" indent="-342900">
              <a:spcAft>
                <a:spcPts val="1000"/>
              </a:spcAft>
              <a:buSzPct val="100000"/>
              <a:buChar char="•"/>
            </a:pPr>
            <a:r>
              <a:rPr lang="en-US" sz="2400" dirty="0">
                <a:solidFill>
                  <a:srgbClr val="FFFFFF"/>
                </a:solidFill>
              </a:rPr>
              <a:t>Process, outcome and patient experience measures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HEDIS and Star Ratings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NCQA's HEDIS: the standard health plan measure set</a:t>
            </a:r>
            <a:endParaRPr lang="en-US" sz="2400" dirty="0"/>
          </a:p>
          <a:p>
            <a:pPr algn="l" marL="342900" indent="-342900">
              <a:spcAft>
                <a:spcPts val="1000"/>
              </a:spcAft>
              <a:buSzPct val="100000"/>
              <a:buChar char="•"/>
            </a:pPr>
            <a:r>
              <a:rPr lang="en-US" sz="2400" dirty="0">
                <a:solidFill>
                  <a:srgbClr val="FFFFFF"/>
                </a:solidFill>
              </a:rPr>
              <a:t>Medicare Advantage Star Ratings: 1 to 5 stars</a:t>
            </a:r>
            <a:endParaRPr lang="en-US" sz="2400" dirty="0"/>
          </a:p>
          <a:p>
            <a:pPr algn="l" marL="342900" indent="-342900">
              <a:spcAft>
                <a:spcPts val="1000"/>
              </a:spcAft>
              <a:buSzPct val="100000"/>
              <a:buChar char="•"/>
            </a:pPr>
            <a:r>
              <a:rPr lang="en-US" sz="2400" dirty="0">
                <a:solidFill>
                  <a:srgbClr val="FFFFFF"/>
                </a:solidFill>
              </a:rPr>
              <a:t>4+ stars earn quality bonus payments</a:t>
            </a:r>
            <a:endParaRPr lang="en-US" sz="2400" dirty="0"/>
          </a:p>
          <a:p>
            <a:pPr algn="l" marL="342900" indent="-342900">
              <a:spcAft>
                <a:spcPts val="1000"/>
              </a:spcAft>
              <a:buSzPct val="100000"/>
              <a:buChar char="•"/>
            </a:pPr>
            <a:r>
              <a:rPr lang="en-US" sz="2400" dirty="0">
                <a:solidFill>
                  <a:srgbClr val="FFFFFF"/>
                </a:solidFill>
              </a:rPr>
              <a:t>Medicaid Core Set reporting is mandatory for states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fewer, digital, outcome-focused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2027 rule removes 11 process-focused Star measures</a:t>
            </a:r>
            <a:endParaRPr lang="en-US" sz="2400" dirty="0"/>
          </a:p>
          <a:p>
            <a:pPr algn="l" marL="342900" indent="-342900">
              <a:spcAft>
                <a:spcPts val="1000"/>
              </a:spcAft>
              <a:buSzPct val="100000"/>
              <a:buChar char="•"/>
            </a:pPr>
            <a:r>
              <a:rPr lang="en-US" sz="2400" dirty="0">
                <a:solidFill>
                  <a:srgbClr val="FFFFFF"/>
                </a:solidFill>
              </a:rPr>
              <a:t>New depression screening and follow-up measure</a:t>
            </a:r>
            <a:endParaRPr lang="en-US" sz="2400" dirty="0"/>
          </a:p>
          <a:p>
            <a:pPr algn="l" marL="342900" indent="-342900">
              <a:spcAft>
                <a:spcPts val="1000"/>
              </a:spcAft>
              <a:buSzPct val="100000"/>
              <a:buChar char="•"/>
            </a:pPr>
            <a:r>
              <a:rPr lang="en-US" sz="2400" dirty="0">
                <a:solidFill>
                  <a:srgbClr val="FFFFFF"/>
                </a:solidFill>
              </a:rPr>
              <a:t>Hybrid chart review phased out by 2029</a:t>
            </a:r>
            <a:endParaRPr lang="en-US" sz="2400" dirty="0"/>
          </a:p>
          <a:p>
            <a:pPr algn="l" marL="342900" indent="-342900">
              <a:spcAft>
                <a:spcPts val="1000"/>
              </a:spcAft>
              <a:buSzPct val="100000"/>
              <a:buChar char="•"/>
            </a:pPr>
            <a:r>
              <a:rPr lang="en-US" sz="2400" dirty="0">
                <a:solidFill>
                  <a:srgbClr val="FFFFFF"/>
                </a:solidFill>
              </a:rPr>
              <a:t>NCQA target: fully digital HEDIS by 2030</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Monthly measure runs track rates during the year</a:t>
            </a:r>
            <a:endParaRPr lang="en-US" sz="2400" dirty="0"/>
          </a:p>
          <a:p>
            <a:pPr algn="l" marL="342900" indent="-342900">
              <a:spcAft>
                <a:spcPts val="1000"/>
              </a:spcAft>
              <a:buSzPct val="100000"/>
              <a:buChar char="•"/>
            </a:pPr>
            <a:r>
              <a:rPr lang="en-US" sz="2400" dirty="0">
                <a:solidFill>
                  <a:srgbClr val="FFFFFF"/>
                </a:solidFill>
              </a:rPr>
              <a:t>Gap lists drive outreach before year-end</a:t>
            </a:r>
            <a:endParaRPr lang="en-US" sz="2400" dirty="0"/>
          </a:p>
          <a:p>
            <a:pPr algn="l" marL="342900" indent="-342900">
              <a:spcAft>
                <a:spcPts val="1000"/>
              </a:spcAft>
              <a:buSzPct val="100000"/>
              <a:buChar char="•"/>
            </a:pPr>
            <a:r>
              <a:rPr lang="en-US" sz="2400" dirty="0">
                <a:solidFill>
                  <a:srgbClr val="FFFFFF"/>
                </a:solidFill>
              </a:rPr>
              <a:t>Supplemental data (labs, EHR) fills claims gaps</a:t>
            </a:r>
            <a:endParaRPr lang="en-US" sz="2400" dirty="0"/>
          </a:p>
          <a:p>
            <a:pPr algn="l" marL="342900" indent="-342900">
              <a:spcAft>
                <a:spcPts val="1000"/>
              </a:spcAft>
              <a:buSzPct val="100000"/>
              <a:buChar char="•"/>
            </a:pPr>
            <a:r>
              <a:rPr lang="en-US" sz="2400" dirty="0">
                <a:solidFill>
                  <a:srgbClr val="FFFFFF"/>
                </a:solidFill>
              </a:rPr>
              <a:t>Certified engines and audits produce official rates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scoring and comparing plans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Build the denominator: age, diagnosis, enrollment</a:t>
            </a:r>
            <a:endParaRPr lang="en-US" sz="2400" dirty="0"/>
          </a:p>
          <a:p>
            <a:pPr algn="l" marL="342900" indent="-342900">
              <a:spcAft>
                <a:spcPts val="1000"/>
              </a:spcAft>
              <a:buSzPct val="100000"/>
              <a:buChar char="•"/>
            </a:pPr>
            <a:r>
              <a:rPr lang="en-US" sz="2400" dirty="0">
                <a:solidFill>
                  <a:srgbClr val="FFFFFF"/>
                </a:solidFill>
              </a:rPr>
              <a:t>Apply exclusions, then look for numerator evidence</a:t>
            </a:r>
            <a:endParaRPr lang="en-US" sz="2400" dirty="0"/>
          </a:p>
          <a:p>
            <a:pPr algn="l" marL="342900" indent="-342900">
              <a:spcAft>
                <a:spcPts val="1000"/>
              </a:spcAft>
              <a:buSzPct val="100000"/>
              <a:buChar char="•"/>
            </a:pPr>
            <a:r>
              <a:rPr lang="en-US" sz="2400" dirty="0">
                <a:solidFill>
                  <a:srgbClr val="FFFFFF"/>
                </a:solidFill>
              </a:rPr>
              <a:t>Compare plans on the same specification</a:t>
            </a:r>
            <a:endParaRPr lang="en-US" sz="2400" dirty="0"/>
          </a:p>
          <a:p>
            <a:pPr algn="l" marL="342900" indent="-342900">
              <a:spcAft>
                <a:spcPts val="1000"/>
              </a:spcAft>
              <a:buSzPct val="100000"/>
              <a:buChar char="•"/>
            </a:pPr>
            <a:r>
              <a:rPr lang="en-US" sz="2400" dirty="0">
                <a:solidFill>
                  <a:srgbClr val="FFFFFF"/>
                </a:solidFill>
              </a:rPr>
              <a:t>Rates show where to invest before Star cut points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Measurement</dc:title>
  <dc:subject>Week 6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