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11: Area Level Resources and Spatial Analytics.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ADI (University of Wisconsin Neighborhood Atlas) and the CDC/ATSDR Social Vulnerability Index summarize neighborhood disadvantage. HRSA's Health Professional Shortage Areas measure provider supply. A high-deprivation zip code contains many people who are not deprived, so avoid drawing conclusions about individuals from area averages (the ecological fallacy).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Tax-exempt hospitals must complete a Community Health Needs Assessment every three years (IRS section 501(r)). CMS has used area deprivation measures to adjust benchmarks in accountable care models. The Rural Health Transformation Program, created by the 2025 budget reconciliation law, provides $10 billion a year to states for fiscal years 2026 through 2030.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Funders increasingly want evidence that money goes where it prevents the most harm. Telehealth helps only where people have broadband. Medicaid community engagement (work) requirements begin January 1, 2027; coverage losses could be concentrated in particular communities, changing where uncompensated need appears. Source: CMS interim final rule summaries.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Geocoding links members to area measures. Rates per 1,000 members make areas of different sizes comparable. Modeling expected use from area measures, then looking at what the model misses, separates places that are high because of known factors from places with unexplained risk.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zip code can have a high rate and only a handful of events. Impact depends on both the rate and the number of people. Places that do worse than their measured resources predict often have a local story worth investigating before committing a clinic.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Area Level Resources and Spatial Analytics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11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place as a health factor</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Social drivers: income, transportation, food, broadband</a:t>
            </a:r>
            <a:endParaRPr lang="en-US" sz="2400" dirty="0"/>
          </a:p>
          <a:p>
            <a:pPr algn="l" marL="342900" indent="-342900">
              <a:spcAft>
                <a:spcPts val="1000"/>
              </a:spcAft>
              <a:buSzPct val="100000"/>
              <a:buChar char="•"/>
            </a:pPr>
            <a:r>
              <a:rPr lang="en-US" sz="2400" dirty="0">
                <a:solidFill>
                  <a:srgbClr val="FFFFFF"/>
                </a:solidFill>
              </a:rPr>
              <a:t>Area Deprivation Index (ADI) ranks neighborhoods</a:t>
            </a:r>
            <a:endParaRPr lang="en-US" sz="2400" dirty="0"/>
          </a:p>
          <a:p>
            <a:pPr algn="l" marL="342900" indent="-342900">
              <a:spcAft>
                <a:spcPts val="1000"/>
              </a:spcAft>
              <a:buSzPct val="100000"/>
              <a:buChar char="•"/>
            </a:pPr>
            <a:r>
              <a:rPr lang="en-US" sz="2400" dirty="0">
                <a:solidFill>
                  <a:srgbClr val="FFFFFF"/>
                </a:solidFill>
              </a:rPr>
              <a:t>Primary care supply and distance to care</a:t>
            </a:r>
            <a:endParaRPr lang="en-US" sz="2400" dirty="0"/>
          </a:p>
          <a:p>
            <a:pPr algn="l" marL="342900" indent="-342900">
              <a:spcAft>
                <a:spcPts val="1000"/>
              </a:spcAft>
              <a:buSzPct val="100000"/>
              <a:buChar char="•"/>
            </a:pPr>
            <a:r>
              <a:rPr lang="en-US" sz="2400" dirty="0">
                <a:solidFill>
                  <a:srgbClr val="FFFFFF"/>
                </a:solidFill>
              </a:rPr>
              <a:t>Area data describe places, not individuals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in policy and practice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HRSA designates shortage areas (HPSAs)</a:t>
            </a:r>
            <a:endParaRPr lang="en-US" sz="2400" dirty="0"/>
          </a:p>
          <a:p>
            <a:pPr algn="l" marL="342900" indent="-342900">
              <a:spcAft>
                <a:spcPts val="1000"/>
              </a:spcAft>
              <a:buSzPct val="100000"/>
              <a:buChar char="•"/>
            </a:pPr>
            <a:r>
              <a:rPr lang="en-US" sz="2400" dirty="0">
                <a:solidFill>
                  <a:srgbClr val="FFFFFF"/>
                </a:solidFill>
              </a:rPr>
              <a:t>Nonprofit hospitals assess community needs every 3 years</a:t>
            </a:r>
            <a:endParaRPr lang="en-US" sz="2400" dirty="0"/>
          </a:p>
          <a:p>
            <a:pPr algn="l" marL="342900" indent="-342900">
              <a:spcAft>
                <a:spcPts val="1000"/>
              </a:spcAft>
              <a:buSzPct val="100000"/>
              <a:buChar char="•"/>
            </a:pPr>
            <a:r>
              <a:rPr lang="en-US" sz="2400" dirty="0">
                <a:solidFill>
                  <a:srgbClr val="FFFFFF"/>
                </a:solidFill>
              </a:rPr>
              <a:t>Area indices used in CMS payment adjustments</a:t>
            </a:r>
            <a:endParaRPr lang="en-US" sz="2400" dirty="0"/>
          </a:p>
          <a:p>
            <a:pPr algn="l" marL="342900" indent="-342900">
              <a:spcAft>
                <a:spcPts val="1000"/>
              </a:spcAft>
              <a:buSzPct val="100000"/>
              <a:buChar char="•"/>
            </a:pPr>
            <a:r>
              <a:rPr lang="en-US" sz="2400" dirty="0">
                <a:solidFill>
                  <a:srgbClr val="FFFFFF"/>
                </a:solidFill>
              </a:rPr>
              <a:t>Rural Health Transformation Program: $50B, 2026–2030</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resources where need is greatest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Target funding to measurable need</a:t>
            </a:r>
            <a:endParaRPr lang="en-US" sz="2400" dirty="0"/>
          </a:p>
          <a:p>
            <a:pPr algn="l" marL="342900" indent="-342900">
              <a:spcAft>
                <a:spcPts val="1000"/>
              </a:spcAft>
              <a:buSzPct val="100000"/>
              <a:buChar char="•"/>
            </a:pPr>
            <a:r>
              <a:rPr lang="en-US" sz="2400" dirty="0">
                <a:solidFill>
                  <a:srgbClr val="FFFFFF"/>
                </a:solidFill>
              </a:rPr>
              <a:t>Rural hospital closures widen access gaps</a:t>
            </a:r>
            <a:endParaRPr lang="en-US" sz="2400" dirty="0"/>
          </a:p>
          <a:p>
            <a:pPr algn="l" marL="342900" indent="-342900">
              <a:spcAft>
                <a:spcPts val="1000"/>
              </a:spcAft>
              <a:buSzPct val="100000"/>
              <a:buChar char="•"/>
            </a:pPr>
            <a:r>
              <a:rPr lang="en-US" sz="2400" dirty="0">
                <a:solidFill>
                  <a:srgbClr val="FFFFFF"/>
                </a:solidFill>
              </a:rPr>
              <a:t>Mobile, telehealth and community-based care</a:t>
            </a:r>
            <a:endParaRPr lang="en-US" sz="2400" dirty="0"/>
          </a:p>
          <a:p>
            <a:pPr algn="l" marL="342900" indent="-342900">
              <a:spcAft>
                <a:spcPts val="1000"/>
              </a:spcAft>
              <a:buSzPct val="100000"/>
              <a:buChar char="•"/>
            </a:pPr>
            <a:r>
              <a:rPr lang="en-US" sz="2400" dirty="0">
                <a:solidFill>
                  <a:srgbClr val="FFFFFF"/>
                </a:solidFill>
              </a:rPr>
              <a:t>Future: Medicaid changes may shift local need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Join member addresses to zip or tract measures</a:t>
            </a:r>
            <a:endParaRPr lang="en-US" sz="2400" dirty="0"/>
          </a:p>
          <a:p>
            <a:pPr algn="l" marL="342900" indent="-342900">
              <a:spcAft>
                <a:spcPts val="1000"/>
              </a:spcAft>
              <a:buSzPct val="100000"/>
              <a:buChar char="•"/>
            </a:pPr>
            <a:r>
              <a:rPr lang="en-US" sz="2400" dirty="0">
                <a:solidFill>
                  <a:srgbClr val="FFFFFF"/>
                </a:solidFill>
              </a:rPr>
              <a:t>Rates per 1,000 members by area</a:t>
            </a:r>
            <a:endParaRPr lang="en-US" sz="2400" dirty="0"/>
          </a:p>
          <a:p>
            <a:pPr algn="l" marL="342900" indent="-342900">
              <a:spcAft>
                <a:spcPts val="1000"/>
              </a:spcAft>
              <a:buSzPct val="100000"/>
              <a:buChar char="•"/>
            </a:pPr>
            <a:r>
              <a:rPr lang="en-US" sz="2400" dirty="0">
                <a:solidFill>
                  <a:srgbClr val="FFFFFF"/>
                </a:solidFill>
              </a:rPr>
              <a:t>Maps and hotspot analysis</a:t>
            </a:r>
            <a:endParaRPr lang="en-US" sz="2400" dirty="0"/>
          </a:p>
          <a:p>
            <a:pPr algn="l" marL="342900" indent="-342900">
              <a:spcAft>
                <a:spcPts val="1000"/>
              </a:spcAft>
              <a:buSzPct val="100000"/>
              <a:buChar char="•"/>
            </a:pPr>
            <a:r>
              <a:rPr lang="en-US" sz="2400" dirty="0">
                <a:solidFill>
                  <a:srgbClr val="FFFFFF"/>
                </a:solidFill>
              </a:rPr>
              <a:t>Models of expected use; residuals reveal surprises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where to place resources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Avoidable ED visits and admissions per 1,000</a:t>
            </a:r>
            <a:endParaRPr lang="en-US" sz="2400" dirty="0"/>
          </a:p>
          <a:p>
            <a:pPr algn="l" marL="342900" indent="-342900">
              <a:spcAft>
                <a:spcPts val="1000"/>
              </a:spcAft>
              <a:buSzPct val="100000"/>
              <a:buChar char="•"/>
            </a:pPr>
            <a:r>
              <a:rPr lang="en-US" sz="2400" dirty="0">
                <a:solidFill>
                  <a:srgbClr val="FFFFFF"/>
                </a:solidFill>
              </a:rPr>
              <a:t>Predict expected use from area measures</a:t>
            </a:r>
            <a:endParaRPr lang="en-US" sz="2400" dirty="0"/>
          </a:p>
          <a:p>
            <a:pPr algn="l" marL="342900" indent="-342900">
              <a:spcAft>
                <a:spcPts val="1000"/>
              </a:spcAft>
              <a:buSzPct val="100000"/>
              <a:buChar char="•"/>
            </a:pPr>
            <a:r>
              <a:rPr lang="en-US" sz="2400" dirty="0">
                <a:solidFill>
                  <a:srgbClr val="FFFFFF"/>
                </a:solidFill>
              </a:rPr>
              <a:t>Look for places doing worse than expected</a:t>
            </a:r>
            <a:endParaRPr lang="en-US" sz="2400" dirty="0"/>
          </a:p>
          <a:p>
            <a:pPr algn="l" marL="342900" indent="-342900">
              <a:spcAft>
                <a:spcPts val="1000"/>
              </a:spcAft>
              <a:buSzPct val="100000"/>
              <a:buChar char="•"/>
            </a:pPr>
            <a:r>
              <a:rPr lang="en-US" sz="2400" dirty="0">
                <a:solidFill>
                  <a:srgbClr val="FFFFFF"/>
                </a:solidFill>
              </a:rPr>
              <a:t>Rank by preventable events, not only rates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Area Level Resources and Spatial Analytics</dc:title>
  <dc:subject>Week 11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