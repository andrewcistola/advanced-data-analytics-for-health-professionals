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17"/>
    <p:sldId id="267" r:id="rId18"/>
    <p:sldId id="268" r:id="rId19"/>
    <p:sldId id="269" r:id="rId20"/>
    <p:sldId id="270" r:id="rId21"/>
    <p:sldId id="271" r:id="rId22"/>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xml"/><Relationship Id="rId18" Type="http://schemas.openxmlformats.org/officeDocument/2006/relationships/slide" Target="slides/slide2.xml"/><Relationship Id="rId19" Type="http://schemas.openxmlformats.org/officeDocument/2006/relationships/slide" Target="slides/slide3.xml"/><Relationship Id="rId20" Type="http://schemas.openxmlformats.org/officeDocument/2006/relationships/slide" Target="slides/slide4.xml"/><Relationship Id="rId21" Type="http://schemas.openxmlformats.org/officeDocument/2006/relationships/slide" Target="slides/slide5.xml"/><Relationship Id="rId22"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seminar for week 2: Revenue Cycle Basics. We will go through basics and terminology, where the topic is found across industry and policy, reform goals, how analytics is deployed, and how analytics drives decisions. Provide opening remarks here.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Charges rarely equal payment. The allowed amount is what the contract or fee schedule says the service is worth; the plan pays its share and the patient owes the deductible, coinsurance or copay. The revenue cycle runs from the front end (registration, eligibility, authorization) through the middle (coding, charge capture) to the back end (claim submission, payment posting, follow-up and collections).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electronic claim and remittance uses the X12 standards named under HIPAA. Commercial contracts are often written as a percentage of Medicare rates. Medicare must pay clean claims within a statutory window, and states set prompt-pay rules for the plans they regulate. The No Surprises Act (2022) protects patients from most surprise out-of-network bills and sends payer-provider disputes to independent dispute resolution.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CY 2026 OPPS final rule requires hospitals to publish the median and 10th and 90th percentile allowed amounts, calculated from 835 remittance data, and a senior official must attest that the file is accurate; enforcement of the new requirements began April 1, 2026. The Transparency in Coverage rule requires insurers to publish negotiated rates. As patient cost sharing grows, more of each bill depends on collecting from patients. Source: CMS CY 2026 OPPS/ASC final rule fact sheet.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Revenue cycle teams run on daily and monthly dashboards. Contract modeling recalculates what each claim should have paid under the contract and flags underpayments. Work queues route accounts to staff in order of dollars at stake and time remaining before filing limits.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CFO's first questions are usually how much each payer paid and who pays slowest. Use medians as well as means, because payment timing is skewed by a few very slow claims. Exclude claims that haven't been adjudicated yet, or the averages will be distorted. A payer that is consistently slow is a contract conversation, not just a collections problem.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rtlCol="0"/>
          <a:lstStyle>
            <a:lvl1pPr algn="l" indent="0" marL="0">
              <a:buNone/>
              <a:defRPr lang="en-US" sz="2200" dirty="0">
                <a:solidFill>
                  <a:srgbClr val="FFFFFF"/>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rtlCol="0"/>
          <a:lstStyle>
            <a:lvl1pPr algn="l" indent="0" marL="0">
              <a:buNone/>
              <a:defRPr lang="en-US" sz="3200" b="1" dirty="0">
                <a:solidFill>
                  <a:srgbClr val="FFFFFF"/>
                </a:solidFill>
              </a:defRPr>
            </a:lvl1pPr>
          </a:lstStyle>
          <a:p>
            <a:pPr algn="l" indent="0" marL="0">
              <a:buNone/>
            </a:pP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lstStyle>
            <a:lvl1pPr algn="l" indent="0" marL="0">
              <a:spcAft>
                <a:spcPts val="1000"/>
              </a:spcAft>
              <a:buNone/>
              <a:defRPr lang="en-US" sz="2400" dirty="0">
                <a:solidFill>
                  <a:srgbClr val="FFFFFF"/>
                </a:solidFill>
              </a:defRPr>
            </a:lvl1pPr>
          </a:lstStyle>
          <a:p>
            <a:pPr algn="l" indent="0" marL="0">
              <a:spcAft>
                <a:spcPts val="1000"/>
              </a:spcAft>
              <a:buNone/>
            </a:pP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b"/>
          <a:lstStyle/>
          <a:p>
            <a:pPr algn="l" indent="0" marL="0">
              <a:buNone/>
            </a:pPr>
            <a:r>
              <a:rPr lang="en-US" sz="4000" b="1" dirty="0">
                <a:solidFill>
                  <a:srgbClr val="FFFFFF"/>
                </a:solidFill>
              </a:rPr>
              <a:t>Revenue Cycle Basics</a:t>
            </a: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lIns="0" tIns="0" rIns="0" bIns="0" rtlCol="0" anchor="t"/>
          <a:lstStyle/>
          <a:p>
            <a:pPr algn="l" indent="0" marL="0">
              <a:buNone/>
            </a:pPr>
            <a:r>
              <a:rPr lang="en-US" sz="2200" dirty="0">
                <a:solidFill>
                  <a:srgbClr val="FFFFFF"/>
                </a:solidFill>
              </a:rPr>
              <a:t>Health Data Analytics · Week 2 Domain Seminar</a:t>
            </a:r>
            <a:endParaRPr lang="en-US" sz="2200" dirty="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Basics: from charge to cash</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Charge: the provider's list price</a:t>
            </a:r>
            <a:endParaRPr lang="en-US" sz="2400" dirty="0"/>
          </a:p>
          <a:p>
            <a:pPr algn="l" marL="342900" indent="-342900">
              <a:spcAft>
                <a:spcPts val="1000"/>
              </a:spcAft>
              <a:buSzPct val="100000"/>
              <a:buChar char="•"/>
            </a:pPr>
            <a:r>
              <a:rPr lang="en-US" sz="2400" dirty="0">
                <a:solidFill>
                  <a:srgbClr val="FFFFFF"/>
                </a:solidFill>
              </a:rPr>
              <a:t>Allowed: the contracted or fee-schedule amount</a:t>
            </a:r>
            <a:endParaRPr lang="en-US" sz="2400" dirty="0"/>
          </a:p>
          <a:p>
            <a:pPr algn="l" marL="342900" indent="-342900">
              <a:spcAft>
                <a:spcPts val="1000"/>
              </a:spcAft>
              <a:buSzPct val="100000"/>
              <a:buChar char="•"/>
            </a:pPr>
            <a:r>
              <a:rPr lang="en-US" sz="2400" dirty="0">
                <a:solidFill>
                  <a:srgbClr val="FFFFFF"/>
                </a:solidFill>
              </a:rPr>
              <a:t>Allowed = plan paid + patient cost sharing</a:t>
            </a:r>
            <a:endParaRPr lang="en-US" sz="2400" dirty="0"/>
          </a:p>
          <a:p>
            <a:pPr algn="l" marL="342900" indent="-342900">
              <a:spcAft>
                <a:spcPts val="1000"/>
              </a:spcAft>
              <a:buSzPct val="100000"/>
              <a:buChar char="•"/>
            </a:pPr>
            <a:r>
              <a:rPr lang="en-US" sz="2400" dirty="0">
                <a:solidFill>
                  <a:srgbClr val="FFFFFF"/>
                </a:solidFill>
              </a:rPr>
              <a:t>Contractual adjustment = charge − allowed</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Where it sits: standards, contracts and law</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HIPAA standard transactions: 837 claim, 835 remittance</a:t>
            </a:r>
            <a:endParaRPr lang="en-US" sz="2400" dirty="0"/>
          </a:p>
          <a:p>
            <a:pPr algn="l" marL="342900" indent="-342900">
              <a:spcAft>
                <a:spcPts val="1000"/>
              </a:spcAft>
              <a:buSzPct val="100000"/>
              <a:buChar char="•"/>
            </a:pPr>
            <a:r>
              <a:rPr lang="en-US" sz="2400" dirty="0">
                <a:solidFill>
                  <a:srgbClr val="FFFFFF"/>
                </a:solidFill>
              </a:rPr>
              <a:t>Medicare fee schedules anchor most contract rates</a:t>
            </a:r>
            <a:endParaRPr lang="en-US" sz="2400" dirty="0"/>
          </a:p>
          <a:p>
            <a:pPr algn="l" marL="342900" indent="-342900">
              <a:spcAft>
                <a:spcPts val="1000"/>
              </a:spcAft>
              <a:buSzPct val="100000"/>
              <a:buChar char="•"/>
            </a:pPr>
            <a:r>
              <a:rPr lang="en-US" sz="2400" dirty="0">
                <a:solidFill>
                  <a:srgbClr val="FFFFFF"/>
                </a:solidFill>
              </a:rPr>
              <a:t>State prompt-pay laws set payment deadlines</a:t>
            </a:r>
            <a:endParaRPr lang="en-US" sz="2400" dirty="0"/>
          </a:p>
          <a:p>
            <a:pPr algn="l" marL="342900" indent="-342900">
              <a:spcAft>
                <a:spcPts val="1000"/>
              </a:spcAft>
              <a:buSzPct val="100000"/>
              <a:buChar char="•"/>
            </a:pPr>
            <a:r>
              <a:rPr lang="en-US" sz="2400" dirty="0">
                <a:solidFill>
                  <a:srgbClr val="FFFFFF"/>
                </a:solidFill>
              </a:rPr>
              <a:t>No Surprises Act limits surprise out-of-network bills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Reform goals: price transparency, fewer surprises</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Hospitals post machine-readable negotiated rates</a:t>
            </a:r>
            <a:endParaRPr lang="en-US" sz="2400" dirty="0"/>
          </a:p>
          <a:p>
            <a:pPr algn="l" marL="342900" indent="-342900">
              <a:spcAft>
                <a:spcPts val="1000"/>
              </a:spcAft>
              <a:buSzPct val="100000"/>
              <a:buChar char="•"/>
            </a:pPr>
            <a:r>
              <a:rPr lang="en-US" sz="2400" dirty="0">
                <a:solidFill>
                  <a:srgbClr val="FFFFFF"/>
                </a:solidFill>
              </a:rPr>
              <a:t>2026 rule adds actual allowed amounts from remittances</a:t>
            </a:r>
            <a:endParaRPr lang="en-US" sz="2400" dirty="0"/>
          </a:p>
          <a:p>
            <a:pPr algn="l" marL="342900" indent="-342900">
              <a:spcAft>
                <a:spcPts val="1000"/>
              </a:spcAft>
              <a:buSzPct val="100000"/>
              <a:buChar char="•"/>
            </a:pPr>
            <a:r>
              <a:rPr lang="en-US" sz="2400" dirty="0">
                <a:solidFill>
                  <a:srgbClr val="FFFFFF"/>
                </a:solidFill>
              </a:rPr>
              <a:t>Insurers publish in-network rates too</a:t>
            </a:r>
            <a:endParaRPr lang="en-US" sz="2400" dirty="0"/>
          </a:p>
          <a:p>
            <a:pPr algn="l" marL="342900" indent="-342900">
              <a:spcAft>
                <a:spcPts val="1000"/>
              </a:spcAft>
              <a:buSzPct val="100000"/>
              <a:buChar char="•"/>
            </a:pPr>
            <a:r>
              <a:rPr lang="en-US" sz="2400" dirty="0">
                <a:solidFill>
                  <a:srgbClr val="FFFFFF"/>
                </a:solidFill>
              </a:rPr>
              <a:t>Rising deductibles shift collection risk to providers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How analytics is deployed</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KPIs: days in A/R, clean-claim rate, net collection rate</a:t>
            </a:r>
            <a:endParaRPr lang="en-US" sz="2400" dirty="0"/>
          </a:p>
          <a:p>
            <a:pPr algn="l" marL="342900" indent="-342900">
              <a:spcAft>
                <a:spcPts val="1000"/>
              </a:spcAft>
              <a:buSzPct val="100000"/>
              <a:buChar char="•"/>
            </a:pPr>
            <a:r>
              <a:rPr lang="en-US" sz="2400" dirty="0">
                <a:solidFill>
                  <a:srgbClr val="FFFFFF"/>
                </a:solidFill>
              </a:rPr>
              <a:t>Yield: paid as a share of charges, by payer</a:t>
            </a:r>
            <a:endParaRPr lang="en-US" sz="2400" dirty="0"/>
          </a:p>
          <a:p>
            <a:pPr algn="l" marL="342900" indent="-342900">
              <a:spcAft>
                <a:spcPts val="1000"/>
              </a:spcAft>
              <a:buSzPct val="100000"/>
              <a:buChar char="•"/>
            </a:pPr>
            <a:r>
              <a:rPr lang="en-US" sz="2400" dirty="0">
                <a:solidFill>
                  <a:srgbClr val="FFFFFF"/>
                </a:solidFill>
              </a:rPr>
              <a:t>Contract modeling: expected vs. actual payment</a:t>
            </a:r>
            <a:endParaRPr lang="en-US" sz="2400" dirty="0"/>
          </a:p>
          <a:p>
            <a:pPr algn="l" marL="342900" indent="-342900">
              <a:spcAft>
                <a:spcPts val="1000"/>
              </a:spcAft>
              <a:buSzPct val="100000"/>
              <a:buChar char="•"/>
            </a:pPr>
            <a:r>
              <a:rPr lang="en-US" sz="2400" dirty="0">
                <a:solidFill>
                  <a:srgbClr val="FFFFFF"/>
                </a:solidFill>
              </a:rPr>
              <a:t>Work queues ranked by dollars and age</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Analytics in decisions: who pays, and how fast</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Totals by payer type: charged, allowed, paid</a:t>
            </a:r>
            <a:endParaRPr lang="en-US" sz="2400" dirty="0"/>
          </a:p>
          <a:p>
            <a:pPr algn="l" marL="342900" indent="-342900">
              <a:spcAft>
                <a:spcPts val="1000"/>
              </a:spcAft>
              <a:buSzPct val="100000"/>
              <a:buChar char="•"/>
            </a:pPr>
            <a:r>
              <a:rPr lang="en-US" sz="2400" dirty="0">
                <a:solidFill>
                  <a:srgbClr val="FFFFFF"/>
                </a:solidFill>
              </a:rPr>
              <a:t>Days from service to payment, by payer</a:t>
            </a:r>
            <a:endParaRPr lang="en-US" sz="2400" dirty="0"/>
          </a:p>
          <a:p>
            <a:pPr algn="l" marL="342900" indent="-342900">
              <a:spcAft>
                <a:spcPts val="1000"/>
              </a:spcAft>
              <a:buSzPct val="100000"/>
              <a:buChar char="•"/>
            </a:pPr>
            <a:r>
              <a:rPr lang="en-US" sz="2400" dirty="0">
                <a:solidFill>
                  <a:srgbClr val="FFFFFF"/>
                </a:solidFill>
              </a:rPr>
              <a:t>Slow payers tie up cash and staff time</a:t>
            </a:r>
            <a:endParaRPr lang="en-US" sz="2400" dirty="0"/>
          </a:p>
          <a:p>
            <a:pPr algn="l" marL="342900" indent="-342900">
              <a:spcAft>
                <a:spcPts val="1000"/>
              </a:spcAft>
              <a:buSzPct val="100000"/>
              <a:buChar char="•"/>
            </a:pPr>
            <a:r>
              <a:rPr lang="en-US" sz="2400" dirty="0">
                <a:solidFill>
                  <a:srgbClr val="FFFFFF"/>
                </a:solidFill>
              </a:rPr>
              <a:t>Findings shape contract talks and follow-up staffing</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Revenue Cycle Basics</dc:title>
  <dc:subject>Week 2 Domain Seminar</dc:subject>
  <dc:creator>Health-Data-Analytics</dc:creator>
  <cp:lastModifiedBy>Health-Data-Analytics</cp:lastModifiedBy>
  <cp:revision>1</cp:revision>
  <dcterms:created xsi:type="dcterms:W3CDTF">2026-10-13T20:23:19Z</dcterms:created>
  <dcterms:modified xsi:type="dcterms:W3CDTF">2026-10-13T20:23:19Z</dcterms:modified>
</cp:coreProperties>
</file>