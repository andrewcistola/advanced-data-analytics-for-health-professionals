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4: Electronic Prior Authorization.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authorization is a utilization management tool. HIPAA named the X12 278 as the standard for medical PA, but adoption has been low, so many requests still go through payer web portals or fax. Pharmacy ePA runs through the NCPDP SCRIPT standard inside the prescriber's e-prescribing workflow. Turnaround is the time from submission to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CAQH Index (medical PA electronic adoption about 40%, up from 31%; more than $20 billion a year in savings from fully electronic transactions); KFF 2024 MA data. CMS's WISeR model (2026–2031) adds prior authorization for selected services in Arizona, New Jersey, Ohio, Oklahoma, Texas and Washington; contractors may use AI to review requests, and a clinician must review every denial.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CMS-0057-F (January 2024) applies to Medicare Advantage, Medicaid and CHIP, and federal Marketplace plans: decision timeframes, specific denial reasons and public metrics from 2026, and FHIR APIs for prior authorization, provider access and payer-to-payer exchange from January 2027. It also adds an electronic prior authorization measure for clinicians and hospitals in Medicare's Promoting Interoperability programs. In June 2025, dozens of insurers pledged to cut PA volume, honor existing approvals for 90 days when members switch plans, and answer most electronic requests in real time by 2027.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Payers must now report PA metrics publicly, so analytics teams build these measures routinely. Several states have gold-card laws that exempt providers with consistently high approval rates from PA for certain services. Providers track turnaround because delays postpone care and revenue.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Trend the share of requests submitted electronically by month. Compare channels on turnaround and approval rates, holding request type and urgency constant. Drop low-volume practices before ranking, since a practice with three requests tells you little. The best outreach targets have many requests and are still mostly on fax.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Electronic Prior Authorization</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4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prior authorization and standards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Prior authorization (PA): payer approval before care</a:t>
            </a:r>
            <a:endParaRPr lang="en-US" sz="2400" dirty="0"/>
          </a:p>
          <a:p>
            <a:pPr algn="l" marL="342900" indent="-342900">
              <a:spcAft>
                <a:spcPts val="1000"/>
              </a:spcAft>
              <a:buSzPct val="100000"/>
              <a:buChar char="•"/>
            </a:pPr>
            <a:r>
              <a:rPr lang="en-US" sz="2400" dirty="0">
                <a:solidFill>
                  <a:srgbClr val="FFFFFF"/>
                </a:solidFill>
              </a:rPr>
              <a:t>Medical PA standard: X12 278</a:t>
            </a:r>
            <a:endParaRPr lang="en-US" sz="2400" dirty="0"/>
          </a:p>
          <a:p>
            <a:pPr algn="l" marL="342900" indent="-342900">
              <a:spcAft>
                <a:spcPts val="1000"/>
              </a:spcAft>
              <a:buSzPct val="100000"/>
              <a:buChar char="•"/>
            </a:pPr>
            <a:r>
              <a:rPr lang="en-US" sz="2400" dirty="0">
                <a:solidFill>
                  <a:srgbClr val="FFFFFF"/>
                </a:solidFill>
              </a:rPr>
              <a:t>Pharmacy PA: NCPDP SCRIPT ePA in e-prescribing</a:t>
            </a:r>
            <a:endParaRPr lang="en-US" sz="2400" dirty="0"/>
          </a:p>
          <a:p>
            <a:pPr algn="l" marL="342900" indent="-342900">
              <a:spcAft>
                <a:spcPts val="1000"/>
              </a:spcAft>
              <a:buSzPct val="100000"/>
              <a:buChar char="•"/>
            </a:pPr>
            <a:r>
              <a:rPr lang="en-US" sz="2400" dirty="0">
                <a:solidFill>
                  <a:srgbClr val="FFFFFF"/>
                </a:solidFill>
              </a:rPr>
              <a:t>Channels: ePA, payer portal, fax, phone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a costly manual process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About 40% of medical PAs are fully electronic</a:t>
            </a:r>
            <a:endParaRPr lang="en-US" sz="2400" dirty="0"/>
          </a:p>
          <a:p>
            <a:pPr algn="l" marL="342900" indent="-342900">
              <a:spcAft>
                <a:spcPts val="1000"/>
              </a:spcAft>
              <a:buSzPct val="100000"/>
              <a:buChar char="•"/>
            </a:pPr>
            <a:r>
              <a:rPr lang="en-US" sz="2400" dirty="0">
                <a:solidFill>
                  <a:srgbClr val="FFFFFF"/>
                </a:solidFill>
              </a:rPr>
              <a:t>Moving remaining manual work could save &gt;$20B a year</a:t>
            </a:r>
            <a:endParaRPr lang="en-US" sz="2400" dirty="0"/>
          </a:p>
          <a:p>
            <a:pPr algn="l" marL="342900" indent="-342900">
              <a:spcAft>
                <a:spcPts val="1000"/>
              </a:spcAft>
              <a:buSzPct val="100000"/>
              <a:buChar char="•"/>
            </a:pPr>
            <a:r>
              <a:rPr lang="en-US" sz="2400" dirty="0">
                <a:solidFill>
                  <a:srgbClr val="FFFFFF"/>
                </a:solidFill>
              </a:rPr>
              <a:t>MA plans alone made ~53M PA decisions in 2024</a:t>
            </a:r>
            <a:endParaRPr lang="en-US" sz="2400" dirty="0"/>
          </a:p>
          <a:p>
            <a:pPr algn="l" marL="342900" indent="-342900">
              <a:spcAft>
                <a:spcPts val="1000"/>
              </a:spcAft>
              <a:buSzPct val="100000"/>
              <a:buChar char="•"/>
            </a:pPr>
            <a:r>
              <a:rPr lang="en-US" sz="2400" dirty="0">
                <a:solidFill>
                  <a:srgbClr val="FFFFFF"/>
                </a:solidFill>
              </a:rPr>
              <a:t>Traditional Medicare is testing PA in six states (WISeR)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faster, electronic, transparent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2026: 72-hour urgent and 7-day standard decisions</a:t>
            </a:r>
            <a:endParaRPr lang="en-US" sz="2400" dirty="0"/>
          </a:p>
          <a:p>
            <a:pPr algn="l" marL="342900" indent="-342900">
              <a:spcAft>
                <a:spcPts val="1000"/>
              </a:spcAft>
              <a:buSzPct val="100000"/>
              <a:buChar char="•"/>
            </a:pPr>
            <a:r>
              <a:rPr lang="en-US" sz="2400" dirty="0">
                <a:solidFill>
                  <a:srgbClr val="FFFFFF"/>
                </a:solidFill>
              </a:rPr>
              <a:t>2027: FHIR prior authorization APIs required</a:t>
            </a:r>
            <a:endParaRPr lang="en-US" sz="2400" dirty="0"/>
          </a:p>
          <a:p>
            <a:pPr algn="l" marL="342900" indent="-342900">
              <a:spcAft>
                <a:spcPts val="1000"/>
              </a:spcAft>
              <a:buSzPct val="100000"/>
              <a:buChar char="•"/>
            </a:pPr>
            <a:r>
              <a:rPr lang="en-US" sz="2400" dirty="0">
                <a:solidFill>
                  <a:srgbClr val="FFFFFF"/>
                </a:solidFill>
              </a:rPr>
              <a:t>Insurer pledge: 80% of ePA answered in real time by 2027</a:t>
            </a:r>
            <a:endParaRPr lang="en-US" sz="2400" dirty="0"/>
          </a:p>
          <a:p>
            <a:pPr algn="l" marL="342900" indent="-342900">
              <a:spcAft>
                <a:spcPts val="1000"/>
              </a:spcAft>
              <a:buSzPct val="100000"/>
              <a:buChar char="•"/>
            </a:pPr>
            <a:r>
              <a:rPr lang="en-US" sz="2400" dirty="0">
                <a:solidFill>
                  <a:srgbClr val="FFFFFF"/>
                </a:solidFill>
              </a:rPr>
              <a:t>Future: PA rules built into EHR ordering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Adoption: ePA share by practice and month</a:t>
            </a:r>
            <a:endParaRPr lang="en-US" sz="2400" dirty="0"/>
          </a:p>
          <a:p>
            <a:pPr algn="l" marL="342900" indent="-342900">
              <a:spcAft>
                <a:spcPts val="1000"/>
              </a:spcAft>
              <a:buSzPct val="100000"/>
              <a:buChar char="•"/>
            </a:pPr>
            <a:r>
              <a:rPr lang="en-US" sz="2400" dirty="0">
                <a:solidFill>
                  <a:srgbClr val="FFFFFF"/>
                </a:solidFill>
              </a:rPr>
              <a:t>Turnaround: hours from submission to decision</a:t>
            </a:r>
            <a:endParaRPr lang="en-US" sz="2400" dirty="0"/>
          </a:p>
          <a:p>
            <a:pPr algn="l" marL="342900" indent="-342900">
              <a:spcAft>
                <a:spcPts val="1000"/>
              </a:spcAft>
              <a:buSzPct val="100000"/>
              <a:buChar char="•"/>
            </a:pPr>
            <a:r>
              <a:rPr lang="en-US" sz="2400" dirty="0">
                <a:solidFill>
                  <a:srgbClr val="FFFFFF"/>
                </a:solidFill>
              </a:rPr>
              <a:t>Approval and auto-approval rates by channel</a:t>
            </a:r>
            <a:endParaRPr lang="en-US" sz="2400" dirty="0"/>
          </a:p>
          <a:p>
            <a:pPr algn="l" marL="342900" indent="-342900">
              <a:spcAft>
                <a:spcPts val="1000"/>
              </a:spcAft>
              <a:buSzPct val="100000"/>
              <a:buChar char="•"/>
            </a:pPr>
            <a:r>
              <a:rPr lang="en-US" sz="2400" dirty="0">
                <a:solidFill>
                  <a:srgbClr val="FFFFFF"/>
                </a:solidFill>
              </a:rPr>
              <a:t>Gold-carding exempts providers with high approval rates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targeting ePA outreach</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Is electronic use growing month over month?</a:t>
            </a:r>
            <a:endParaRPr lang="en-US" sz="2400" dirty="0"/>
          </a:p>
          <a:p>
            <a:pPr algn="l" marL="342900" indent="-342900">
              <a:spcAft>
                <a:spcPts val="1000"/>
              </a:spcAft>
              <a:buSzPct val="100000"/>
              <a:buChar char="•"/>
            </a:pPr>
            <a:r>
              <a:rPr lang="en-US" sz="2400" dirty="0">
                <a:solidFill>
                  <a:srgbClr val="FFFFFF"/>
                </a:solidFill>
              </a:rPr>
              <a:t>Compare turnaround and approval rates by channel</a:t>
            </a:r>
            <a:endParaRPr lang="en-US" sz="2400" dirty="0"/>
          </a:p>
          <a:p>
            <a:pPr algn="l" marL="342900" indent="-342900">
              <a:spcAft>
                <a:spcPts val="1000"/>
              </a:spcAft>
              <a:buSzPct val="100000"/>
              <a:buChar char="•"/>
            </a:pPr>
            <a:r>
              <a:rPr lang="en-US" sz="2400" dirty="0">
                <a:solidFill>
                  <a:srgbClr val="FFFFFF"/>
                </a:solidFill>
              </a:rPr>
              <a:t>Find high-volume practices still using fax</a:t>
            </a:r>
            <a:endParaRPr lang="en-US" sz="2400" dirty="0"/>
          </a:p>
          <a:p>
            <a:pPr algn="l" marL="342900" indent="-342900">
              <a:spcAft>
                <a:spcPts val="1000"/>
              </a:spcAft>
              <a:buSzPct val="100000"/>
              <a:buChar char="•"/>
            </a:pPr>
            <a:r>
              <a:rPr lang="en-US" sz="2400" dirty="0">
                <a:solidFill>
                  <a:srgbClr val="FFFFFF"/>
                </a:solidFill>
              </a:rPr>
              <a:t>Focus outreach where switching saves the most time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Prior Authorization</dc:title>
  <dc:subject>Week 4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