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10: Evidence on Complex Case Management Interventions.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managers (usually nurses or social workers) coordinate care, medications and services for members with complex needs. Proportion of days covered (PDC) is the share of days a member had medication on hand; 80% is the common adherence threshold. Complications drive most of the cost of diabetes.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CDC National Diabetes Statistics Report. Population health management standards in NCQA health plan accreditation include complex case management. Medicare's chronic care management codes (such as CPT 99490) pay practices for non-face-to-face care coordination. Medicare Advantage and Medicaid managed care plans run their own programs and decide who is eligible.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randomized trial of the Camden Coalition's program (Finkelstein et al., NEJM 2020), readmissions fell as much in the control group as in the treatment group, a lesson about regression to the mean. ACCESS, a voluntary CMS Innovation Center model, ties payments for technology-enabled care of conditions like diabetes, obesity and depression to outcomes. High-cost GLP-1 drugs are reshaping diabetes care and budgets.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Selecting members by high past cost tends to pick people whose costs would have fallen anyway. Better targeting asks who has risks a program can change. Pharmacy claims show refill gaps in near real time, which makes adherence one of the most actionable signals.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teams already know A1c and adherence matter. Flexible models can rank many candidate predictors at once and surface ones that aren't obvious. Importance is not causation: treat new findings as hypotheses for clinicians to review, and prioritize the ones a case management program could actually act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10: Evidence on Complex Case Management Interventions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10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chronic disease and case management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Complex case management: intensive help for high-need members</a:t>
            </a:r>
            <a:endParaRPr lang="en-US" sz="2400" dirty="0"/>
          </a:p>
          <a:p>
            <a:pPr algn="l" marL="342900" indent="-342900">
              <a:spcAft>
                <a:spcPts val="1000"/>
              </a:spcAft>
              <a:buSzPct val="100000"/>
              <a:buChar char="•"/>
            </a:pPr>
            <a:r>
              <a:rPr lang="en-US" sz="2400" dirty="0">
                <a:solidFill>
                  <a:srgbClr val="FFFFFF"/>
                </a:solidFill>
              </a:rPr>
              <a:t>Diabetes control: A1c, medications, follow-up</a:t>
            </a:r>
            <a:endParaRPr lang="en-US" sz="2400" dirty="0"/>
          </a:p>
          <a:p>
            <a:pPr algn="l" marL="342900" indent="-342900">
              <a:spcAft>
                <a:spcPts val="1000"/>
              </a:spcAft>
              <a:buSzPct val="100000"/>
              <a:buChar char="•"/>
            </a:pPr>
            <a:r>
              <a:rPr lang="en-US" sz="2400" dirty="0">
                <a:solidFill>
                  <a:srgbClr val="FFFFFF"/>
                </a:solidFill>
              </a:rPr>
              <a:t>Adherence: proportion of days covered (PDC)</a:t>
            </a:r>
            <a:endParaRPr lang="en-US" sz="2400" dirty="0"/>
          </a:p>
          <a:p>
            <a:pPr algn="l" marL="342900" indent="-342900">
              <a:spcAft>
                <a:spcPts val="1000"/>
              </a:spcAft>
              <a:buSzPct val="100000"/>
              <a:buChar char="•"/>
            </a:pPr>
            <a:r>
              <a:rPr lang="en-US" sz="2400" dirty="0">
                <a:solidFill>
                  <a:srgbClr val="FFFFFF"/>
                </a:solidFill>
              </a:rPr>
              <a:t>Complications: hypoglycemia, amputation, kidney failure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plans, providers and payment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38 million Americans have diabetes</a:t>
            </a:r>
            <a:endParaRPr lang="en-US" sz="2400" dirty="0"/>
          </a:p>
          <a:p>
            <a:pPr algn="l" marL="342900" indent="-342900">
              <a:spcAft>
                <a:spcPts val="1000"/>
              </a:spcAft>
              <a:buSzPct val="100000"/>
              <a:buChar char="•"/>
            </a:pPr>
            <a:r>
              <a:rPr lang="en-US" sz="2400" dirty="0">
                <a:solidFill>
                  <a:srgbClr val="FFFFFF"/>
                </a:solidFill>
              </a:rPr>
              <a:t>Health plans run case management; NCQA accredits it</a:t>
            </a:r>
            <a:endParaRPr lang="en-US" sz="2400" dirty="0"/>
          </a:p>
          <a:p>
            <a:pPr algn="l" marL="342900" indent="-342900">
              <a:spcAft>
                <a:spcPts val="1000"/>
              </a:spcAft>
              <a:buSzPct val="100000"/>
              <a:buChar char="•"/>
            </a:pPr>
            <a:r>
              <a:rPr lang="en-US" sz="2400" dirty="0">
                <a:solidFill>
                  <a:srgbClr val="FFFFFF"/>
                </a:solidFill>
              </a:rPr>
              <a:t>Medicare pays for chronic care management (CCM)</a:t>
            </a:r>
            <a:endParaRPr lang="en-US" sz="2400" dirty="0"/>
          </a:p>
          <a:p>
            <a:pPr algn="l" marL="342900" indent="-342900">
              <a:spcAft>
                <a:spcPts val="1000"/>
              </a:spcAft>
              <a:buSzPct val="100000"/>
              <a:buChar char="•"/>
            </a:pPr>
            <a:r>
              <a:rPr lang="en-US" sz="2400" dirty="0">
                <a:solidFill>
                  <a:srgbClr val="FFFFFF"/>
                </a:solidFill>
              </a:rPr>
              <a:t>MA and Medicaid plans target members by risk</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target well, prove the value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Evidence on case management is mixed</a:t>
            </a:r>
            <a:endParaRPr lang="en-US" sz="2400" dirty="0"/>
          </a:p>
          <a:p>
            <a:pPr algn="l" marL="342900" indent="-342900">
              <a:spcAft>
                <a:spcPts val="1000"/>
              </a:spcAft>
              <a:buSzPct val="100000"/>
              <a:buChar char="•"/>
            </a:pPr>
            <a:r>
              <a:rPr lang="en-US" sz="2400" dirty="0">
                <a:solidFill>
                  <a:srgbClr val="FFFFFF"/>
                </a:solidFill>
              </a:rPr>
              <a:t>A hot-spotting trial found no drop in readmissions</a:t>
            </a:r>
            <a:endParaRPr lang="en-US" sz="2400" dirty="0"/>
          </a:p>
          <a:p>
            <a:pPr algn="l" marL="342900" indent="-342900">
              <a:spcAft>
                <a:spcPts val="1000"/>
              </a:spcAft>
              <a:buSzPct val="100000"/>
              <a:buChar char="•"/>
            </a:pPr>
            <a:r>
              <a:rPr lang="en-US" sz="2400" dirty="0">
                <a:solidFill>
                  <a:srgbClr val="FFFFFF"/>
                </a:solidFill>
              </a:rPr>
              <a:t>CMS ACCESS model pays for tech-enabled chronic care</a:t>
            </a:r>
            <a:endParaRPr lang="en-US" sz="2400" dirty="0"/>
          </a:p>
          <a:p>
            <a:pPr algn="l" marL="342900" indent="-342900">
              <a:spcAft>
                <a:spcPts val="1000"/>
              </a:spcAft>
              <a:buSzPct val="100000"/>
              <a:buChar char="•"/>
            </a:pPr>
            <a:r>
              <a:rPr lang="en-US" sz="2400" dirty="0">
                <a:solidFill>
                  <a:srgbClr val="FFFFFF"/>
                </a:solidFill>
              </a:rPr>
              <a:t>Future: GLP-1 costs, remote monitoring, AI targeting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Risk stratification decides who gets outreach</a:t>
            </a:r>
            <a:endParaRPr lang="en-US" sz="2400" dirty="0"/>
          </a:p>
          <a:p>
            <a:pPr algn="l" marL="342900" indent="-342900">
              <a:spcAft>
                <a:spcPts val="1000"/>
              </a:spcAft>
              <a:buSzPct val="100000"/>
              <a:buChar char="•"/>
            </a:pPr>
            <a:r>
              <a:rPr lang="en-US" sz="2400" dirty="0">
                <a:solidFill>
                  <a:srgbClr val="FFFFFF"/>
                </a:solidFill>
              </a:rPr>
              <a:t>Adherence and care-gap monitoring from pharmacy claims</a:t>
            </a:r>
            <a:endParaRPr lang="en-US" sz="2400" dirty="0"/>
          </a:p>
          <a:p>
            <a:pPr algn="l" marL="342900" indent="-342900">
              <a:spcAft>
                <a:spcPts val="1000"/>
              </a:spcAft>
              <a:buSzPct val="100000"/>
              <a:buChar char="•"/>
            </a:pPr>
            <a:r>
              <a:rPr lang="en-US" sz="2400" dirty="0">
                <a:solidFill>
                  <a:srgbClr val="FFFFFF"/>
                </a:solidFill>
              </a:rPr>
              <a:t>Impactability: who can be helped, not just who is sick</a:t>
            </a:r>
            <a:endParaRPr lang="en-US" sz="2400" dirty="0"/>
          </a:p>
          <a:p>
            <a:pPr algn="l" marL="342900" indent="-342900">
              <a:spcAft>
                <a:spcPts val="1000"/>
              </a:spcAft>
              <a:buSzPct val="100000"/>
              <a:buChar char="•"/>
            </a:pPr>
            <a:r>
              <a:rPr lang="en-US" sz="2400" dirty="0">
                <a:solidFill>
                  <a:srgbClr val="FFFFFF"/>
                </a:solidFill>
              </a:rPr>
              <a:t>Dashboards: enrollment, engagement, outcomes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drivers beyond A1c</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Model complications from many candidate predictors</a:t>
            </a:r>
            <a:endParaRPr lang="en-US" sz="2400" dirty="0"/>
          </a:p>
          <a:p>
            <a:pPr algn="l" marL="342900" indent="-342900">
              <a:spcAft>
                <a:spcPts val="1000"/>
              </a:spcAft>
              <a:buSzPct val="100000"/>
              <a:buChar char="•"/>
            </a:pPr>
            <a:r>
              <a:rPr lang="en-US" sz="2400" dirty="0">
                <a:solidFill>
                  <a:srgbClr val="FFFFFF"/>
                </a:solidFill>
              </a:rPr>
              <a:t>Look at coverage, access and neighborhood factors</a:t>
            </a:r>
            <a:endParaRPr lang="en-US" sz="2400" dirty="0"/>
          </a:p>
          <a:p>
            <a:pPr algn="l" marL="342900" indent="-342900">
              <a:spcAft>
                <a:spcPts val="1000"/>
              </a:spcAft>
              <a:buSzPct val="100000"/>
              <a:buChar char="•"/>
            </a:pPr>
            <a:r>
              <a:rPr lang="en-US" sz="2400" dirty="0">
                <a:solidFill>
                  <a:srgbClr val="FFFFFF"/>
                </a:solidFill>
              </a:rPr>
              <a:t>Look at medication safety, not only adherence</a:t>
            </a:r>
            <a:endParaRPr lang="en-US" sz="2400" dirty="0"/>
          </a:p>
          <a:p>
            <a:pPr algn="l" marL="342900" indent="-342900">
              <a:spcAft>
                <a:spcPts val="1000"/>
              </a:spcAft>
              <a:buSzPct val="100000"/>
              <a:buChar char="•"/>
            </a:pPr>
            <a:r>
              <a:rPr lang="en-US" sz="2400" dirty="0">
                <a:solidFill>
                  <a:srgbClr val="FFFFFF"/>
                </a:solidFill>
              </a:rPr>
              <a:t>Focus on drivers a program can change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patients in your setting most need intensive support, and what information would you use to pick the ones a program could actually help?</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Evidence on Complex Case Management Interventions</dc:title>
  <dc:subject>Week 10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