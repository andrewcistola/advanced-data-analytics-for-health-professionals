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9: Population Health Overview.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index stay is the hospitalization that starts the 30-day window. Planned readmissions, such as a scheduled chemotherapy admission, don't count. Good transitions include clear discharge instructions, medication reconciliation and an early follow-up visit. Medicare pays for transitional care management (CPT 99495 and 99496) after discharge.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Hospital Readmissions Reduction Program was created by the Affordable Care Act and has cut payments since FY 2013. Since FY 2019, hospitals are compared within peer groups based on their share of dual-eligible patients. FY 2027 penalties use data from mid-2023 to mid-2025; most penalties are below 1%. Source: Healthcare Dive on FY 2027 HRRP penalties.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Critics argued early HRRP penalties fell hardest on hospitals serving poorer patients, which led to peer grouping. Adding MA patients makes the measure reflect a hospital's whole Medicare population. Payers and ACOs increasingly fund nurse calls, home visits and transportation after discharge.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Hospitals use scores such as LACE (length of stay, acuity, comorbidities, ED visits) or vendor models to decide who gets transitional care. Daily discharge lists route patients to nurses. Each program also needs an evaluation plan before launch, not after.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clinicians choose who gets a program, they usually choose sicker patients. Comparing enrolled with not-enrolled patients then mixes the program's effect with the patients' risk. Adjusting for risk factors measured before enrollment, or comparing changes over time against hospitals without the program (difference-in-differences), gets closer to the true effect.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Population Health Overview</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9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readmissions and care transitions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30-day readmission: back in the hospital within 30 days</a:t>
            </a:r>
            <a:endParaRPr lang="en-US" sz="2400" dirty="0"/>
          </a:p>
          <a:p>
            <a:pPr algn="l" marL="342900" indent="-342900">
              <a:spcAft>
                <a:spcPts val="1000"/>
              </a:spcAft>
              <a:buSzPct val="100000"/>
              <a:buChar char="•"/>
            </a:pPr>
            <a:r>
              <a:rPr lang="en-US" sz="2400" dirty="0">
                <a:solidFill>
                  <a:srgbClr val="FFFFFF"/>
                </a:solidFill>
              </a:rPr>
              <a:t>Index stay; planned readmissions excluded</a:t>
            </a:r>
            <a:endParaRPr lang="en-US" sz="2400" dirty="0"/>
          </a:p>
          <a:p>
            <a:pPr algn="l" marL="342900" indent="-342900">
              <a:spcAft>
                <a:spcPts val="1000"/>
              </a:spcAft>
              <a:buSzPct val="100000"/>
              <a:buChar char="•"/>
            </a:pPr>
            <a:r>
              <a:rPr lang="en-US" sz="2400" dirty="0">
                <a:solidFill>
                  <a:srgbClr val="FFFFFF"/>
                </a:solidFill>
              </a:rPr>
              <a:t>Transitions: discharge plan, medication reconciliation</a:t>
            </a:r>
            <a:endParaRPr lang="en-US" sz="2400" dirty="0"/>
          </a:p>
          <a:p>
            <a:pPr algn="l" marL="342900" indent="-342900">
              <a:spcAft>
                <a:spcPts val="1000"/>
              </a:spcAft>
              <a:buSzPct val="100000"/>
              <a:buChar char="•"/>
            </a:pPr>
            <a:r>
              <a:rPr lang="en-US" sz="2400" dirty="0">
                <a:solidFill>
                  <a:srgbClr val="FFFFFF"/>
                </a:solidFill>
              </a:rPr>
              <a:t>Follow-up visit within 7 days as a key process measure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Medicare's HRRP</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Penalties up to 3% for excess readmissions</a:t>
            </a:r>
            <a:endParaRPr lang="en-US" sz="2400" dirty="0"/>
          </a:p>
          <a:p>
            <a:pPr algn="l" marL="342900" indent="-342900">
              <a:spcAft>
                <a:spcPts val="1000"/>
              </a:spcAft>
              <a:buSzPct val="100000"/>
              <a:buChar char="•"/>
            </a:pPr>
            <a:r>
              <a:rPr lang="en-US" sz="2400" dirty="0">
                <a:solidFill>
                  <a:srgbClr val="FFFFFF"/>
                </a:solidFill>
              </a:rPr>
              <a:t>AMI, heart failure, pneumonia, COPD, CABG, hip/knee</a:t>
            </a:r>
            <a:endParaRPr lang="en-US" sz="2400" dirty="0"/>
          </a:p>
          <a:p>
            <a:pPr algn="l" marL="342900" indent="-342900">
              <a:spcAft>
                <a:spcPts val="1000"/>
              </a:spcAft>
              <a:buSzPct val="100000"/>
              <a:buChar char="•"/>
            </a:pPr>
            <a:r>
              <a:rPr lang="en-US" sz="2400" dirty="0">
                <a:solidFill>
                  <a:srgbClr val="FFFFFF"/>
                </a:solidFill>
              </a:rPr>
              <a:t>FY 2027: 2,334 hospitals (80%) penalized</a:t>
            </a:r>
            <a:endParaRPr lang="en-US" sz="2400" dirty="0"/>
          </a:p>
          <a:p>
            <a:pPr algn="l" marL="342900" indent="-342900">
              <a:spcAft>
                <a:spcPts val="1000"/>
              </a:spcAft>
              <a:buSzPct val="100000"/>
              <a:buChar char="•"/>
            </a:pPr>
            <a:r>
              <a:rPr lang="en-US" sz="2400" dirty="0">
                <a:solidFill>
                  <a:srgbClr val="FFFFFF"/>
                </a:solidFill>
              </a:rPr>
              <a:t>First year to include Medicare Advantage patients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fair penalties, better transitions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Peer grouping protects safety-net hospitals</a:t>
            </a:r>
            <a:endParaRPr lang="en-US" sz="2400" dirty="0"/>
          </a:p>
          <a:p>
            <a:pPr algn="l" marL="342900" indent="-342900">
              <a:spcAft>
                <a:spcPts val="1000"/>
              </a:spcAft>
              <a:buSzPct val="100000"/>
              <a:buChar char="•"/>
            </a:pPr>
            <a:r>
              <a:rPr lang="en-US" sz="2400" dirty="0">
                <a:solidFill>
                  <a:srgbClr val="FFFFFF"/>
                </a:solidFill>
              </a:rPr>
              <a:t>Measure all Medicare patients, not only fee-for-service</a:t>
            </a:r>
            <a:endParaRPr lang="en-US" sz="2400" dirty="0"/>
          </a:p>
          <a:p>
            <a:pPr algn="l" marL="342900" indent="-342900">
              <a:spcAft>
                <a:spcPts val="1000"/>
              </a:spcAft>
              <a:buSzPct val="100000"/>
              <a:buChar char="•"/>
            </a:pPr>
            <a:r>
              <a:rPr lang="en-US" sz="2400" dirty="0">
                <a:solidFill>
                  <a:srgbClr val="FFFFFF"/>
                </a:solidFill>
              </a:rPr>
              <a:t>Pay for transitional care, not just penalties</a:t>
            </a:r>
            <a:endParaRPr lang="en-US" sz="2400" dirty="0"/>
          </a:p>
          <a:p>
            <a:pPr algn="l" marL="342900" indent="-342900">
              <a:spcAft>
                <a:spcPts val="1000"/>
              </a:spcAft>
              <a:buSzPct val="100000"/>
              <a:buChar char="•"/>
            </a:pPr>
            <a:r>
              <a:rPr lang="en-US" sz="2400" dirty="0">
                <a:solidFill>
                  <a:srgbClr val="FFFFFF"/>
                </a:solidFill>
              </a:rPr>
              <a:t>Future: social needs and home-based follow-up</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Readmission risk scores at discharge</a:t>
            </a:r>
            <a:endParaRPr lang="en-US" sz="2400" dirty="0"/>
          </a:p>
          <a:p>
            <a:pPr algn="l" marL="342900" indent="-342900">
              <a:spcAft>
                <a:spcPts val="1000"/>
              </a:spcAft>
              <a:buSzPct val="100000"/>
              <a:buChar char="•"/>
            </a:pPr>
            <a:r>
              <a:rPr lang="en-US" sz="2400" dirty="0">
                <a:solidFill>
                  <a:srgbClr val="FFFFFF"/>
                </a:solidFill>
              </a:rPr>
              <a:t>Daily lists of high-risk discharges for care teams</a:t>
            </a:r>
            <a:endParaRPr lang="en-US" sz="2400" dirty="0"/>
          </a:p>
          <a:p>
            <a:pPr algn="l" marL="342900" indent="-342900">
              <a:spcAft>
                <a:spcPts val="1000"/>
              </a:spcAft>
              <a:buSzPct val="100000"/>
              <a:buChar char="•"/>
            </a:pPr>
            <a:r>
              <a:rPr lang="en-US" sz="2400" dirty="0">
                <a:solidFill>
                  <a:srgbClr val="FFFFFF"/>
                </a:solidFill>
              </a:rPr>
              <a:t>7-day follow-up rates tracked by unit and practice</a:t>
            </a:r>
            <a:endParaRPr lang="en-US" sz="2400" dirty="0"/>
          </a:p>
          <a:p>
            <a:pPr algn="l" marL="342900" indent="-342900">
              <a:spcAft>
                <a:spcPts val="1000"/>
              </a:spcAft>
              <a:buSzPct val="100000"/>
              <a:buChar char="•"/>
            </a:pPr>
            <a:r>
              <a:rPr lang="en-US" sz="2400" dirty="0">
                <a:solidFill>
                  <a:srgbClr val="FFFFFF"/>
                </a:solidFill>
              </a:rPr>
              <a:t>Program evaluation: did the intervention work?</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did the program work?</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Who enrolls is rarely random</a:t>
            </a:r>
            <a:endParaRPr lang="en-US" sz="2400" dirty="0"/>
          </a:p>
          <a:p>
            <a:pPr algn="l" marL="342900" indent="-342900">
              <a:spcAft>
                <a:spcPts val="1000"/>
              </a:spcAft>
              <a:buSzPct val="100000"/>
              <a:buChar char="•"/>
            </a:pPr>
            <a:r>
              <a:rPr lang="en-US" sz="2400" dirty="0">
                <a:solidFill>
                  <a:srgbClr val="FFFFFF"/>
                </a:solidFill>
              </a:rPr>
              <a:t>Naive comparisons can make a good program look bad</a:t>
            </a:r>
            <a:endParaRPr lang="en-US" sz="2400" dirty="0"/>
          </a:p>
          <a:p>
            <a:pPr algn="l" marL="342900" indent="-342900">
              <a:spcAft>
                <a:spcPts val="1000"/>
              </a:spcAft>
              <a:buSzPct val="100000"/>
              <a:buChar char="•"/>
            </a:pPr>
            <a:r>
              <a:rPr lang="en-US" sz="2400" dirty="0">
                <a:solidFill>
                  <a:srgbClr val="FFFFFF"/>
                </a:solidFill>
              </a:rPr>
              <a:t>Adjust for risk measured before enrollment</a:t>
            </a:r>
            <a:endParaRPr lang="en-US" sz="2400" dirty="0"/>
          </a:p>
          <a:p>
            <a:pPr algn="l" marL="342900" indent="-342900">
              <a:spcAft>
                <a:spcPts val="1000"/>
              </a:spcAft>
              <a:buSzPct val="100000"/>
              <a:buChar char="•"/>
            </a:pPr>
            <a:r>
              <a:rPr lang="en-US" sz="2400" dirty="0">
                <a:solidFill>
                  <a:srgbClr val="FFFFFF"/>
                </a:solidFill>
              </a:rPr>
              <a:t>Compare with similar hospitals before and after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Think of a program meant to improve outcomes for patients you've worked with. How would you tell whether it actually worked?</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Population Health Overview</dc:title>
  <dc:subject>Week 9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