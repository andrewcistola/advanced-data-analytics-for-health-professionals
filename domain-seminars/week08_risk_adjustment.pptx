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8: Risk Adjustment.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adjustment pays more for sicker enrollees so plans don't avoid them. Hierarchies keep only the most severe category in a family (complicated diabetes outranks uncomplicated). Risk scores reset every January: a chronic condition counts only if a qualifying face-to-face encounter documents it that year, with support for how it was monitored, evaluated, assessed or treated.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2025 CMS announced it would audit every eligible MA contract each year (previously about 60 of roughly 550), review up to 200 records per contract and greatly expand its coder workforce. In September 2025 a federal court in Texas vacated the 2023 RADV rule that removed the fee-for-service adjuster (Humana v. Becerra), so the extrapolation question remains unsettled. Sources: Ropes &amp; Gray; Crowell.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 2027 Rate Announcement finalized excluding diagnoses from chart reviews not linked to an encounter (an estimated 1.53% payment reduction) and from audio-only telehealth; a July 2026 CMS memo moved both to the 2027 midyear run. Unsupported diagnoses create False Claims Act exposure. Source: CY 2027 Rate Announcement summaries.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and risk-bearing providers build suspect lists from prior-year diagnoses and from medications that imply a condition (insulin without a diabetes code, for example). The compliant goal is to get the patient seen and the real condition evaluated and documented, never to add a code the visit doesn't support.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Outreach capacity is limited, so the question is which members to call first. Prediction models rank members by their chance of missing recapture; what matters most is how accurate the top of the list is. The right outcome is a visit where a clinician evaluates the condition, not a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Risk Adjustment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8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risk scores and HCCs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Payments scaled to each enrollee's expected cost</a:t>
            </a:r>
            <a:endParaRPr lang="en-US" sz="2400" dirty="0"/>
          </a:p>
          <a:p>
            <a:pPr algn="l" marL="342900" indent="-342900">
              <a:spcAft>
                <a:spcPts val="1000"/>
              </a:spcAft>
              <a:buSzPct val="100000"/>
              <a:buChar char="•"/>
            </a:pPr>
            <a:r>
              <a:rPr lang="en-US" sz="2400" dirty="0">
                <a:solidFill>
                  <a:srgbClr val="FFFFFF"/>
                </a:solidFill>
              </a:rPr>
              <a:t>Diagnoses map to hierarchical condition categories (HCCs)</a:t>
            </a:r>
            <a:endParaRPr lang="en-US" sz="2400" dirty="0"/>
          </a:p>
          <a:p>
            <a:pPr algn="l" marL="342900" indent="-342900">
              <a:spcAft>
                <a:spcPts val="1000"/>
              </a:spcAft>
              <a:buSzPct val="100000"/>
              <a:buChar char="•"/>
            </a:pPr>
            <a:r>
              <a:rPr lang="en-US" sz="2400" dirty="0">
                <a:solidFill>
                  <a:srgbClr val="FFFFFF"/>
                </a:solidFill>
              </a:rPr>
              <a:t>Risk score = demographic factors + HCC coefficients</a:t>
            </a:r>
            <a:endParaRPr lang="en-US" sz="2400" dirty="0"/>
          </a:p>
          <a:p>
            <a:pPr algn="l" marL="342900" indent="-342900">
              <a:spcAft>
                <a:spcPts val="1000"/>
              </a:spcAft>
              <a:buSzPct val="100000"/>
              <a:buChar char="•"/>
            </a:pPr>
            <a:r>
              <a:rPr lang="en-US" sz="2400" dirty="0">
                <a:solidFill>
                  <a:srgbClr val="FFFFFF"/>
                </a:solidFill>
              </a:rPr>
              <a:t>Conditions must be documented every year to count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MA, ACA and Medicaid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 uses the CMS-HCC model; V28 fully in place for 2026</a:t>
            </a:r>
            <a:endParaRPr lang="en-US" sz="2400" dirty="0"/>
          </a:p>
          <a:p>
            <a:pPr algn="l" marL="342900" indent="-342900">
              <a:spcAft>
                <a:spcPts val="1000"/>
              </a:spcAft>
              <a:buSzPct val="100000"/>
              <a:buChar char="•"/>
            </a:pPr>
            <a:r>
              <a:rPr lang="en-US" sz="2400" dirty="0">
                <a:solidFill>
                  <a:srgbClr val="FFFFFF"/>
                </a:solidFill>
              </a:rPr>
              <a:t>ACA Marketplace and Medicaid use their own models</a:t>
            </a:r>
            <a:endParaRPr lang="en-US" sz="2400" dirty="0"/>
          </a:p>
          <a:p>
            <a:pPr algn="l" marL="342900" indent="-342900">
              <a:spcAft>
                <a:spcPts val="1000"/>
              </a:spcAft>
              <a:buSzPct val="100000"/>
              <a:buChar char="•"/>
            </a:pPr>
            <a:r>
              <a:rPr lang="en-US" sz="2400" dirty="0">
                <a:solidFill>
                  <a:srgbClr val="FFFFFF"/>
                </a:solidFill>
              </a:rPr>
              <a:t>RADV audits check diagnoses against medical records</a:t>
            </a:r>
            <a:endParaRPr lang="en-US" sz="2400" dirty="0"/>
          </a:p>
          <a:p>
            <a:pPr algn="l" marL="342900" indent="-342900">
              <a:spcAft>
                <a:spcPts val="1000"/>
              </a:spcAft>
              <a:buSzPct val="100000"/>
              <a:buChar char="•"/>
            </a:pPr>
            <a:r>
              <a:rPr lang="en-US" sz="2400" dirty="0">
                <a:solidFill>
                  <a:srgbClr val="FFFFFF"/>
                </a:solidFill>
              </a:rPr>
              <a:t>CMS expanded RADV to all eligible MA contracts in 2025</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pay for illness, not coding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V28 removed codes prone to coding variation</a:t>
            </a:r>
            <a:endParaRPr lang="en-US" sz="2400" dirty="0"/>
          </a:p>
          <a:p>
            <a:pPr algn="l" marL="342900" indent="-342900">
              <a:spcAft>
                <a:spcPts val="1000"/>
              </a:spcAft>
              <a:buSzPct val="100000"/>
              <a:buChar char="•"/>
            </a:pPr>
            <a:r>
              <a:rPr lang="en-US" sz="2400" dirty="0">
                <a:solidFill>
                  <a:srgbClr val="FFFFFF"/>
                </a:solidFill>
              </a:rPr>
              <a:t>2027: unlinked chart review and audio-only dx excluded</a:t>
            </a:r>
            <a:endParaRPr lang="en-US" sz="2400" dirty="0"/>
          </a:p>
          <a:p>
            <a:pPr algn="l" marL="342900" indent="-342900">
              <a:spcAft>
                <a:spcPts val="1000"/>
              </a:spcAft>
              <a:buSzPct val="100000"/>
              <a:buChar char="•"/>
            </a:pPr>
            <a:r>
              <a:rPr lang="en-US" sz="2400" dirty="0">
                <a:solidFill>
                  <a:srgbClr val="FFFFFF"/>
                </a:solidFill>
              </a:rPr>
              <a:t>More RADV audits, records and coders</a:t>
            </a:r>
            <a:endParaRPr lang="en-US" sz="2400" dirty="0"/>
          </a:p>
          <a:p>
            <a:pPr algn="l" marL="342900" indent="-342900">
              <a:spcAft>
                <a:spcPts val="1000"/>
              </a:spcAft>
              <a:buSzPct val="100000"/>
              <a:buChar char="•"/>
            </a:pPr>
            <a:r>
              <a:rPr lang="en-US" sz="2400" dirty="0">
                <a:solidFill>
                  <a:srgbClr val="FFFFFF"/>
                </a:solidFill>
              </a:rPr>
              <a:t>Future: AI-assisted coding meets AI-assisted auditing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Suspect lists: coded last year, not yet this year</a:t>
            </a:r>
            <a:endParaRPr lang="en-US" sz="2400" dirty="0"/>
          </a:p>
          <a:p>
            <a:pPr algn="l" marL="342900" indent="-342900">
              <a:spcAft>
                <a:spcPts val="1000"/>
              </a:spcAft>
              <a:buSzPct val="100000"/>
              <a:buChar char="•"/>
            </a:pPr>
            <a:r>
              <a:rPr lang="en-US" sz="2400" dirty="0">
                <a:solidFill>
                  <a:srgbClr val="FFFFFF"/>
                </a:solidFill>
              </a:rPr>
              <a:t>Pharmacy and lab evidence of undiagnosed conditions</a:t>
            </a:r>
            <a:endParaRPr lang="en-US" sz="2400" dirty="0"/>
          </a:p>
          <a:p>
            <a:pPr algn="l" marL="342900" indent="-342900">
              <a:spcAft>
                <a:spcPts val="1000"/>
              </a:spcAft>
              <a:buSzPct val="100000"/>
              <a:buChar char="•"/>
            </a:pPr>
            <a:r>
              <a:rPr lang="en-US" sz="2400" dirty="0">
                <a:solidFill>
                  <a:srgbClr val="FFFFFF"/>
                </a:solidFill>
              </a:rPr>
              <a:t>Pre-visit reviews before annual wellness visits</a:t>
            </a:r>
            <a:endParaRPr lang="en-US" sz="2400" dirty="0"/>
          </a:p>
          <a:p>
            <a:pPr algn="l" marL="342900" indent="-342900">
              <a:spcAft>
                <a:spcPts val="1000"/>
              </a:spcAft>
              <a:buSzPct val="100000"/>
              <a:buChar char="•"/>
            </a:pPr>
            <a:r>
              <a:rPr lang="en-US" sz="2400" dirty="0">
                <a:solidFill>
                  <a:srgbClr val="FFFFFF"/>
                </a:solidFill>
              </a:rPr>
              <a:t>Compliance analytics watch for unsupported coding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closing recapture gaps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last-year HCCs may go undocumented this year?</a:t>
            </a:r>
            <a:endParaRPr lang="en-US" sz="2400" dirty="0"/>
          </a:p>
          <a:p>
            <a:pPr algn="l" marL="342900" indent="-342900">
              <a:spcAft>
                <a:spcPts val="1000"/>
              </a:spcAft>
              <a:buSzPct val="100000"/>
              <a:buChar char="•"/>
            </a:pPr>
            <a:r>
              <a:rPr lang="en-US" sz="2400" dirty="0">
                <a:solidFill>
                  <a:srgbClr val="FFFFFF"/>
                </a:solidFill>
              </a:rPr>
              <a:t>Visit patterns predict who will be missed</a:t>
            </a:r>
            <a:endParaRPr lang="en-US" sz="2400" dirty="0"/>
          </a:p>
          <a:p>
            <a:pPr algn="l" marL="342900" indent="-342900">
              <a:spcAft>
                <a:spcPts val="1000"/>
              </a:spcAft>
              <a:buSzPct val="100000"/>
              <a:buChar char="•"/>
            </a:pPr>
            <a:r>
              <a:rPr lang="en-US" sz="2400" dirty="0">
                <a:solidFill>
                  <a:srgbClr val="FFFFFF"/>
                </a:solidFill>
              </a:rPr>
              <a:t>Prioritize members for visits before year-end</a:t>
            </a:r>
            <a:endParaRPr lang="en-US" sz="2400" dirty="0"/>
          </a:p>
          <a:p>
            <a:pPr algn="l" marL="342900" indent="-342900">
              <a:spcAft>
                <a:spcPts val="1000"/>
              </a:spcAft>
              <a:buSzPct val="100000"/>
              <a:buChar char="•"/>
            </a:pPr>
            <a:r>
              <a:rPr lang="en-US" sz="2400" dirty="0">
                <a:solidFill>
                  <a:srgbClr val="FFFFFF"/>
                </a:solidFill>
              </a:rPr>
              <a:t>Goal: accurate documentation of real conditions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Adjustment</dc:title>
  <dc:subject>Week 8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