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13: Cross Domain Applications. We will go through basics and terminology, where the topic is found across industry and policy, reform goals, how analytics is deployed, and how analytics drives decisions. Provide opening remarks here.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a $300 program that lowers a member's admission risk by 10 percentage points needs 10 members to prevent one admission. If an admission costs $15,000, ten members cost $3,000 and save $15,000. The same program aimed at low-risk members prevents almost nothing, which is why targeting drives ROI.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Center can expand a model only when it reduces spending without lowering quality (or improves quality without raising spending), as certified by CMS's actuary; few models have met that bar. A program may raise revenue, quality scores or health outcomes, and each stakeholder weighs those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Ten-year models like LEAD give organizations time to earn back prevention investments. A well-known study (Obermeyer et al., Science 2019) showed an algorithm that used past cost as a proxy for need under-selected Black patients, so targeting models now face fairness review.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decisions often chain several models: who is at risk, who would respond, and what an avoided event is worth. Errors compound across steps, so test how the recommendation changes when effect sizes or costs move. Leaders need a clear recommendation with its uncertainty, not every model output.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Bring together everything from the term: data you trust, measures defined carefully, effects estimated without selection bias, and predictions used for targeting. The final step is judgment: state the recommendation, the expected return, what could make it wrong, and what to monitor after launch.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Cross Domain Applications</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13 Domain Seminar</a:t>
            </a:r>
            <a:endParaRPr lang="en-US" sz="22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return on investment for programs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ROI = (savings − cost) ÷ cost</a:t>
            </a:r>
            <a:endParaRPr lang="en-US" sz="2400" dirty="0"/>
          </a:p>
          <a:p>
            <a:pPr algn="l" marL="342900" indent="-342900">
              <a:spcAft>
                <a:spcPts val="1000"/>
              </a:spcAft>
              <a:buSzPct val="100000"/>
              <a:buChar char="•"/>
            </a:pPr>
            <a:r>
              <a:rPr lang="en-US" sz="2400" dirty="0">
                <a:solidFill>
                  <a:srgbClr val="FFFFFF"/>
                </a:solidFill>
              </a:rPr>
              <a:t>Savings come from events avoided, not enrollment</a:t>
            </a:r>
            <a:endParaRPr lang="en-US" sz="2400" dirty="0"/>
          </a:p>
          <a:p>
            <a:pPr algn="l" marL="342900" indent="-342900">
              <a:spcAft>
                <a:spcPts val="1000"/>
              </a:spcAft>
              <a:buSzPct val="100000"/>
              <a:buChar char="•"/>
            </a:pPr>
            <a:r>
              <a:rPr lang="en-US" sz="2400" dirty="0">
                <a:solidFill>
                  <a:srgbClr val="FFFFFF"/>
                </a:solidFill>
              </a:rPr>
              <a:t>Number needed to treat links effect to cost</a:t>
            </a:r>
            <a:endParaRPr lang="en-US" sz="2400" dirty="0"/>
          </a:p>
          <a:p>
            <a:pPr algn="l" marL="342900" indent="-342900">
              <a:spcAft>
                <a:spcPts val="1000"/>
              </a:spcAft>
              <a:buSzPct val="100000"/>
              <a:buChar char="•"/>
            </a:pPr>
            <a:r>
              <a:rPr lang="en-US" sz="2400" dirty="0">
                <a:solidFill>
                  <a:srgbClr val="FFFFFF"/>
                </a:solidFill>
              </a:rPr>
              <a:t>Targeting decides who gets a limited program</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budgets and models across domains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Plans and systems fund a few programs a year</a:t>
            </a:r>
            <a:endParaRPr lang="en-US" sz="2400" dirty="0"/>
          </a:p>
          <a:p>
            <a:pPr algn="l" marL="342900" indent="-342900">
              <a:spcAft>
                <a:spcPts val="1000"/>
              </a:spcAft>
              <a:buSzPct val="100000"/>
              <a:buChar char="•"/>
            </a:pPr>
            <a:r>
              <a:rPr lang="en-US" sz="2400" dirty="0">
                <a:solidFill>
                  <a:srgbClr val="FFFFFF"/>
                </a:solidFill>
              </a:rPr>
              <a:t>CMS Innovation Center tests models; scales the ones that work</a:t>
            </a:r>
            <a:endParaRPr lang="en-US" sz="2400" dirty="0"/>
          </a:p>
          <a:p>
            <a:pPr algn="l" marL="342900" indent="-342900">
              <a:spcAft>
                <a:spcPts val="1000"/>
              </a:spcAft>
              <a:buSzPct val="100000"/>
              <a:buChar char="•"/>
            </a:pPr>
            <a:r>
              <a:rPr lang="en-US" sz="2400" dirty="0">
                <a:solidFill>
                  <a:srgbClr val="FFFFFF"/>
                </a:solidFill>
              </a:rPr>
              <a:t>MedPAC and CBO scrutinize claimed savings</a:t>
            </a:r>
            <a:endParaRPr lang="en-US" sz="2400" dirty="0"/>
          </a:p>
          <a:p>
            <a:pPr algn="l" marL="342900" indent="-342900">
              <a:spcAft>
                <a:spcPts val="1000"/>
              </a:spcAft>
              <a:buSzPct val="100000"/>
              <a:buChar char="•"/>
            </a:pPr>
            <a:r>
              <a:rPr lang="en-US" sz="2400" dirty="0">
                <a:solidFill>
                  <a:srgbClr val="FFFFFF"/>
                </a:solidFill>
              </a:rPr>
              <a:t>Revenue, quality and population health goals compete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prove savings, then scale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Rigorous evaluation before expansion</a:t>
            </a:r>
            <a:endParaRPr lang="en-US" sz="2400" dirty="0"/>
          </a:p>
          <a:p>
            <a:pPr algn="l" marL="342900" indent="-342900">
              <a:spcAft>
                <a:spcPts val="1000"/>
              </a:spcAft>
              <a:buSzPct val="100000"/>
              <a:buChar char="•"/>
            </a:pPr>
            <a:r>
              <a:rPr lang="en-US" sz="2400" dirty="0">
                <a:solidFill>
                  <a:srgbClr val="FFFFFF"/>
                </a:solidFill>
              </a:rPr>
              <a:t>Longer models reward long-term prevention</a:t>
            </a:r>
            <a:endParaRPr lang="en-US" sz="2400" dirty="0"/>
          </a:p>
          <a:p>
            <a:pPr algn="l" marL="342900" indent="-342900">
              <a:spcAft>
                <a:spcPts val="1000"/>
              </a:spcAft>
              <a:buSzPct val="100000"/>
              <a:buChar char="•"/>
            </a:pPr>
            <a:r>
              <a:rPr lang="en-US" sz="2400" dirty="0">
                <a:solidFill>
                  <a:srgbClr val="FFFFFF"/>
                </a:solidFill>
              </a:rPr>
              <a:t>Two-sided risk puts providers on the hook</a:t>
            </a:r>
            <a:endParaRPr lang="en-US" sz="2400" dirty="0"/>
          </a:p>
          <a:p>
            <a:pPr algn="l" marL="342900" indent="-342900">
              <a:spcAft>
                <a:spcPts val="1000"/>
              </a:spcAft>
              <a:buSzPct val="100000"/>
              <a:buChar char="•"/>
            </a:pPr>
            <a:r>
              <a:rPr lang="en-US" sz="2400" dirty="0">
                <a:solidFill>
                  <a:srgbClr val="FFFFFF"/>
                </a:solidFill>
              </a:rPr>
              <a:t>Future: predictive targeting under fairness scrutiny</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Pipelines chain models: risk, response, cost</a:t>
            </a:r>
            <a:endParaRPr lang="en-US" sz="2400" dirty="0"/>
          </a:p>
          <a:p>
            <a:pPr algn="l" marL="342900" indent="-342900">
              <a:spcAft>
                <a:spcPts val="1000"/>
              </a:spcAft>
              <a:buSzPct val="100000"/>
              <a:buChar char="•"/>
            </a:pPr>
            <a:r>
              <a:rPr lang="en-US" sz="2400" dirty="0">
                <a:solidFill>
                  <a:srgbClr val="FFFFFF"/>
                </a:solidFill>
              </a:rPr>
              <a:t>Each model's error flows into the final estimate</a:t>
            </a:r>
            <a:endParaRPr lang="en-US" sz="2400" dirty="0"/>
          </a:p>
          <a:p>
            <a:pPr algn="l" marL="342900" indent="-342900">
              <a:spcAft>
                <a:spcPts val="1000"/>
              </a:spcAft>
              <a:buSzPct val="100000"/>
              <a:buChar char="•"/>
            </a:pPr>
            <a:r>
              <a:rPr lang="en-US" sz="2400" dirty="0">
                <a:solidFill>
                  <a:srgbClr val="FFFFFF"/>
                </a:solidFill>
              </a:rPr>
              <a:t>Sensitivity analysis on key assumptions</a:t>
            </a:r>
            <a:endParaRPr lang="en-US" sz="2400" dirty="0"/>
          </a:p>
          <a:p>
            <a:pPr algn="l" marL="342900" indent="-342900">
              <a:spcAft>
                <a:spcPts val="1000"/>
              </a:spcAft>
              <a:buSzPct val="100000"/>
              <a:buChar char="•"/>
            </a:pPr>
            <a:r>
              <a:rPr lang="en-US" sz="2400" dirty="0">
                <a:solidFill>
                  <a:srgbClr val="FFFFFF"/>
                </a:solidFill>
              </a:rPr>
              <a:t>Deliverable: one decision, clearly argued</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picking one program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Estimate the effect of each candidate program</a:t>
            </a:r>
            <a:endParaRPr lang="en-US" sz="2400" dirty="0"/>
          </a:p>
          <a:p>
            <a:pPr algn="l" marL="342900" indent="-342900">
              <a:spcAft>
                <a:spcPts val="1000"/>
              </a:spcAft>
              <a:buSzPct val="100000"/>
              <a:buChar char="•"/>
            </a:pPr>
            <a:r>
              <a:rPr lang="en-US" sz="2400" dirty="0">
                <a:solidFill>
                  <a:srgbClr val="FFFFFF"/>
                </a:solidFill>
              </a:rPr>
              <a:t>Predict who would benefit most</a:t>
            </a:r>
            <a:endParaRPr lang="en-US" sz="2400" dirty="0"/>
          </a:p>
          <a:p>
            <a:pPr algn="l" marL="342900" indent="-342900">
              <a:spcAft>
                <a:spcPts val="1000"/>
              </a:spcAft>
              <a:buSzPct val="100000"/>
              <a:buChar char="•"/>
            </a:pPr>
            <a:r>
              <a:rPr lang="en-US" sz="2400" dirty="0">
                <a:solidFill>
                  <a:srgbClr val="FFFFFF"/>
                </a:solidFill>
              </a:rPr>
              <a:t>Compare net return per dollar spent</a:t>
            </a:r>
            <a:endParaRPr lang="en-US" sz="2400" dirty="0"/>
          </a:p>
          <a:p>
            <a:pPr algn="l" marL="342900" indent="-342900">
              <a:spcAft>
                <a:spcPts val="1000"/>
              </a:spcAft>
              <a:buSzPct val="100000"/>
              <a:buChar char="•"/>
            </a:pPr>
            <a:r>
              <a:rPr lang="en-US" sz="2400" dirty="0">
                <a:solidFill>
                  <a:srgbClr val="FFFFFF"/>
                </a:solidFill>
              </a:rPr>
              <a:t>Recommend one, with uncertainty and risks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 Domain Applications</dc:title>
  <dc:subject>Week 13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