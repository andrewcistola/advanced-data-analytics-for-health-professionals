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1: Healthcare Data and the Analytics Domains. It follows the course pattern: basics and terminology, where the topic sits in industry and policy, reform goals, how analytics is deployed, and how analytics drives decisions. Replace this note with your own opening remarks.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Claims are the shared language of payers and providers: every visit, stay and fill becomes a record with diagnoses, procedures and dollars. Eligibility tells you who was covered when, which is the denominator for almost every rate. The revenue cycle is about getting paid correctly for care delivered. Value-based payment pays for cost and quality rather than volume. Population health is about improving outcomes for a defined group of people.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CMS National Health Expenditure fact sheet (2024 data; spending grew 7.2%). HIPAA Administrative Simplification standardized electronic claims (X12 837) and remittances (X12 835), and the Privacy and Security Rules govern how this data is used. All-payer claims databases (APCDs) combine claims from many payers for price transparency, research and policy analysis.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domain this term ties back to these goals. Federal interoperability rules require payers to share data through HL7 FHIR APIs. Price transparency rules require hospitals and insurers to publish negotiated rates. AI is spreading quickly through claims review, coding and outreach, which raises questions about validation and oversight that recur all term.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health plans and systems run a central data warehouse, on premises or in the cloud. The relational model is what lets an analyst link a claim to a member, a coverage month and a provider. The analyst's value is less the query than the translation: turning numbers into a decision a director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bad numbers come from misunderstanding the data, not from bad math. A join at the wrong grain (claim lines to claim headers, or claims to member-months) silently double-counts dollars. Primary keys identify a row; foreign keys connect tables. Following one person through coverage, visits and prescriptions is the fastest way to learn how the tables fit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Healthcare Data and the Analytics Domains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 Domain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healthcare data and three domains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Claims: what was billed, allowed and paid</a:t>
            </a:r>
            <a:endParaRPr lang="en-US" sz="2400" dirty="0"/>
          </a:p>
          <a:p>
            <a:pPr algn="l" marL="342900" indent="-342900">
              <a:spcAft>
                <a:spcPts val="1000"/>
              </a:spcAft>
              <a:buSzPct val="100000"/>
              <a:buChar char="•"/>
            </a:pPr>
            <a:r>
              <a:rPr lang="en-US" sz="2400" dirty="0">
                <a:solidFill>
                  <a:srgbClr val="FFFFFF"/>
                </a:solidFill>
              </a:rPr>
              <a:t>Eligibility: who was covered, by whom, each month</a:t>
            </a:r>
            <a:endParaRPr lang="en-US" sz="2400" dirty="0"/>
          </a:p>
          <a:p>
            <a:pPr algn="l" marL="342900" indent="-342900">
              <a:spcAft>
                <a:spcPts val="1000"/>
              </a:spcAft>
              <a:buSzPct val="100000"/>
              <a:buChar char="•"/>
            </a:pPr>
            <a:r>
              <a:rPr lang="en-US" sz="2400" dirty="0">
                <a:solidFill>
                  <a:srgbClr val="FFFFFF"/>
                </a:solidFill>
              </a:rPr>
              <a:t>Also: pharmacy, clinical (EHR) and operational data</a:t>
            </a:r>
            <a:endParaRPr lang="en-US" sz="2400" dirty="0"/>
          </a:p>
          <a:p>
            <a:pPr algn="l" marL="342900" indent="-342900">
              <a:spcAft>
                <a:spcPts val="1000"/>
              </a:spcAft>
              <a:buSzPct val="100000"/>
              <a:buChar char="•"/>
            </a:pPr>
            <a:r>
              <a:rPr lang="en-US" sz="2400" dirty="0">
                <a:solidFill>
                  <a:srgbClr val="FFFFFF"/>
                </a:solidFill>
              </a:rPr>
              <a:t>Domains: revenue cycle, value-based payment, population health</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a $5.3 trillion industry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U.S. health spending: $5.3 trillion in 2024, 18% of GDP</a:t>
            </a:r>
            <a:endParaRPr lang="en-US" sz="2400" dirty="0"/>
          </a:p>
          <a:p>
            <a:pPr algn="l" marL="342900" indent="-342900">
              <a:spcAft>
                <a:spcPts val="1000"/>
              </a:spcAft>
              <a:buSzPct val="100000"/>
              <a:buChar char="•"/>
            </a:pPr>
            <a:r>
              <a:rPr lang="en-US" sz="2400" dirty="0">
                <a:solidFill>
                  <a:srgbClr val="FFFFFF"/>
                </a:solidFill>
              </a:rPr>
              <a:t>Private insurance 31%, Medicare 21%, Medicaid 18%</a:t>
            </a:r>
            <a:endParaRPr lang="en-US" sz="2400" dirty="0"/>
          </a:p>
          <a:p>
            <a:pPr algn="l" marL="342900" indent="-342900">
              <a:spcAft>
                <a:spcPts val="1000"/>
              </a:spcAft>
              <a:buSzPct val="100000"/>
              <a:buChar char="•"/>
            </a:pPr>
            <a:r>
              <a:rPr lang="en-US" sz="2400" dirty="0">
                <a:solidFill>
                  <a:srgbClr val="FFFFFF"/>
                </a:solidFill>
              </a:rPr>
              <a:t>HIPAA sets electronic transaction and privacy standards</a:t>
            </a:r>
            <a:endParaRPr lang="en-US" sz="2400" dirty="0"/>
          </a:p>
          <a:p>
            <a:pPr algn="l" marL="342900" indent="-342900">
              <a:spcAft>
                <a:spcPts val="1000"/>
              </a:spcAft>
              <a:buSzPct val="100000"/>
              <a:buChar char="•"/>
            </a:pPr>
            <a:r>
              <a:rPr lang="en-US" sz="2400" dirty="0">
                <a:solidFill>
                  <a:srgbClr val="FFFFFF"/>
                </a:solidFill>
              </a:rPr>
              <a:t>Many states pool payer data in all-payer claims databases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pay for value, share the data</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Shift payment from volume toward value</a:t>
            </a:r>
            <a:endParaRPr lang="en-US" sz="2400" dirty="0"/>
          </a:p>
          <a:p>
            <a:pPr algn="l" marL="342900" indent="-342900">
              <a:spcAft>
                <a:spcPts val="1000"/>
              </a:spcAft>
              <a:buSzPct val="100000"/>
              <a:buChar char="•"/>
            </a:pPr>
            <a:r>
              <a:rPr lang="en-US" sz="2400" dirty="0">
                <a:solidFill>
                  <a:srgbClr val="FFFFFF"/>
                </a:solidFill>
              </a:rPr>
              <a:t>Interoperability: FHIR APIs between payers, providers, patients</a:t>
            </a:r>
            <a:endParaRPr lang="en-US" sz="2400" dirty="0"/>
          </a:p>
          <a:p>
            <a:pPr algn="l" marL="342900" indent="-342900">
              <a:spcAft>
                <a:spcPts val="1000"/>
              </a:spcAft>
              <a:buSzPct val="100000"/>
              <a:buChar char="•"/>
            </a:pPr>
            <a:r>
              <a:rPr lang="en-US" sz="2400" dirty="0">
                <a:solidFill>
                  <a:srgbClr val="FFFFFF"/>
                </a:solidFill>
              </a:rPr>
              <a:t>Transparency in prices and quality</a:t>
            </a:r>
            <a:endParaRPr lang="en-US" sz="2400" dirty="0"/>
          </a:p>
          <a:p>
            <a:pPr algn="l" marL="342900" indent="-342900">
              <a:spcAft>
                <a:spcPts val="1000"/>
              </a:spcAft>
              <a:buSzPct val="100000"/>
              <a:buChar char="•"/>
            </a:pPr>
            <a:r>
              <a:rPr lang="en-US" sz="2400" dirty="0">
                <a:solidFill>
                  <a:srgbClr val="FFFFFF"/>
                </a:solidFill>
              </a:rPr>
              <a:t>Future: AI built into payer and provider workflows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Data warehouses join claims, eligibility and providers</a:t>
            </a:r>
            <a:endParaRPr lang="en-US" sz="2400" dirty="0"/>
          </a:p>
          <a:p>
            <a:pPr algn="l" marL="342900" indent="-342900">
              <a:spcAft>
                <a:spcPts val="1000"/>
              </a:spcAft>
              <a:buSzPct val="100000"/>
              <a:buChar char="•"/>
            </a:pPr>
            <a:r>
              <a:rPr lang="en-US" sz="2400" dirty="0">
                <a:solidFill>
                  <a:srgbClr val="FFFFFF"/>
                </a:solidFill>
              </a:rPr>
              <a:t>Descriptive reporting: dashboards, KPIs, scorecards</a:t>
            </a:r>
            <a:endParaRPr lang="en-US" sz="2400" dirty="0"/>
          </a:p>
          <a:p>
            <a:pPr algn="l" marL="342900" indent="-342900">
              <a:spcAft>
                <a:spcPts val="1000"/>
              </a:spcAft>
              <a:buSzPct val="100000"/>
              <a:buChar char="•"/>
            </a:pPr>
            <a:r>
              <a:rPr lang="en-US" sz="2400" dirty="0">
                <a:solidFill>
                  <a:srgbClr val="FFFFFF"/>
                </a:solidFill>
              </a:rPr>
              <a:t>Predictive models flag who or what needs attention</a:t>
            </a:r>
            <a:endParaRPr lang="en-US" sz="2400" dirty="0"/>
          </a:p>
          <a:p>
            <a:pPr algn="l" marL="342900" indent="-342900">
              <a:spcAft>
                <a:spcPts val="1000"/>
              </a:spcAft>
              <a:buSzPct val="100000"/>
              <a:buChar char="•"/>
            </a:pPr>
            <a:r>
              <a:rPr lang="en-US" sz="2400" dirty="0">
                <a:solidFill>
                  <a:srgbClr val="FFFFFF"/>
                </a:solidFill>
              </a:rPr>
              <a:t>Analysts translate results for operational leaders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know your data first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Every decision starts with a trustworthy table</a:t>
            </a:r>
            <a:endParaRPr lang="en-US" sz="2400" dirty="0"/>
          </a:p>
          <a:p>
            <a:pPr algn="l" marL="342900" indent="-342900">
              <a:spcAft>
                <a:spcPts val="1000"/>
              </a:spcAft>
              <a:buSzPct val="100000"/>
              <a:buChar char="•"/>
            </a:pPr>
            <a:r>
              <a:rPr lang="en-US" sz="2400" dirty="0">
                <a:solidFill>
                  <a:srgbClr val="FFFFFF"/>
                </a:solidFill>
              </a:rPr>
              <a:t>Know the grain: one row per claim, line or member-month</a:t>
            </a:r>
            <a:endParaRPr lang="en-US" sz="2400" dirty="0"/>
          </a:p>
          <a:p>
            <a:pPr algn="l" marL="342900" indent="-342900">
              <a:spcAft>
                <a:spcPts val="1000"/>
              </a:spcAft>
              <a:buSzPct val="100000"/>
              <a:buChar char="•"/>
            </a:pPr>
            <a:r>
              <a:rPr lang="en-US" sz="2400" dirty="0">
                <a:solidFill>
                  <a:srgbClr val="FFFFFF"/>
                </a:solidFill>
              </a:rPr>
              <a:t>Know the keys that link members, claims and providers</a:t>
            </a:r>
            <a:endParaRPr lang="en-US" sz="2400" dirty="0"/>
          </a:p>
          <a:p>
            <a:pPr algn="l" marL="342900" indent="-342900">
              <a:spcAft>
                <a:spcPts val="1000"/>
              </a:spcAft>
              <a:buSzPct val="100000"/>
              <a:buChar char="•"/>
            </a:pPr>
            <a:r>
              <a:rPr lang="en-US" sz="2400" dirty="0">
                <a:solidFill>
                  <a:srgbClr val="FFFFFF"/>
                </a:solidFill>
              </a:rPr>
              <a:t>Trace one patient's story before you aggregate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Data and the Analytics Domains</dc:title>
  <dc:subject>Week 1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