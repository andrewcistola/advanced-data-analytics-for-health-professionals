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seminar for week 1: Intro to Relational Databases. It prepares students for Lab 1, summarized on the last slide. Replace this note with your own opening remarks.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point students already know. Excel stops at about one million rows, and a year of claims for a mid-sized plan blows past that. More important than size: a database keeps one shared copy of the data, and a saved query is a record of exactly how a number was produced. That makes analysis repeatable and auditable, which matters when finance or compliance asks where a figure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vocabulary. The most useful question to ask of any table is its grain: what does one row represent? In medical_claims it is one claim; in medical_claim_lines it is one service line on a claim; in coverage_member_months it is one member in one month. Most counting mistakes in this course come from misreading the grain.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primary key is the column, or set of columns, that identifies a row. Point out that keys are a promise, and in a real warehouse you check promises rather than trust them. In the lab, students prove uniqueness by comparing COUNT(*) with COUNT(DISTINCT key). Mention that claim lines need two columns together to be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Foreign keys are how tables connect. medical_claim_lines.claim_id points to medical_claims.claim_id. medical_claims.member_id points to beneficiaries. Encourage students to open the ER diagram in DBeaver and trace the paths before they write any SQL. Most join errors are really diagram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The goal is to explain why the data is spread across tables at all. If the member's birth date lived on every claim, it could disagree between claims. Normalization stores it once. The cost is that analysts must join tables back together, which is most of what the next few weeks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tour of the synthetic warehouse used all term. It represents a health plan population and a regional hospital system, Understory Health, over 2021–2025. Everything is fictional. Show where column descriptions live: the Properties tab in DBeaver, or duckdb_columns() in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DuckDB is an open-source analytical database. It stores data by column, which makes summaries over millions of rows fast. Because it runs inside the program that opens it, there is nothing to install on a server. The SQL dialect is close to PostgreSQL, so skills transfer to enterprise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which tool is used when. DBeaver is a general SQL client used across the industry. JupyterLab adds Python for modeling later in the term. DuckDB allows several read-only connections to the same file but only one writer, so the setup guide connects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query. If n_rows equals n_ids and n_null is zero, member_id behaves like a primary key. Ask students how they would adapt it for a composite key such as claim_id plus line_number. This is the first check in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overview. The full student handout is labs/lab01_software_tour/README.md; the solution and expected results are in the same folder. AI step: Ask: "What is the difference between a claim header and a claim line?" Check the answer against medical_claims and medical_claim_lines. Note one thing it got right and one it got wrong or left vague.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 Intro to Relational Databases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 Technical Seminar</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Why a database, not a spreadsheet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Healthcare data is big: millions of claims</a:t>
            </a:r>
            <a:endParaRPr lang="en-US" sz="2400" dirty="0"/>
          </a:p>
          <a:p>
            <a:pPr algn="l" marL="342900" indent="-342900">
              <a:spcAft>
                <a:spcPts val="1000"/>
              </a:spcAft>
              <a:buSzPct val="100000"/>
              <a:buChar char="•"/>
            </a:pPr>
            <a:r>
              <a:rPr lang="en-US" sz="2400" dirty="0">
                <a:solidFill>
                  <a:srgbClr val="FFFFFF"/>
                </a:solidFill>
              </a:rPr>
              <a:t>It spans many related tables</a:t>
            </a:r>
            <a:endParaRPr lang="en-US" sz="2400" dirty="0"/>
          </a:p>
          <a:p>
            <a:pPr algn="l" marL="342900" indent="-342900">
              <a:spcAft>
                <a:spcPts val="1000"/>
              </a:spcAft>
              <a:buSzPct val="100000"/>
              <a:buChar char="•"/>
            </a:pPr>
            <a:r>
              <a:rPr lang="en-US" sz="2400" dirty="0">
                <a:solidFill>
                  <a:srgbClr val="FFFFFF"/>
                </a:solidFill>
              </a:rPr>
              <a:t>Many people need one copy of the truth</a:t>
            </a:r>
            <a:endParaRPr lang="en-US" sz="2400" dirty="0"/>
          </a:p>
          <a:p>
            <a:pPr algn="l" marL="342900" indent="-342900">
              <a:spcAft>
                <a:spcPts val="1000"/>
              </a:spcAft>
              <a:buSzPct val="100000"/>
              <a:buChar char="•"/>
            </a:pPr>
            <a:r>
              <a:rPr lang="en-US" sz="2400" dirty="0">
                <a:solidFill>
                  <a:srgbClr val="FFFFFF"/>
                </a:solidFill>
              </a:rPr>
              <a:t>Queries are repeatable and auditable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Tables, rows and columns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Table: one kind of thing (members, claims)</a:t>
            </a:r>
            <a:endParaRPr lang="en-US" sz="2400" dirty="0"/>
          </a:p>
          <a:p>
            <a:pPr algn="l" marL="342900" indent="-342900">
              <a:spcAft>
                <a:spcPts val="1000"/>
              </a:spcAft>
              <a:buSzPct val="100000"/>
              <a:buChar char="•"/>
            </a:pPr>
            <a:r>
              <a:rPr lang="en-US" sz="2400" dirty="0">
                <a:solidFill>
                  <a:srgbClr val="FFFFFF"/>
                </a:solidFill>
              </a:rPr>
              <a:t>Row: one instance of that thing</a:t>
            </a:r>
            <a:endParaRPr lang="en-US" sz="2400" dirty="0"/>
          </a:p>
          <a:p>
            <a:pPr algn="l" marL="342900" indent="-342900">
              <a:spcAft>
                <a:spcPts val="1000"/>
              </a:spcAft>
              <a:buSzPct val="100000"/>
              <a:buChar char="•"/>
            </a:pPr>
            <a:r>
              <a:rPr lang="en-US" sz="2400" dirty="0">
                <a:solidFill>
                  <a:srgbClr val="FFFFFF"/>
                </a:solidFill>
              </a:rPr>
              <a:t>Column: one attribute, with a data type</a:t>
            </a:r>
            <a:endParaRPr lang="en-US" sz="2400" dirty="0"/>
          </a:p>
          <a:p>
            <a:pPr algn="l" marL="342900" indent="-342900">
              <a:spcAft>
                <a:spcPts val="1000"/>
              </a:spcAft>
              <a:buSzPct val="100000"/>
              <a:buChar char="•"/>
            </a:pPr>
            <a:r>
              <a:rPr lang="en-US" sz="2400" dirty="0">
                <a:solidFill>
                  <a:srgbClr val="FFFFFF"/>
                </a:solidFill>
              </a:rPr>
              <a:t>Grain: what exactly does one row represent?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Primary keys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Uniquely identify each row</a:t>
            </a:r>
            <a:endParaRPr lang="en-US" sz="2400" dirty="0"/>
          </a:p>
          <a:p>
            <a:pPr algn="l" marL="342900" indent="-342900">
              <a:spcAft>
                <a:spcPts val="1000"/>
              </a:spcAft>
              <a:buSzPct val="100000"/>
              <a:buChar char="•"/>
            </a:pPr>
            <a:r>
              <a:rPr lang="en-US" sz="2400" dirty="0">
                <a:solidFill>
                  <a:srgbClr val="FFFFFF"/>
                </a:solidFill>
              </a:rPr>
              <a:t>Never NULL, never repeated</a:t>
            </a:r>
            <a:endParaRPr lang="en-US" sz="2400" dirty="0"/>
          </a:p>
          <a:p>
            <a:pPr algn="l" marL="342900" indent="-342900">
              <a:spcAft>
                <a:spcPts val="1000"/>
              </a:spcAft>
              <a:buSzPct val="100000"/>
              <a:buChar char="•"/>
            </a:pPr>
            <a:r>
              <a:rPr lang="en-US" sz="2400" dirty="0">
                <a:solidFill>
                  <a:srgbClr val="FFFFFF"/>
                </a:solidFill>
              </a:rPr>
              <a:t>Examples: member_id, claim_id, npi</a:t>
            </a:r>
            <a:endParaRPr lang="en-US" sz="2400" dirty="0"/>
          </a:p>
          <a:p>
            <a:pPr algn="l" marL="342900" indent="-342900">
              <a:spcAft>
                <a:spcPts val="1000"/>
              </a:spcAft>
              <a:buSzPct val="100000"/>
              <a:buChar char="•"/>
            </a:pPr>
            <a:r>
              <a:rPr lang="en-US" sz="2400" dirty="0">
                <a:solidFill>
                  <a:srgbClr val="FFFFFF"/>
                </a:solidFill>
              </a:rPr>
              <a:t>Some keys are composite: claim_id + line_number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Foreign keys and relationships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 column that points to another table's key</a:t>
            </a:r>
            <a:endParaRPr lang="en-US" sz="2400" dirty="0"/>
          </a:p>
          <a:p>
            <a:pPr algn="l" marL="342900" indent="-342900">
              <a:spcAft>
                <a:spcPts val="1000"/>
              </a:spcAft>
              <a:buSzPct val="100000"/>
              <a:buChar char="•"/>
            </a:pPr>
            <a:r>
              <a:rPr lang="en-US" sz="2400" dirty="0">
                <a:solidFill>
                  <a:srgbClr val="FFFFFF"/>
                </a:solidFill>
              </a:rPr>
              <a:t>One-to-many: one claim has many lines</a:t>
            </a:r>
            <a:endParaRPr lang="en-US" sz="2400" dirty="0"/>
          </a:p>
          <a:p>
            <a:pPr algn="l" marL="342900" indent="-342900">
              <a:spcAft>
                <a:spcPts val="1000"/>
              </a:spcAft>
              <a:buSzPct val="100000"/>
              <a:buChar char="•"/>
            </a:pPr>
            <a:r>
              <a:rPr lang="en-US" sz="2400" dirty="0">
                <a:solidFill>
                  <a:srgbClr val="FFFFFF"/>
                </a:solidFill>
              </a:rPr>
              <a:t>Members → claims; providers → claims</a:t>
            </a:r>
            <a:endParaRPr lang="en-US" sz="2400" dirty="0"/>
          </a:p>
          <a:p>
            <a:pPr algn="l" marL="342900" indent="-342900">
              <a:spcAft>
                <a:spcPts val="1000"/>
              </a:spcAft>
              <a:buSzPct val="100000"/>
              <a:buChar char="•"/>
            </a:pPr>
            <a:r>
              <a:rPr lang="en-US" sz="2400" dirty="0">
                <a:solidFill>
                  <a:srgbClr val="FFFFFF"/>
                </a:solidFill>
              </a:rPr>
              <a:t>Sketch the diagram before writing joins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Normalization in one slide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Store each fact once</a:t>
            </a:r>
            <a:endParaRPr lang="en-US" sz="2400" dirty="0"/>
          </a:p>
          <a:p>
            <a:pPr algn="l" marL="342900" indent="-342900">
              <a:spcAft>
                <a:spcPts val="1000"/>
              </a:spcAft>
              <a:buSzPct val="100000"/>
              <a:buChar char="•"/>
            </a:pPr>
            <a:r>
              <a:rPr lang="en-US" sz="2400" dirty="0">
                <a:solidFill>
                  <a:srgbClr val="FFFFFF"/>
                </a:solidFill>
              </a:rPr>
              <a:t>Why claims split into headers and lines</a:t>
            </a:r>
            <a:endParaRPr lang="en-US" sz="2400" dirty="0"/>
          </a:p>
          <a:p>
            <a:pPr algn="l" marL="342900" indent="-342900">
              <a:spcAft>
                <a:spcPts val="1000"/>
              </a:spcAft>
              <a:buSzPct val="100000"/>
              <a:buChar char="•"/>
            </a:pPr>
            <a:r>
              <a:rPr lang="en-US" sz="2400" dirty="0">
                <a:solidFill>
                  <a:srgbClr val="FFFFFF"/>
                </a:solidFill>
              </a:rPr>
              <a:t>Trade-off: more joins, fewer contradictions</a:t>
            </a:r>
            <a:endParaRPr lang="en-US" sz="2400" dirty="0"/>
          </a:p>
          <a:p>
            <a:pPr algn="l" marL="342900" indent="-342900">
              <a:spcAft>
                <a:spcPts val="1000"/>
              </a:spcAft>
              <a:buSzPct val="100000"/>
              <a:buChar char="•"/>
            </a:pPr>
            <a:r>
              <a:rPr lang="en-US" sz="2400" dirty="0">
                <a:solidFill>
                  <a:srgbClr val="FFFFFF"/>
                </a:solidFill>
              </a:rPr>
              <a:t>Warehouses sometimes denormalize for speed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Our data warehouse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Members and monthly coverage</a:t>
            </a:r>
            <a:endParaRPr lang="en-US" sz="2400" dirty="0"/>
          </a:p>
          <a:p>
            <a:pPr algn="l" marL="342900" indent="-342900">
              <a:spcAft>
                <a:spcPts val="1000"/>
              </a:spcAft>
              <a:buSzPct val="100000"/>
              <a:buChar char="•"/>
            </a:pPr>
            <a:r>
              <a:rPr lang="en-US" sz="2400" dirty="0">
                <a:solidFill>
                  <a:srgbClr val="FFFFFF"/>
                </a:solidFill>
              </a:rPr>
              <a:t>Medical and pharmacy claims</a:t>
            </a:r>
            <a:endParaRPr lang="en-US" sz="2400" dirty="0"/>
          </a:p>
          <a:p>
            <a:pPr algn="l" marL="342900" indent="-342900">
              <a:spcAft>
                <a:spcPts val="1000"/>
              </a:spcAft>
              <a:buSzPct val="100000"/>
              <a:buChar char="•"/>
            </a:pPr>
            <a:r>
              <a:rPr lang="en-US" sz="2400" dirty="0">
                <a:solidFill>
                  <a:srgbClr val="FFFFFF"/>
                </a:solidFill>
              </a:rPr>
              <a:t>Operations: prior auth, care management, ledger</a:t>
            </a:r>
            <a:endParaRPr lang="en-US" sz="2400" dirty="0"/>
          </a:p>
          <a:p>
            <a:pPr algn="l" marL="342900" indent="-342900">
              <a:spcAft>
                <a:spcPts val="1000"/>
              </a:spcAft>
              <a:buSzPct val="100000"/>
              <a:buChar char="•"/>
            </a:pPr>
            <a:r>
              <a:rPr lang="en-US" sz="2400" dirty="0">
                <a:solidFill>
                  <a:srgbClr val="FFFFFF"/>
                </a:solidFill>
              </a:rPr>
              <a:t>Context: providers, zip codes, reference codes</a:t>
            </a:r>
            <a:endParaRPr lang="en-US" sz="2400" dirty="0"/>
          </a:p>
          <a:p>
            <a:pPr algn="l" marL="342900" indent="-342900">
              <a:spcAft>
                <a:spcPts val="1000"/>
              </a:spcAft>
              <a:buSzPct val="100000"/>
              <a:buChar char="•"/>
            </a:pPr>
            <a:r>
              <a:rPr lang="en-US" sz="2400" dirty="0">
                <a:solidFill>
                  <a:srgbClr val="FFFFFF"/>
                </a:solidFill>
              </a:rPr>
              <a:t>Every column has a description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DuckDB: a database in a file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Analytical, columnar database</a:t>
            </a:r>
            <a:endParaRPr lang="en-US" sz="2400" dirty="0"/>
          </a:p>
          <a:p>
            <a:pPr algn="l" marL="342900" indent="-342900">
              <a:spcAft>
                <a:spcPts val="1000"/>
              </a:spcAft>
              <a:buSzPct val="100000"/>
              <a:buChar char="•"/>
            </a:pPr>
            <a:r>
              <a:rPr lang="en-US" sz="2400" dirty="0">
                <a:solidFill>
                  <a:srgbClr val="FFFFFF"/>
                </a:solidFill>
              </a:rPr>
              <a:t>Runs on your laptop: no server, no login</a:t>
            </a:r>
            <a:endParaRPr lang="en-US" sz="2400" dirty="0"/>
          </a:p>
          <a:p>
            <a:pPr algn="l" marL="342900" indent="-342900">
              <a:spcAft>
                <a:spcPts val="1000"/>
              </a:spcAft>
              <a:buSzPct val="100000"/>
              <a:buChar char="•"/>
            </a:pPr>
            <a:r>
              <a:rPr lang="en-US" sz="2400" dirty="0">
                <a:solidFill>
                  <a:srgbClr val="FFFFFF"/>
                </a:solidFill>
              </a:rPr>
              <a:t>Reads Parquet and CSV directly</a:t>
            </a:r>
            <a:endParaRPr lang="en-US" sz="2400" dirty="0"/>
          </a:p>
          <a:p>
            <a:pPr algn="l" marL="342900" indent="-342900">
              <a:spcAft>
                <a:spcPts val="1000"/>
              </a:spcAft>
              <a:buSzPct val="100000"/>
              <a:buChar char="•"/>
            </a:pPr>
            <a:r>
              <a:rPr lang="en-US" sz="2400" dirty="0">
                <a:solidFill>
                  <a:srgbClr val="FFFFFF"/>
                </a:solidFill>
              </a:rPr>
              <a:t>Same SQL from DBeaver or Python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Two ways in: DBeaver and JupyterLab</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DBeaver: SQL editor, schema browser, diagrams</a:t>
            </a:r>
            <a:endParaRPr lang="en-US" sz="2400" dirty="0"/>
          </a:p>
          <a:p>
            <a:pPr algn="l" marL="342900" indent="-342900">
              <a:spcAft>
                <a:spcPts val="1000"/>
              </a:spcAft>
              <a:buSzPct val="100000"/>
              <a:buChar char="•"/>
            </a:pPr>
            <a:r>
              <a:rPr lang="en-US" sz="2400" dirty="0">
                <a:solidFill>
                  <a:srgbClr val="FFFFFF"/>
                </a:solidFill>
              </a:rPr>
              <a:t>JupyterLab: Python and SQL, models, charts</a:t>
            </a:r>
            <a:endParaRPr lang="en-US" sz="2400" dirty="0"/>
          </a:p>
          <a:p>
            <a:pPr algn="l" marL="342900" indent="-342900">
              <a:spcAft>
                <a:spcPts val="1000"/>
              </a:spcAft>
              <a:buSzPct val="100000"/>
              <a:buChar char="•"/>
            </a:pPr>
            <a:r>
              <a:rPr lang="en-US" sz="2400" dirty="0">
                <a:solidFill>
                  <a:srgbClr val="FFFFFF"/>
                </a:solidFill>
              </a:rPr>
              <a:t>Labs 1–7 in DBeaver, Labs 8–13 in JupyterLab</a:t>
            </a:r>
            <a:endParaRPr lang="en-US" sz="2400" dirty="0"/>
          </a:p>
          <a:p>
            <a:pPr algn="l" marL="342900" indent="-342900">
              <a:spcAft>
                <a:spcPts val="1000"/>
              </a:spcAft>
              <a:buSzPct val="100000"/>
              <a:buChar char="•"/>
            </a:pPr>
            <a:r>
              <a:rPr lang="en-US" sz="2400" dirty="0">
                <a:solidFill>
                  <a:srgbClr val="FFFFFF"/>
                </a:solidFill>
              </a:rPr>
              <a:t>Open the database read-only so both can share it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Checking that a key is a key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SELECT COUNT(*)                  AS n_rows,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       COUNT(DISTINCT member_id)  AS n_ids,</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       COUNT(*) - COUNT(member_id) AS n_null</a:t>
            </a:r>
            <a:endParaRPr lang="en-US" sz="2400" dirty="0"/>
          </a:p>
          <a:p>
            <a:pPr algn="l" indent="0" marL="0">
              <a:spcAft>
                <a:spcPts val="10"/>
              </a:spcAft>
              <a:buNone/>
            </a:pPr>
            <a:r>
              <a:rPr lang="en-US" sz="1600" dirty="0">
                <a:solidFill>
                  <a:srgbClr val="FFFFFF"/>
                </a:solidFill>
                <a:latin typeface="Courier New" pitchFamily="34" charset="0"/>
                <a:ea typeface="Courier New" pitchFamily="34" charset="-122"/>
                <a:cs typeface="Courier New" pitchFamily="34" charset="-120"/>
              </a:rPr>
              <a:t>FROM beneficiaries;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Lab 1: Software Tour</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400"/>
              </a:spcAft>
              <a:buSzPct val="100000"/>
              <a:buChar char="•"/>
            </a:pPr>
            <a:r>
              <a:rPr lang="en-US" sz="1800" dirty="0">
                <a:solidFill>
                  <a:srgbClr val="FFFFFF"/>
                </a:solidFill>
              </a:rPr>
              <a:t>Question: What's in this data warehouse, and how do the tables connect?</a:t>
            </a:r>
            <a:endParaRPr lang="en-US" sz="2400" dirty="0"/>
          </a:p>
          <a:p>
            <a:pPr algn="l" marL="342900" indent="-342900">
              <a:spcAft>
                <a:spcPts val="400"/>
              </a:spcAft>
              <a:buSzPct val="100000"/>
              <a:buChar char="•"/>
            </a:pPr>
            <a:r>
              <a:rPr lang="en-US" sz="1800" dirty="0">
                <a:solidFill>
                  <a:srgbClr val="FFFFFF"/>
                </a:solidFill>
              </a:rPr>
              <a:t>Tool: DBeaver and JupyterLab · about 60 minutes</a:t>
            </a:r>
            <a:endParaRPr lang="en-US" sz="2400" dirty="0"/>
          </a:p>
          <a:p>
            <a:pPr algn="l" marL="342900" indent="-342900">
              <a:spcAft>
                <a:spcPts val="400"/>
              </a:spcAft>
              <a:buSzPct val="100000"/>
              <a:buChar char="•"/>
            </a:pPr>
            <a:r>
              <a:rPr lang="en-US" sz="1800" dirty="0">
                <a:solidFill>
                  <a:srgbClr val="FFFFFF"/>
                </a:solidFill>
              </a:rPr>
              <a:t>Tasks:</a:t>
            </a:r>
            <a:endParaRPr lang="en-US" sz="2400" dirty="0"/>
          </a:p>
          <a:p>
            <a:pPr algn="l" lvl="1" marL="685800" indent="-342900">
              <a:spcAft>
                <a:spcPts val="400"/>
              </a:spcAft>
              <a:buSzPct val="100000"/>
              <a:buChar char="•"/>
            </a:pPr>
            <a:r>
              <a:rPr lang="en-US" sz="1600" dirty="0">
                <a:solidFill>
                  <a:srgbClr val="FFFFFF"/>
                </a:solidFill>
              </a:rPr>
              <a:t>Confirm your setup</a:t>
            </a:r>
            <a:endParaRPr lang="en-US" sz="2400" dirty="0"/>
          </a:p>
          <a:p>
            <a:pPr algn="l" lvl="1" marL="685800" indent="-342900">
              <a:spcAft>
                <a:spcPts val="400"/>
              </a:spcAft>
              <a:buSzPct val="100000"/>
              <a:buChar char="•"/>
            </a:pPr>
            <a:r>
              <a:rPr lang="en-US" sz="1600" dirty="0">
                <a:solidFill>
                  <a:srgbClr val="FFFFFF"/>
                </a:solidFill>
              </a:rPr>
              <a:t>Find the keys</a:t>
            </a:r>
            <a:endParaRPr lang="en-US" sz="2400" dirty="0"/>
          </a:p>
          <a:p>
            <a:pPr algn="l" lvl="1" marL="685800" indent="-342900">
              <a:spcAft>
                <a:spcPts val="400"/>
              </a:spcAft>
              <a:buSzPct val="100000"/>
              <a:buChar char="•"/>
            </a:pPr>
            <a:r>
              <a:rPr lang="en-US" sz="1600" dirty="0">
                <a:solidFill>
                  <a:srgbClr val="FFFFFF"/>
                </a:solidFill>
              </a:rPr>
              <a:t>Trace one member's story</a:t>
            </a:r>
            <a:endParaRPr lang="en-US" sz="2400" dirty="0"/>
          </a:p>
          <a:p>
            <a:pPr algn="l" lvl="1" marL="685800" indent="-342900">
              <a:spcAft>
                <a:spcPts val="400"/>
              </a:spcAft>
              <a:buSzPct val="100000"/>
              <a:buChar char="•"/>
            </a:pPr>
            <a:r>
              <a:rPr lang="en-US" sz="1600" dirty="0">
                <a:solidFill>
                  <a:srgbClr val="FFFFFF"/>
                </a:solidFill>
              </a:rPr>
              <a:t>AI step: check an AI tool's answer</a:t>
            </a:r>
            <a:endParaRPr lang="en-US" sz="2400" dirty="0"/>
          </a:p>
          <a:p>
            <a:pPr algn="l" marL="342900" indent="-342900">
              <a:spcAft>
                <a:spcPts val="400"/>
              </a:spcAft>
              <a:buSzPct val="100000"/>
              <a:buChar char="•"/>
            </a:pPr>
            <a:r>
              <a:rPr lang="en-US" sz="1800" dirty="0">
                <a:solidFill>
                  <a:srgbClr val="FFFFFF"/>
                </a:solidFill>
              </a:rPr>
              <a:t>Deliverable: One SQL script or notebook: the setup screenshot, your key queries, the member's story (with member_id) and your AI check.</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Technical Seminar: Intro to Relational Databases</dc:title>
  <dc:subject>PptxGenJS Presentation</dc:subject>
  <dc:creator>Health-Data-Analytics</dc:creator>
  <cp:lastModifiedBy>Health-Data-Analytics</cp:lastModifiedBy>
  <cp:revision>1</cp:revision>
  <dcterms:created xsi:type="dcterms:W3CDTF">2026-10-13T20:23:19Z</dcterms:created>
  <dcterms:modified xsi:type="dcterms:W3CDTF">2026-10-13T20:23:19Z</dcterms:modified>
</cp:coreProperties>
</file>