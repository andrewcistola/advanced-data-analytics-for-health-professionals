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Technical seminar for week 2: Basic SQL Syntax. It prepares students for Lab 2, summarized on the last slide. Replace this note with your own opening remarks.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five clauses most queries use. Write a tiny query live, such as the first ten claims for one member, and add one clause at a time so students see what each does.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explains many confusing errors. The database reads the table, filters rows, groups, filters groups, then computes the SELECT list, then sorts. An alias defined in SELECT doesn't exist yet when WHERE runs. DuckDB is lenient about some of this, but the mental model carries to every database.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Cover the filters used most with claims data. Stress parentheses when mixing AND and OR, since operator precedence is a common silent bug. LIKE with a prefix is how we find diagnosis code families. NULL comparisons with = never return true.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Dates drive almost every healthcare question: service year, days to pay, lookback windows. Ranges are safer and faster than converting dates to text. DATE_DIFF returns whole days between two dates; make sure the earlier date comes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Aggregates summarize many rows into one value. Point out that AVG ignores NULLs, which can change a result. Next week adds GROUP BY to get one row per group.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Return to grain. A question about patients needs distinct members, not claim rows. Also define the three money columns: charge is the list price, allowed is the contracted amount, and paid is what the payer actually sent. Mixing these up is the most common error in Lab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Readable SQL is easier to check and to hand off. Encourage comments that explain business rules, because the rule is what a reviewer needs to verify.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this live in DBeaver. It previews GROUP BY, which is next week's topic. Ask students what would change if they used submission_date instead of service_from_date.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habits. Before trusting a total, look at sample rows, check that filters did what you meant, and compare against a known figure. The AI step in each lab builds the same habit for AI-written queries.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Lab 2 overview. The full student handout is labs/lab02_querying_claims/README.md; the solution and expected results are in the same folder. AI step: Give an AI tool the column names and have it write the Task 3 query. Run it. Does it match yours? Watch for denied claims or dates in the wrong order.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Slide">
    <p:bg>
      <p:bgPr>
        <a:solidFill>
          <a:srgbClr val="000000"/>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2011680"/>
            <a:ext cx="10698480" cy="1463040"/>
          </a:xfrm>
          <a:prstGeom prst="rect">
            <a:avLst/>
          </a:prstGeom>
          <a:noFill/>
          <a:ln/>
        </p:spPr>
        <p:txBody>
          <a:bodyPr wrap="square" rtlCol="0"/>
          <a:lstStyle>
            <a:lvl1pPr algn="l" indent="0" marL="0">
              <a:buNone/>
              <a:defRPr lang="en-US" sz="4000" b="1" dirty="0">
                <a:solidFill>
                  <a:srgbClr val="FFFFFF"/>
                </a:solidFill>
              </a:defRPr>
            </a:lvl1pPr>
          </a:lstStyle>
          <a:p>
            <a:pPr algn="l" indent="0" marL="0">
              <a:buNone/>
            </a:pPr>
            <a:endParaRPr lang="en-US" sz="4000" dirty="0"/>
          </a:p>
        </p:txBody>
      </p:sp>
      <p:sp>
        <p:nvSpPr>
          <p:cNvPr id="3" name="Text 0"/>
          <p:cNvSpPr/>
          <p:nvPr>
            <p:ph idx="101" type="body" hasCustomPrompt="1"/>
          </p:nvPr>
        </p:nvSpPr>
        <p:spPr>
          <a:xfrm>
            <a:off x="731520" y="3657600"/>
            <a:ext cx="10698480" cy="914400"/>
          </a:xfrm>
          <a:prstGeom prst="rect">
            <a:avLst/>
          </a:prstGeom>
          <a:noFill/>
          <a:ln/>
        </p:spPr>
        <p:txBody>
          <a:bodyPr wrap="square" rtlCol="0"/>
          <a:lstStyle>
            <a:lvl1pPr algn="l" indent="0" marL="0">
              <a:buNone/>
              <a:defRPr lang="en-US" sz="2200" dirty="0">
                <a:solidFill>
                  <a:srgbClr val="FFFFFF"/>
                </a:solidFill>
              </a:defRPr>
            </a:lvl1pPr>
          </a:lstStyle>
          <a:p>
            <a:pPr algn="l" indent="0" marL="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and Content">
    <p:bg>
      <p:bgPr>
        <a:solidFill>
          <a:srgbClr val="000000"/>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457200"/>
            <a:ext cx="10698480" cy="822960"/>
          </a:xfrm>
          <a:prstGeom prst="rect">
            <a:avLst/>
          </a:prstGeom>
          <a:noFill/>
          <a:ln/>
        </p:spPr>
        <p:txBody>
          <a:bodyPr wrap="square" rtlCol="0"/>
          <a:lstStyle>
            <a:lvl1pPr algn="l" indent="0" marL="0">
              <a:buNone/>
              <a:defRPr lang="en-US" sz="3200" b="1" dirty="0">
                <a:solidFill>
                  <a:srgbClr val="FFFFFF"/>
                </a:solidFill>
              </a:defRPr>
            </a:lvl1pPr>
          </a:lstStyle>
          <a:p>
            <a:pPr algn="l" indent="0" marL="0">
              <a:buNone/>
            </a:pPr>
            <a:endParaRPr lang="en-US" sz="3200" dirty="0"/>
          </a:p>
        </p:txBody>
      </p:sp>
      <p:sp>
        <p:nvSpPr>
          <p:cNvPr id="3" name="Text 0"/>
          <p:cNvSpPr/>
          <p:nvPr>
            <p:ph idx="101" type="body" hasCustomPrompt="1"/>
          </p:nvPr>
        </p:nvSpPr>
        <p:spPr>
          <a:xfrm>
            <a:off x="731520" y="1554480"/>
            <a:ext cx="10698480" cy="4754880"/>
          </a:xfrm>
          <a:prstGeom prst="rect">
            <a:avLst/>
          </a:prstGeom>
          <a:noFill/>
          <a:ln/>
        </p:spPr>
        <p:txBody>
          <a:bodyPr wrap="square" rtlCol="0"/>
          <a:lstStyle>
            <a:lvl1pPr algn="l" indent="0" marL="0">
              <a:spcAft>
                <a:spcPts val="1000"/>
              </a:spcAft>
              <a:buNone/>
              <a:defRPr lang="en-US" sz="2400" dirty="0">
                <a:solidFill>
                  <a:srgbClr val="FFFFFF"/>
                </a:solidFill>
              </a:defRPr>
            </a:lvl1pPr>
          </a:lstStyle>
          <a:p>
            <a:pPr algn="l" indent="0" marL="0">
              <a:spcAft>
                <a:spcPts val="1000"/>
              </a:spcAft>
              <a:buNone/>
            </a:pPr>
            <a:endParaRPr lang="en-US" sz="2400" dirty="0"/>
          </a:p>
        </p:txBody>
      </p:sp>
      <p:sp>
        <p:nvSpPr>
          <p:cNvPr id="25" name="Slide Number Placeholder 0"/>
          <p:cNvSpPr>
            <a:spLocks noGrp="1"/>
          </p:cNvSpPr>
          <p:nvPr>
            <p:ph type="sldNum" sz="quarter" idx="4294967295"/>
          </p:nvPr>
        </p:nvSpPr>
        <p:spPr>
          <a:xfrm>
            <a:off x="1097280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FBFBF"/>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97280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FBFBF"/>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2011680"/>
            <a:ext cx="10698480" cy="1463040"/>
          </a:xfrm>
          <a:prstGeom prst="rect">
            <a:avLst/>
          </a:prstGeom>
          <a:noFill/>
          <a:ln/>
        </p:spPr>
        <p:txBody>
          <a:bodyPr wrap="square" lIns="0" tIns="0" rIns="0" bIns="0" rtlCol="0" anchor="b"/>
          <a:lstStyle/>
          <a:p>
            <a:pPr algn="l" indent="0" marL="0">
              <a:buNone/>
            </a:pPr>
            <a:r>
              <a:rPr lang="en-US" sz="4000" b="1" dirty="0">
                <a:solidFill>
                  <a:srgbClr val="FFFFFF"/>
                </a:solidFill>
              </a:rPr>
              <a:t>Basic SQL Syntax</a:t>
            </a:r>
            <a:endParaRPr lang="en-US" sz="4000" dirty="0"/>
          </a:p>
        </p:txBody>
      </p:sp>
      <p:sp>
        <p:nvSpPr>
          <p:cNvPr id="3" name="Text 0"/>
          <p:cNvSpPr/>
          <p:nvPr>
            <p:ph idx="101" type="body" hasCustomPrompt="1"/>
          </p:nvPr>
        </p:nvSpPr>
        <p:spPr>
          <a:xfrm>
            <a:off x="731520" y="3657600"/>
            <a:ext cx="10698480" cy="914400"/>
          </a:xfrm>
          <a:prstGeom prst="rect">
            <a:avLst/>
          </a:prstGeom>
          <a:noFill/>
          <a:ln/>
        </p:spPr>
        <p:txBody>
          <a:bodyPr wrap="square" lIns="0" tIns="0" rIns="0" bIns="0" rtlCol="0" anchor="t"/>
          <a:lstStyle/>
          <a:p>
            <a:pPr algn="l" indent="0" marL="0">
              <a:buNone/>
            </a:pPr>
            <a:r>
              <a:rPr lang="en-US" sz="2200" dirty="0">
                <a:solidFill>
                  <a:srgbClr val="FFFFFF"/>
                </a:solidFill>
              </a:rPr>
              <a:t>Health Data Analytics · Week 2 Technical Seminar</a:t>
            </a:r>
            <a:endParaRPr lang="en-US" sz="2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731520" y="457200"/>
            <a:ext cx="10698480" cy="822960"/>
          </a:xfrm>
          <a:prstGeom prst="rect">
            <a:avLst/>
          </a:prstGeom>
          <a:noFill/>
          <a:ln/>
        </p:spPr>
        <p:txBody>
          <a:bodyPr wrap="square" lIns="0" tIns="0" rIns="0" bIns="0" rtlCol="0" anchor="t"/>
          <a:lstStyle/>
          <a:p>
            <a:pPr algn="l" indent="0" marL="0">
              <a:buNone/>
            </a:pPr>
            <a:r>
              <a:rPr lang="en-US" sz="3200" b="1" dirty="0">
                <a:solidFill>
                  <a:srgbClr val="FFFFFF"/>
                </a:solidFill>
              </a:rPr>
              <a:t>Anatomy of a query</a:t>
            </a:r>
            <a:endParaRPr lang="en-US" sz="3200" dirty="0"/>
          </a:p>
        </p:txBody>
      </p:sp>
      <p:sp>
        <p:nvSpPr>
          <p:cNvPr id="3" name="Text 0"/>
          <p:cNvSpPr/>
          <p:nvPr>
            <p:ph idx="101" type="body" hasCustomPrompt="1"/>
          </p:nvPr>
        </p:nvSpPr>
        <p:spPr>
          <a:xfrm>
            <a:off x="731520" y="1554480"/>
            <a:ext cx="10698480" cy="4754880"/>
          </a:xfrm>
          <a:prstGeom prst="rect">
            <a:avLst/>
          </a:prstGeom>
          <a:noFill/>
          <a:ln/>
        </p:spPr>
        <p:txBody>
          <a:bodyPr wrap="square" rtlCol="0" anchor="t"/>
          <a:lstStyle/>
          <a:p>
            <a:pPr algn="l" marL="342900" indent="-342900">
              <a:spcAft>
                <a:spcPts val="1000"/>
              </a:spcAft>
              <a:buSzPct val="100000"/>
              <a:buChar char="•"/>
            </a:pPr>
            <a:r>
              <a:rPr lang="en-US" sz="2400" dirty="0">
                <a:solidFill>
                  <a:srgbClr val="FFFFFF"/>
                </a:solidFill>
              </a:rPr>
              <a:t>SELECT: which columns</a:t>
            </a:r>
            <a:endParaRPr lang="en-US" sz="2400" dirty="0"/>
          </a:p>
          <a:p>
            <a:pPr algn="l" marL="342900" indent="-342900">
              <a:spcAft>
                <a:spcPts val="1000"/>
              </a:spcAft>
              <a:buSzPct val="100000"/>
              <a:buChar char="•"/>
            </a:pPr>
            <a:r>
              <a:rPr lang="en-US" sz="2400" dirty="0">
                <a:solidFill>
                  <a:srgbClr val="FFFFFF"/>
                </a:solidFill>
              </a:rPr>
              <a:t>FROM: which table</a:t>
            </a:r>
            <a:endParaRPr lang="en-US" sz="2400" dirty="0"/>
          </a:p>
          <a:p>
            <a:pPr algn="l" marL="342900" indent="-342900">
              <a:spcAft>
                <a:spcPts val="1000"/>
              </a:spcAft>
              <a:buSzPct val="100000"/>
              <a:buChar char="•"/>
            </a:pPr>
            <a:r>
              <a:rPr lang="en-US" sz="2400" dirty="0">
                <a:solidFill>
                  <a:srgbClr val="FFFFFF"/>
                </a:solidFill>
              </a:rPr>
              <a:t>WHERE: which rows</a:t>
            </a:r>
            <a:endParaRPr lang="en-US" sz="2400" dirty="0"/>
          </a:p>
          <a:p>
            <a:pPr algn="l" marL="342900" indent="-342900">
              <a:spcAft>
                <a:spcPts val="1000"/>
              </a:spcAft>
              <a:buSzPct val="100000"/>
              <a:buChar char="•"/>
            </a:pPr>
            <a:r>
              <a:rPr lang="en-US" sz="2400" dirty="0">
                <a:solidFill>
                  <a:srgbClr val="FFFFFF"/>
                </a:solidFill>
              </a:rPr>
              <a:t>ORDER BY: in what order</a:t>
            </a:r>
            <a:endParaRPr lang="en-US" sz="2400" dirty="0"/>
          </a:p>
          <a:p>
            <a:pPr algn="l" marL="342900" indent="-342900">
              <a:spcAft>
                <a:spcPts val="1000"/>
              </a:spcAft>
              <a:buSzPct val="100000"/>
              <a:buChar char="•"/>
            </a:pPr>
            <a:r>
              <a:rPr lang="en-US" sz="2400" dirty="0">
                <a:solidFill>
                  <a:srgbClr val="FFFFFF"/>
                </a:solidFill>
              </a:rPr>
              <a:t>LIMIT: how many rows</a:t>
            </a:r>
            <a:endParaRPr lang="en-US" sz="2400" dirty="0"/>
          </a:p>
        </p:txBody>
      </p:sp>
      <p:sp>
        <p:nvSpPr>
          <p:cNvPr id="25" name="Slide Number Placeholder 0"/>
          <p:cNvSpPr>
            <a:spLocks noGrp="1"/>
          </p:cNvSpPr>
          <p:nvPr>
            <p:ph type="sldNum" sz="quarter" idx="4294967295"/>
          </p:nvPr>
        </p:nvSpPr>
        <p:spPr>
          <a:xfrm>
            <a:off x="1097280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FBFBF"/>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731520" y="457200"/>
            <a:ext cx="10698480" cy="822960"/>
          </a:xfrm>
          <a:prstGeom prst="rect">
            <a:avLst/>
          </a:prstGeom>
          <a:noFill/>
          <a:ln/>
        </p:spPr>
        <p:txBody>
          <a:bodyPr wrap="square" lIns="0" tIns="0" rIns="0" bIns="0" rtlCol="0" anchor="t"/>
          <a:lstStyle/>
          <a:p>
            <a:pPr algn="l" indent="0" marL="0">
              <a:buNone/>
            </a:pPr>
            <a:r>
              <a:rPr lang="en-US" sz="3200" b="1" dirty="0">
                <a:solidFill>
                  <a:srgbClr val="FFFFFF"/>
                </a:solidFill>
              </a:rPr>
              <a:t>The order SQL runs in</a:t>
            </a:r>
            <a:endParaRPr lang="en-US" sz="3200" dirty="0"/>
          </a:p>
        </p:txBody>
      </p:sp>
      <p:sp>
        <p:nvSpPr>
          <p:cNvPr id="3" name="Text 0"/>
          <p:cNvSpPr/>
          <p:nvPr>
            <p:ph idx="101" type="body" hasCustomPrompt="1"/>
          </p:nvPr>
        </p:nvSpPr>
        <p:spPr>
          <a:xfrm>
            <a:off x="731520" y="1554480"/>
            <a:ext cx="10698480" cy="4754880"/>
          </a:xfrm>
          <a:prstGeom prst="rect">
            <a:avLst/>
          </a:prstGeom>
          <a:noFill/>
          <a:ln/>
        </p:spPr>
        <p:txBody>
          <a:bodyPr wrap="square" rtlCol="0" anchor="t"/>
          <a:lstStyle/>
          <a:p>
            <a:pPr algn="l" marL="342900" indent="-342900">
              <a:spcAft>
                <a:spcPts val="1000"/>
              </a:spcAft>
              <a:buSzPct val="100000"/>
              <a:buChar char="•"/>
            </a:pPr>
            <a:r>
              <a:rPr lang="en-US" sz="2400" dirty="0">
                <a:solidFill>
                  <a:srgbClr val="FFFFFF"/>
                </a:solidFill>
              </a:rPr>
              <a:t>FROM → WHERE → GROUP BY → HAVING</a:t>
            </a:r>
            <a:endParaRPr lang="en-US" sz="2400" dirty="0"/>
          </a:p>
          <a:p>
            <a:pPr algn="l" marL="342900" indent="-342900">
              <a:spcAft>
                <a:spcPts val="1000"/>
              </a:spcAft>
              <a:buSzPct val="100000"/>
              <a:buChar char="•"/>
            </a:pPr>
            <a:r>
              <a:rPr lang="en-US" sz="2400" dirty="0">
                <a:solidFill>
                  <a:srgbClr val="FFFFFF"/>
                </a:solidFill>
              </a:rPr>
              <a:t>→ SELECT → ORDER BY → LIMIT</a:t>
            </a:r>
            <a:endParaRPr lang="en-US" sz="2400" dirty="0"/>
          </a:p>
          <a:p>
            <a:pPr algn="l" marL="342900" indent="-342900">
              <a:spcAft>
                <a:spcPts val="1000"/>
              </a:spcAft>
              <a:buSzPct val="100000"/>
              <a:buChar char="•"/>
            </a:pPr>
            <a:r>
              <a:rPr lang="en-US" sz="2400" dirty="0">
                <a:solidFill>
                  <a:srgbClr val="FFFFFF"/>
                </a:solidFill>
              </a:rPr>
              <a:t>Written order is not run order</a:t>
            </a:r>
            <a:endParaRPr lang="en-US" sz="2400" dirty="0"/>
          </a:p>
          <a:p>
            <a:pPr algn="l" marL="342900" indent="-342900">
              <a:spcAft>
                <a:spcPts val="1000"/>
              </a:spcAft>
              <a:buSzPct val="100000"/>
              <a:buChar char="•"/>
            </a:pPr>
            <a:r>
              <a:rPr lang="en-US" sz="2400" dirty="0">
                <a:solidFill>
                  <a:srgbClr val="FFFFFF"/>
                </a:solidFill>
              </a:rPr>
              <a:t>Explains why WHERE can't use a SELECT alias</a:t>
            </a:r>
            <a:endParaRPr lang="en-US" sz="2400" dirty="0"/>
          </a:p>
        </p:txBody>
      </p:sp>
      <p:sp>
        <p:nvSpPr>
          <p:cNvPr id="25" name="Slide Number Placeholder 0"/>
          <p:cNvSpPr>
            <a:spLocks noGrp="1"/>
          </p:cNvSpPr>
          <p:nvPr>
            <p:ph type="sldNum" sz="quarter" idx="4294967295"/>
          </p:nvPr>
        </p:nvSpPr>
        <p:spPr>
          <a:xfrm>
            <a:off x="1097280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FBFBF"/>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731520" y="457200"/>
            <a:ext cx="10698480" cy="822960"/>
          </a:xfrm>
          <a:prstGeom prst="rect">
            <a:avLst/>
          </a:prstGeom>
          <a:noFill/>
          <a:ln/>
        </p:spPr>
        <p:txBody>
          <a:bodyPr wrap="square" lIns="0" tIns="0" rIns="0" bIns="0" rtlCol="0" anchor="t"/>
          <a:lstStyle/>
          <a:p>
            <a:pPr algn="l" indent="0" marL="0">
              <a:buNone/>
            </a:pPr>
            <a:r>
              <a:rPr lang="en-US" sz="3200" b="1" dirty="0">
                <a:solidFill>
                  <a:srgbClr val="FFFFFF"/>
                </a:solidFill>
              </a:rPr>
              <a:t>Filtering with WHERE</a:t>
            </a:r>
            <a:endParaRPr lang="en-US" sz="3200" dirty="0"/>
          </a:p>
        </p:txBody>
      </p:sp>
      <p:sp>
        <p:nvSpPr>
          <p:cNvPr id="3" name="Text 0"/>
          <p:cNvSpPr/>
          <p:nvPr>
            <p:ph idx="101" type="body" hasCustomPrompt="1"/>
          </p:nvPr>
        </p:nvSpPr>
        <p:spPr>
          <a:xfrm>
            <a:off x="731520" y="1554480"/>
            <a:ext cx="10698480" cy="4754880"/>
          </a:xfrm>
          <a:prstGeom prst="rect">
            <a:avLst/>
          </a:prstGeom>
          <a:noFill/>
          <a:ln/>
        </p:spPr>
        <p:txBody>
          <a:bodyPr wrap="square" rtlCol="0" anchor="t"/>
          <a:lstStyle/>
          <a:p>
            <a:pPr algn="l" marL="342900" indent="-342900">
              <a:spcAft>
                <a:spcPts val="1000"/>
              </a:spcAft>
              <a:buSzPct val="100000"/>
              <a:buChar char="•"/>
            </a:pPr>
            <a:r>
              <a:rPr lang="en-US" sz="2400" dirty="0">
                <a:solidFill>
                  <a:srgbClr val="FFFFFF"/>
                </a:solidFill>
              </a:rPr>
              <a:t>Comparisons: =, &lt;&gt;, &lt;, &gt;=</a:t>
            </a:r>
            <a:endParaRPr lang="en-US" sz="2400" dirty="0"/>
          </a:p>
          <a:p>
            <a:pPr algn="l" marL="342900" indent="-342900">
              <a:spcAft>
                <a:spcPts val="1000"/>
              </a:spcAft>
              <a:buSzPct val="100000"/>
              <a:buChar char="•"/>
            </a:pPr>
            <a:r>
              <a:rPr lang="en-US" sz="2400" dirty="0">
                <a:solidFill>
                  <a:srgbClr val="FFFFFF"/>
                </a:solidFill>
              </a:rPr>
              <a:t>Combine with AND / OR, and use parentheses</a:t>
            </a:r>
            <a:endParaRPr lang="en-US" sz="2400" dirty="0"/>
          </a:p>
          <a:p>
            <a:pPr algn="l" marL="342900" indent="-342900">
              <a:spcAft>
                <a:spcPts val="1000"/>
              </a:spcAft>
              <a:buSzPct val="100000"/>
              <a:buChar char="•"/>
            </a:pPr>
            <a:r>
              <a:rPr lang="en-US" sz="2400" dirty="0">
                <a:solidFill>
                  <a:srgbClr val="FFFFFF"/>
                </a:solidFill>
              </a:rPr>
              <a:t>IN ('Paid', 'Partially Paid')</a:t>
            </a:r>
            <a:endParaRPr lang="en-US" sz="2400" dirty="0"/>
          </a:p>
          <a:p>
            <a:pPr algn="l" marL="342900" indent="-342900">
              <a:spcAft>
                <a:spcPts val="1000"/>
              </a:spcAft>
              <a:buSzPct val="100000"/>
              <a:buChar char="•"/>
            </a:pPr>
            <a:r>
              <a:rPr lang="en-US" sz="2400" dirty="0">
                <a:solidFill>
                  <a:srgbClr val="FFFFFF"/>
                </a:solidFill>
              </a:rPr>
              <a:t>LIKE 'E11%' for code prefixes</a:t>
            </a:r>
            <a:endParaRPr lang="en-US" sz="2400" dirty="0"/>
          </a:p>
          <a:p>
            <a:pPr algn="l" marL="342900" indent="-342900">
              <a:spcAft>
                <a:spcPts val="1000"/>
              </a:spcAft>
              <a:buSzPct val="100000"/>
              <a:buChar char="•"/>
            </a:pPr>
            <a:r>
              <a:rPr lang="en-US" sz="2400" dirty="0">
                <a:solidFill>
                  <a:srgbClr val="FFFFFF"/>
                </a:solidFill>
              </a:rPr>
              <a:t>IS NULL, never = NULL</a:t>
            </a:r>
            <a:endParaRPr lang="en-US" sz="2400" dirty="0"/>
          </a:p>
        </p:txBody>
      </p:sp>
      <p:sp>
        <p:nvSpPr>
          <p:cNvPr id="25" name="Slide Number Placeholder 0"/>
          <p:cNvSpPr>
            <a:spLocks noGrp="1"/>
          </p:cNvSpPr>
          <p:nvPr>
            <p:ph type="sldNum" sz="quarter" idx="4294967295"/>
          </p:nvPr>
        </p:nvSpPr>
        <p:spPr>
          <a:xfrm>
            <a:off x="1097280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FBFBF"/>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731520" y="457200"/>
            <a:ext cx="10698480" cy="822960"/>
          </a:xfrm>
          <a:prstGeom prst="rect">
            <a:avLst/>
          </a:prstGeom>
          <a:noFill/>
          <a:ln/>
        </p:spPr>
        <p:txBody>
          <a:bodyPr wrap="square" lIns="0" tIns="0" rIns="0" bIns="0" rtlCol="0" anchor="t"/>
          <a:lstStyle/>
          <a:p>
            <a:pPr algn="l" indent="0" marL="0">
              <a:buNone/>
            </a:pPr>
            <a:r>
              <a:rPr lang="en-US" sz="3200" b="1" dirty="0">
                <a:solidFill>
                  <a:srgbClr val="FFFFFF"/>
                </a:solidFill>
              </a:rPr>
              <a:t>Working with dates</a:t>
            </a:r>
            <a:endParaRPr lang="en-US" sz="3200" dirty="0"/>
          </a:p>
        </p:txBody>
      </p:sp>
      <p:sp>
        <p:nvSpPr>
          <p:cNvPr id="3" name="Text 0"/>
          <p:cNvSpPr/>
          <p:nvPr>
            <p:ph idx="101" type="body" hasCustomPrompt="1"/>
          </p:nvPr>
        </p:nvSpPr>
        <p:spPr>
          <a:xfrm>
            <a:off x="731520" y="1554480"/>
            <a:ext cx="10698480" cy="4754880"/>
          </a:xfrm>
          <a:prstGeom prst="rect">
            <a:avLst/>
          </a:prstGeom>
          <a:noFill/>
          <a:ln/>
        </p:spPr>
        <p:txBody>
          <a:bodyPr wrap="square" rtlCol="0" anchor="t"/>
          <a:lstStyle/>
          <a:p>
            <a:pPr algn="l" marL="342900" indent="-342900">
              <a:spcAft>
                <a:spcPts val="1000"/>
              </a:spcAft>
              <a:buSzPct val="100000"/>
              <a:buChar char="•"/>
            </a:pPr>
            <a:r>
              <a:rPr lang="en-US" sz="2400" dirty="0">
                <a:solidFill>
                  <a:srgbClr val="FFFFFF"/>
                </a:solidFill>
              </a:rPr>
              <a:t>Date literals: DATE '2025-01-01'</a:t>
            </a:r>
            <a:endParaRPr lang="en-US" sz="2400" dirty="0"/>
          </a:p>
          <a:p>
            <a:pPr algn="l" marL="342900" indent="-342900">
              <a:spcAft>
                <a:spcPts val="1000"/>
              </a:spcAft>
              <a:buSzPct val="100000"/>
              <a:buChar char="•"/>
            </a:pPr>
            <a:r>
              <a:rPr lang="en-US" sz="2400" dirty="0">
                <a:solidFill>
                  <a:srgbClr val="FFFFFF"/>
                </a:solidFill>
              </a:rPr>
              <a:t>Prefer ranges: &gt;= start AND &lt; end</a:t>
            </a:r>
            <a:endParaRPr lang="en-US" sz="2400" dirty="0"/>
          </a:p>
          <a:p>
            <a:pPr algn="l" marL="342900" indent="-342900">
              <a:spcAft>
                <a:spcPts val="1000"/>
              </a:spcAft>
              <a:buSzPct val="100000"/>
              <a:buChar char="•"/>
            </a:pPr>
            <a:r>
              <a:rPr lang="en-US" sz="2400" dirty="0">
                <a:solidFill>
                  <a:srgbClr val="FFFFFF"/>
                </a:solidFill>
              </a:rPr>
              <a:t>YEAR(service_from_date)</a:t>
            </a:r>
            <a:endParaRPr lang="en-US" sz="2400" dirty="0"/>
          </a:p>
          <a:p>
            <a:pPr algn="l" marL="342900" indent="-342900">
              <a:spcAft>
                <a:spcPts val="1000"/>
              </a:spcAft>
              <a:buSzPct val="100000"/>
              <a:buChar char="•"/>
            </a:pPr>
            <a:r>
              <a:rPr lang="en-US" sz="2400" dirty="0">
                <a:solidFill>
                  <a:srgbClr val="FFFFFF"/>
                </a:solidFill>
              </a:rPr>
              <a:t>DATE_DIFF('day', start, end)</a:t>
            </a:r>
            <a:endParaRPr lang="en-US" sz="2400" dirty="0"/>
          </a:p>
        </p:txBody>
      </p:sp>
      <p:sp>
        <p:nvSpPr>
          <p:cNvPr id="25" name="Slide Number Placeholder 0"/>
          <p:cNvSpPr>
            <a:spLocks noGrp="1"/>
          </p:cNvSpPr>
          <p:nvPr>
            <p:ph type="sldNum" sz="quarter" idx="4294967295"/>
          </p:nvPr>
        </p:nvSpPr>
        <p:spPr>
          <a:xfrm>
            <a:off x="1097280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FBFBF"/>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731520" y="457200"/>
            <a:ext cx="10698480" cy="822960"/>
          </a:xfrm>
          <a:prstGeom prst="rect">
            <a:avLst/>
          </a:prstGeom>
          <a:noFill/>
          <a:ln/>
        </p:spPr>
        <p:txBody>
          <a:bodyPr wrap="square" lIns="0" tIns="0" rIns="0" bIns="0" rtlCol="0" anchor="t"/>
          <a:lstStyle/>
          <a:p>
            <a:pPr algn="l" indent="0" marL="0">
              <a:buNone/>
            </a:pPr>
            <a:r>
              <a:rPr lang="en-US" sz="3200" b="1" dirty="0">
                <a:solidFill>
                  <a:srgbClr val="FFFFFF"/>
                </a:solidFill>
              </a:rPr>
              <a:t>Aggregate functions</a:t>
            </a:r>
            <a:endParaRPr lang="en-US" sz="3200" dirty="0"/>
          </a:p>
        </p:txBody>
      </p:sp>
      <p:sp>
        <p:nvSpPr>
          <p:cNvPr id="3" name="Text 0"/>
          <p:cNvSpPr/>
          <p:nvPr>
            <p:ph idx="101" type="body" hasCustomPrompt="1"/>
          </p:nvPr>
        </p:nvSpPr>
        <p:spPr>
          <a:xfrm>
            <a:off x="731520" y="1554480"/>
            <a:ext cx="10698480" cy="4754880"/>
          </a:xfrm>
          <a:prstGeom prst="rect">
            <a:avLst/>
          </a:prstGeom>
          <a:noFill/>
          <a:ln/>
        </p:spPr>
        <p:txBody>
          <a:bodyPr wrap="square" rtlCol="0" anchor="t"/>
          <a:lstStyle/>
          <a:p>
            <a:pPr algn="l" marL="342900" indent="-342900">
              <a:spcAft>
                <a:spcPts val="1000"/>
              </a:spcAft>
              <a:buSzPct val="100000"/>
              <a:buChar char="•"/>
            </a:pPr>
            <a:r>
              <a:rPr lang="en-US" sz="2400" dirty="0">
                <a:solidFill>
                  <a:srgbClr val="FFFFFF"/>
                </a:solidFill>
              </a:rPr>
              <a:t>COUNT(*), COUNT(DISTINCT x)</a:t>
            </a:r>
            <a:endParaRPr lang="en-US" sz="2400" dirty="0"/>
          </a:p>
          <a:p>
            <a:pPr algn="l" marL="342900" indent="-342900">
              <a:spcAft>
                <a:spcPts val="1000"/>
              </a:spcAft>
              <a:buSzPct val="100000"/>
              <a:buChar char="•"/>
            </a:pPr>
            <a:r>
              <a:rPr lang="en-US" sz="2400" dirty="0">
                <a:solidFill>
                  <a:srgbClr val="FFFFFF"/>
                </a:solidFill>
              </a:rPr>
              <a:t>SUM, AVG, MIN, MAX</a:t>
            </a:r>
            <a:endParaRPr lang="en-US" sz="2400" dirty="0"/>
          </a:p>
          <a:p>
            <a:pPr algn="l" marL="342900" indent="-342900">
              <a:spcAft>
                <a:spcPts val="1000"/>
              </a:spcAft>
              <a:buSzPct val="100000"/>
              <a:buChar char="•"/>
            </a:pPr>
            <a:r>
              <a:rPr lang="en-US" sz="2400" dirty="0">
                <a:solidFill>
                  <a:srgbClr val="FFFFFF"/>
                </a:solidFill>
              </a:rPr>
              <a:t>Aggregates ignore NULLs (except COUNT(*))</a:t>
            </a:r>
            <a:endParaRPr lang="en-US" sz="2400" dirty="0"/>
          </a:p>
          <a:p>
            <a:pPr algn="l" marL="342900" indent="-342900">
              <a:spcAft>
                <a:spcPts val="1000"/>
              </a:spcAft>
              <a:buSzPct val="100000"/>
              <a:buChar char="•"/>
            </a:pPr>
            <a:r>
              <a:rPr lang="en-US" sz="2400" dirty="0">
                <a:solidFill>
                  <a:srgbClr val="FFFFFF"/>
                </a:solidFill>
              </a:rPr>
              <a:t>Without GROUP BY: one row out</a:t>
            </a:r>
            <a:endParaRPr lang="en-US" sz="2400" dirty="0"/>
          </a:p>
        </p:txBody>
      </p:sp>
      <p:sp>
        <p:nvSpPr>
          <p:cNvPr id="25" name="Slide Number Placeholder 0"/>
          <p:cNvSpPr>
            <a:spLocks noGrp="1"/>
          </p:cNvSpPr>
          <p:nvPr>
            <p:ph type="sldNum" sz="quarter" idx="4294967295"/>
          </p:nvPr>
        </p:nvSpPr>
        <p:spPr>
          <a:xfrm>
            <a:off x="1097280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FBFBF"/>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731520" y="457200"/>
            <a:ext cx="10698480" cy="822960"/>
          </a:xfrm>
          <a:prstGeom prst="rect">
            <a:avLst/>
          </a:prstGeom>
          <a:noFill/>
          <a:ln/>
        </p:spPr>
        <p:txBody>
          <a:bodyPr wrap="square" lIns="0" tIns="0" rIns="0" bIns="0" rtlCol="0" anchor="t"/>
          <a:lstStyle/>
          <a:p>
            <a:pPr algn="l" indent="0" marL="0">
              <a:buNone/>
            </a:pPr>
            <a:r>
              <a:rPr lang="en-US" sz="3200" b="1" dirty="0">
                <a:solidFill>
                  <a:srgbClr val="FFFFFF"/>
                </a:solidFill>
              </a:rPr>
              <a:t>Claims vs. people</a:t>
            </a:r>
            <a:endParaRPr lang="en-US" sz="3200" dirty="0"/>
          </a:p>
        </p:txBody>
      </p:sp>
      <p:sp>
        <p:nvSpPr>
          <p:cNvPr id="3" name="Text 0"/>
          <p:cNvSpPr/>
          <p:nvPr>
            <p:ph idx="101" type="body" hasCustomPrompt="1"/>
          </p:nvPr>
        </p:nvSpPr>
        <p:spPr>
          <a:xfrm>
            <a:off x="731520" y="1554480"/>
            <a:ext cx="10698480" cy="4754880"/>
          </a:xfrm>
          <a:prstGeom prst="rect">
            <a:avLst/>
          </a:prstGeom>
          <a:noFill/>
          <a:ln/>
        </p:spPr>
        <p:txBody>
          <a:bodyPr wrap="square" rtlCol="0" anchor="t"/>
          <a:lstStyle/>
          <a:p>
            <a:pPr algn="l" marL="342900" indent="-342900">
              <a:spcAft>
                <a:spcPts val="1000"/>
              </a:spcAft>
              <a:buSzPct val="100000"/>
              <a:buChar char="•"/>
            </a:pPr>
            <a:r>
              <a:rPr lang="en-US" sz="2400" dirty="0">
                <a:solidFill>
                  <a:srgbClr val="FFFFFF"/>
                </a:solidFill>
              </a:rPr>
              <a:t>One member has many claims</a:t>
            </a:r>
            <a:endParaRPr lang="en-US" sz="2400" dirty="0"/>
          </a:p>
          <a:p>
            <a:pPr algn="l" marL="342900" indent="-342900">
              <a:spcAft>
                <a:spcPts val="1000"/>
              </a:spcAft>
              <a:buSzPct val="100000"/>
              <a:buChar char="•"/>
            </a:pPr>
            <a:r>
              <a:rPr lang="en-US" sz="2400" dirty="0">
                <a:solidFill>
                  <a:srgbClr val="FFFFFF"/>
                </a:solidFill>
              </a:rPr>
              <a:t>COUNT(*) counts rows; COUNT(DISTINCT member_id) counts people</a:t>
            </a:r>
            <a:endParaRPr lang="en-US" sz="2400" dirty="0"/>
          </a:p>
          <a:p>
            <a:pPr algn="l" marL="342900" indent="-342900">
              <a:spcAft>
                <a:spcPts val="1000"/>
              </a:spcAft>
              <a:buSzPct val="100000"/>
              <a:buChar char="•"/>
            </a:pPr>
            <a:r>
              <a:rPr lang="en-US" sz="2400" dirty="0">
                <a:solidFill>
                  <a:srgbClr val="FFFFFF"/>
                </a:solidFill>
              </a:rPr>
              <a:t>Always name the unit in your answer</a:t>
            </a:r>
            <a:endParaRPr lang="en-US" sz="2400" dirty="0"/>
          </a:p>
          <a:p>
            <a:pPr algn="l" marL="342900" indent="-342900">
              <a:spcAft>
                <a:spcPts val="1000"/>
              </a:spcAft>
              <a:buSzPct val="100000"/>
              <a:buChar char="•"/>
            </a:pPr>
            <a:r>
              <a:rPr lang="en-US" sz="2400" dirty="0">
                <a:solidFill>
                  <a:srgbClr val="FFFFFF"/>
                </a:solidFill>
              </a:rPr>
              <a:t>Charges vs. allowed vs. paid</a:t>
            </a:r>
            <a:endParaRPr lang="en-US" sz="2400" dirty="0"/>
          </a:p>
        </p:txBody>
      </p:sp>
      <p:sp>
        <p:nvSpPr>
          <p:cNvPr id="25" name="Slide Number Placeholder 0"/>
          <p:cNvSpPr>
            <a:spLocks noGrp="1"/>
          </p:cNvSpPr>
          <p:nvPr>
            <p:ph type="sldNum" sz="quarter" idx="4294967295"/>
          </p:nvPr>
        </p:nvSpPr>
        <p:spPr>
          <a:xfrm>
            <a:off x="1097280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FBFBF"/>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731520" y="457200"/>
            <a:ext cx="10698480" cy="822960"/>
          </a:xfrm>
          <a:prstGeom prst="rect">
            <a:avLst/>
          </a:prstGeom>
          <a:noFill/>
          <a:ln/>
        </p:spPr>
        <p:txBody>
          <a:bodyPr wrap="square" lIns="0" tIns="0" rIns="0" bIns="0" rtlCol="0" anchor="t"/>
          <a:lstStyle/>
          <a:p>
            <a:pPr algn="l" indent="0" marL="0">
              <a:buNone/>
            </a:pPr>
            <a:r>
              <a:rPr lang="en-US" sz="3200" b="1" dirty="0">
                <a:solidFill>
                  <a:srgbClr val="FFFFFF"/>
                </a:solidFill>
              </a:rPr>
              <a:t>Writing readable SQL</a:t>
            </a:r>
            <a:endParaRPr lang="en-US" sz="3200" dirty="0"/>
          </a:p>
        </p:txBody>
      </p:sp>
      <p:sp>
        <p:nvSpPr>
          <p:cNvPr id="3" name="Text 0"/>
          <p:cNvSpPr/>
          <p:nvPr>
            <p:ph idx="101" type="body" hasCustomPrompt="1"/>
          </p:nvPr>
        </p:nvSpPr>
        <p:spPr>
          <a:xfrm>
            <a:off x="731520" y="1554480"/>
            <a:ext cx="10698480" cy="4754880"/>
          </a:xfrm>
          <a:prstGeom prst="rect">
            <a:avLst/>
          </a:prstGeom>
          <a:noFill/>
          <a:ln/>
        </p:spPr>
        <p:txBody>
          <a:bodyPr wrap="square" rtlCol="0" anchor="t"/>
          <a:lstStyle/>
          <a:p>
            <a:pPr algn="l" marL="342900" indent="-342900">
              <a:spcAft>
                <a:spcPts val="1000"/>
              </a:spcAft>
              <a:buSzPct val="100000"/>
              <a:buChar char="•"/>
            </a:pPr>
            <a:r>
              <a:rPr lang="en-US" sz="2400" dirty="0">
                <a:solidFill>
                  <a:srgbClr val="FFFFFF"/>
                </a:solidFill>
              </a:rPr>
              <a:t>One clause per line</a:t>
            </a:r>
            <a:endParaRPr lang="en-US" sz="2400" dirty="0"/>
          </a:p>
          <a:p>
            <a:pPr algn="l" marL="342900" indent="-342900">
              <a:spcAft>
                <a:spcPts val="1000"/>
              </a:spcAft>
              <a:buSzPct val="100000"/>
              <a:buChar char="•"/>
            </a:pPr>
            <a:r>
              <a:rPr lang="en-US" sz="2400" dirty="0">
                <a:solidFill>
                  <a:srgbClr val="FFFFFF"/>
                </a:solidFill>
              </a:rPr>
              <a:t>Keywords in capitals</a:t>
            </a:r>
            <a:endParaRPr lang="en-US" sz="2400" dirty="0"/>
          </a:p>
          <a:p>
            <a:pPr algn="l" marL="342900" indent="-342900">
              <a:spcAft>
                <a:spcPts val="1000"/>
              </a:spcAft>
              <a:buSzPct val="100000"/>
              <a:buChar char="•"/>
            </a:pPr>
            <a:r>
              <a:rPr lang="en-US" sz="2400" dirty="0">
                <a:solidFill>
                  <a:srgbClr val="FFFFFF"/>
                </a:solidFill>
              </a:rPr>
              <a:t>Meaningful aliases</a:t>
            </a:r>
            <a:endParaRPr lang="en-US" sz="2400" dirty="0"/>
          </a:p>
          <a:p>
            <a:pPr algn="l" marL="342900" indent="-342900">
              <a:spcAft>
                <a:spcPts val="1000"/>
              </a:spcAft>
              <a:buSzPct val="100000"/>
              <a:buChar char="•"/>
            </a:pPr>
            <a:r>
              <a:rPr lang="en-US" sz="2400" dirty="0">
                <a:solidFill>
                  <a:srgbClr val="FFFFFF"/>
                </a:solidFill>
              </a:rPr>
              <a:t>Comment the why: -- excludes self-pay</a:t>
            </a:r>
            <a:endParaRPr lang="en-US" sz="2400" dirty="0"/>
          </a:p>
        </p:txBody>
      </p:sp>
      <p:sp>
        <p:nvSpPr>
          <p:cNvPr id="25" name="Slide Number Placeholder 0"/>
          <p:cNvSpPr>
            <a:spLocks noGrp="1"/>
          </p:cNvSpPr>
          <p:nvPr>
            <p:ph type="sldNum" sz="quarter" idx="4294967295"/>
          </p:nvPr>
        </p:nvSpPr>
        <p:spPr>
          <a:xfrm>
            <a:off x="1097280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FBFBF"/>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731520" y="457200"/>
            <a:ext cx="10698480" cy="822960"/>
          </a:xfrm>
          <a:prstGeom prst="rect">
            <a:avLst/>
          </a:prstGeom>
          <a:noFill/>
          <a:ln/>
        </p:spPr>
        <p:txBody>
          <a:bodyPr wrap="square" lIns="0" tIns="0" rIns="0" bIns="0" rtlCol="0" anchor="t"/>
          <a:lstStyle/>
          <a:p>
            <a:pPr algn="l" indent="0" marL="0">
              <a:buNone/>
            </a:pPr>
            <a:r>
              <a:rPr lang="en-US" sz="3200" b="1" dirty="0">
                <a:solidFill>
                  <a:srgbClr val="FFFFFF"/>
                </a:solidFill>
              </a:rPr>
              <a:t>Example: 2025 paid by claim status</a:t>
            </a:r>
            <a:endParaRPr lang="en-US" sz="3200" dirty="0"/>
          </a:p>
        </p:txBody>
      </p:sp>
      <p:sp>
        <p:nvSpPr>
          <p:cNvPr id="3" name="Text 0"/>
          <p:cNvSpPr/>
          <p:nvPr>
            <p:ph idx="101" type="body" hasCustomPrompt="1"/>
          </p:nvPr>
        </p:nvSpPr>
        <p:spPr>
          <a:xfrm>
            <a:off x="731520" y="1554480"/>
            <a:ext cx="10698480" cy="4754880"/>
          </a:xfrm>
          <a:prstGeom prst="rect">
            <a:avLst/>
          </a:prstGeom>
          <a:noFill/>
          <a:ln/>
        </p:spPr>
        <p:txBody>
          <a:bodyPr wrap="square" rtlCol="0" anchor="t"/>
          <a:lstStyle/>
          <a:p>
            <a:pPr algn="l" indent="0" marL="0">
              <a:spcAft>
                <a:spcPts val="10"/>
              </a:spcAft>
              <a:buNone/>
            </a:pPr>
            <a:r>
              <a:rPr lang="en-US" sz="1600" dirty="0">
                <a:solidFill>
                  <a:srgbClr val="FFFFFF"/>
                </a:solidFill>
                <a:latin typeface="Courier New" pitchFamily="34" charset="0"/>
                <a:ea typeface="Courier New" pitchFamily="34" charset="-122"/>
                <a:cs typeface="Courier New" pitchFamily="34" charset="-120"/>
              </a:rPr>
              <a:t>SELECT claim_status,</a:t>
            </a:r>
            <a:endParaRPr lang="en-US" sz="2400" dirty="0"/>
          </a:p>
          <a:p>
            <a:pPr algn="l" indent="0" marL="0">
              <a:spcAft>
                <a:spcPts val="10"/>
              </a:spcAft>
              <a:buNone/>
            </a:pPr>
            <a:r>
              <a:rPr lang="en-US" sz="1600" dirty="0">
                <a:solidFill>
                  <a:srgbClr val="FFFFFF"/>
                </a:solidFill>
                <a:latin typeface="Courier New" pitchFamily="34" charset="0"/>
                <a:ea typeface="Courier New" pitchFamily="34" charset="-122"/>
                <a:cs typeface="Courier New" pitchFamily="34" charset="-120"/>
              </a:rPr>
              <a:t>       COUNT(*)                   AS claims,</a:t>
            </a:r>
            <a:endParaRPr lang="en-US" sz="2400" dirty="0"/>
          </a:p>
          <a:p>
            <a:pPr algn="l" indent="0" marL="0">
              <a:spcAft>
                <a:spcPts val="10"/>
              </a:spcAft>
              <a:buNone/>
            </a:pPr>
            <a:r>
              <a:rPr lang="en-US" sz="1600" dirty="0">
                <a:solidFill>
                  <a:srgbClr val="FFFFFF"/>
                </a:solidFill>
                <a:latin typeface="Courier New" pitchFamily="34" charset="0"/>
                <a:ea typeface="Courier New" pitchFamily="34" charset="-122"/>
                <a:cs typeface="Courier New" pitchFamily="34" charset="-120"/>
              </a:rPr>
              <a:t>       SUM(total_paid)            AS paid</a:t>
            </a:r>
            <a:endParaRPr lang="en-US" sz="2400" dirty="0"/>
          </a:p>
          <a:p>
            <a:pPr algn="l" indent="0" marL="0">
              <a:spcAft>
                <a:spcPts val="10"/>
              </a:spcAft>
              <a:buNone/>
            </a:pPr>
            <a:r>
              <a:rPr lang="en-US" sz="1600" dirty="0">
                <a:solidFill>
                  <a:srgbClr val="FFFFFF"/>
                </a:solidFill>
                <a:latin typeface="Courier New" pitchFamily="34" charset="0"/>
                <a:ea typeface="Courier New" pitchFamily="34" charset="-122"/>
                <a:cs typeface="Courier New" pitchFamily="34" charset="-120"/>
              </a:rPr>
              <a:t>FROM medical_claims</a:t>
            </a:r>
            <a:endParaRPr lang="en-US" sz="2400" dirty="0"/>
          </a:p>
          <a:p>
            <a:pPr algn="l" indent="0" marL="0">
              <a:spcAft>
                <a:spcPts val="10"/>
              </a:spcAft>
              <a:buNone/>
            </a:pPr>
            <a:r>
              <a:rPr lang="en-US" sz="1600" dirty="0">
                <a:solidFill>
                  <a:srgbClr val="FFFFFF"/>
                </a:solidFill>
                <a:latin typeface="Courier New" pitchFamily="34" charset="0"/>
                <a:ea typeface="Courier New" pitchFamily="34" charset="-122"/>
                <a:cs typeface="Courier New" pitchFamily="34" charset="-120"/>
              </a:rPr>
              <a:t>WHERE service_from_date &gt;= DATE '2025-01-01'</a:t>
            </a:r>
            <a:endParaRPr lang="en-US" sz="2400" dirty="0"/>
          </a:p>
          <a:p>
            <a:pPr algn="l" indent="0" marL="0">
              <a:spcAft>
                <a:spcPts val="10"/>
              </a:spcAft>
              <a:buNone/>
            </a:pPr>
            <a:r>
              <a:rPr lang="en-US" sz="1600" dirty="0">
                <a:solidFill>
                  <a:srgbClr val="FFFFFF"/>
                </a:solidFill>
                <a:latin typeface="Courier New" pitchFamily="34" charset="0"/>
                <a:ea typeface="Courier New" pitchFamily="34" charset="-122"/>
                <a:cs typeface="Courier New" pitchFamily="34" charset="-120"/>
              </a:rPr>
              <a:t>  AND service_from_date &lt;  DATE '2026-01-01'</a:t>
            </a:r>
            <a:endParaRPr lang="en-US" sz="2400" dirty="0"/>
          </a:p>
          <a:p>
            <a:pPr algn="l" indent="0" marL="0">
              <a:spcAft>
                <a:spcPts val="10"/>
              </a:spcAft>
              <a:buNone/>
            </a:pPr>
            <a:r>
              <a:rPr lang="en-US" sz="1600" dirty="0">
                <a:solidFill>
                  <a:srgbClr val="FFFFFF"/>
                </a:solidFill>
                <a:latin typeface="Courier New" pitchFamily="34" charset="0"/>
                <a:ea typeface="Courier New" pitchFamily="34" charset="-122"/>
                <a:cs typeface="Courier New" pitchFamily="34" charset="-120"/>
              </a:rPr>
              <a:t>GROUP BY claim_status</a:t>
            </a:r>
            <a:endParaRPr lang="en-US" sz="2400" dirty="0"/>
          </a:p>
          <a:p>
            <a:pPr algn="l" indent="0" marL="0">
              <a:spcAft>
                <a:spcPts val="10"/>
              </a:spcAft>
              <a:buNone/>
            </a:pPr>
            <a:r>
              <a:rPr lang="en-US" sz="1600" dirty="0">
                <a:solidFill>
                  <a:srgbClr val="FFFFFF"/>
                </a:solidFill>
                <a:latin typeface="Courier New" pitchFamily="34" charset="0"/>
                <a:ea typeface="Courier New" pitchFamily="34" charset="-122"/>
                <a:cs typeface="Courier New" pitchFamily="34" charset="-120"/>
              </a:rPr>
              <a:t>ORDER BY paid DESC;</a:t>
            </a:r>
            <a:endParaRPr lang="en-US" sz="2400" dirty="0"/>
          </a:p>
        </p:txBody>
      </p:sp>
      <p:sp>
        <p:nvSpPr>
          <p:cNvPr id="25" name="Slide Number Placeholder 0"/>
          <p:cNvSpPr>
            <a:spLocks noGrp="1"/>
          </p:cNvSpPr>
          <p:nvPr>
            <p:ph type="sldNum" sz="quarter" idx="4294967295"/>
          </p:nvPr>
        </p:nvSpPr>
        <p:spPr>
          <a:xfrm>
            <a:off x="1097280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FBFBF"/>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731520" y="457200"/>
            <a:ext cx="10698480" cy="822960"/>
          </a:xfrm>
          <a:prstGeom prst="rect">
            <a:avLst/>
          </a:prstGeom>
          <a:noFill/>
          <a:ln/>
        </p:spPr>
        <p:txBody>
          <a:bodyPr wrap="square" lIns="0" tIns="0" rIns="0" bIns="0" rtlCol="0" anchor="t"/>
          <a:lstStyle/>
          <a:p>
            <a:pPr algn="l" indent="0" marL="0">
              <a:buNone/>
            </a:pPr>
            <a:r>
              <a:rPr lang="en-US" sz="3200" b="1" dirty="0">
                <a:solidFill>
                  <a:srgbClr val="FFFFFF"/>
                </a:solidFill>
              </a:rPr>
              <a:t>Sanity-check every answer</a:t>
            </a:r>
            <a:endParaRPr lang="en-US" sz="3200" dirty="0"/>
          </a:p>
        </p:txBody>
      </p:sp>
      <p:sp>
        <p:nvSpPr>
          <p:cNvPr id="3" name="Text 0"/>
          <p:cNvSpPr/>
          <p:nvPr>
            <p:ph idx="101" type="body" hasCustomPrompt="1"/>
          </p:nvPr>
        </p:nvSpPr>
        <p:spPr>
          <a:xfrm>
            <a:off x="731520" y="1554480"/>
            <a:ext cx="10698480" cy="4754880"/>
          </a:xfrm>
          <a:prstGeom prst="rect">
            <a:avLst/>
          </a:prstGeom>
          <a:noFill/>
          <a:ln/>
        </p:spPr>
        <p:txBody>
          <a:bodyPr wrap="square" rtlCol="0" anchor="t"/>
          <a:lstStyle/>
          <a:p>
            <a:pPr algn="l" marL="342900" indent="-342900">
              <a:spcAft>
                <a:spcPts val="1000"/>
              </a:spcAft>
              <a:buSzPct val="100000"/>
              <a:buChar char="•"/>
            </a:pPr>
            <a:r>
              <a:rPr lang="en-US" sz="2400" dirty="0">
                <a:solidFill>
                  <a:srgbClr val="FFFFFF"/>
                </a:solidFill>
              </a:rPr>
              <a:t>Look at a few raw rows first</a:t>
            </a:r>
            <a:endParaRPr lang="en-US" sz="2400" dirty="0"/>
          </a:p>
          <a:p>
            <a:pPr algn="l" marL="342900" indent="-342900">
              <a:spcAft>
                <a:spcPts val="1000"/>
              </a:spcAft>
              <a:buSzPct val="100000"/>
              <a:buChar char="•"/>
            </a:pPr>
            <a:r>
              <a:rPr lang="en-US" sz="2400" dirty="0">
                <a:solidFill>
                  <a:srgbClr val="FFFFFF"/>
                </a:solidFill>
              </a:rPr>
              <a:t>Compare totals with something you know</a:t>
            </a:r>
            <a:endParaRPr lang="en-US" sz="2400" dirty="0"/>
          </a:p>
          <a:p>
            <a:pPr algn="l" marL="342900" indent="-342900">
              <a:spcAft>
                <a:spcPts val="1000"/>
              </a:spcAft>
              <a:buSzPct val="100000"/>
              <a:buChar char="•"/>
            </a:pPr>
            <a:r>
              <a:rPr lang="en-US" sz="2400" dirty="0">
                <a:solidFill>
                  <a:srgbClr val="FFFFFF"/>
                </a:solidFill>
              </a:rPr>
              <a:t>Watch for denied, pending and self-pay claims</a:t>
            </a:r>
            <a:endParaRPr lang="en-US" sz="2400" dirty="0"/>
          </a:p>
          <a:p>
            <a:pPr algn="l" marL="342900" indent="-342900">
              <a:spcAft>
                <a:spcPts val="1000"/>
              </a:spcAft>
              <a:buSzPct val="100000"/>
              <a:buChar char="•"/>
            </a:pPr>
            <a:r>
              <a:rPr lang="en-US" sz="2400" dirty="0">
                <a:solidFill>
                  <a:srgbClr val="FFFFFF"/>
                </a:solidFill>
              </a:rPr>
              <a:t>Be suspicious of round or huge numbers</a:t>
            </a:r>
            <a:endParaRPr lang="en-US" sz="2400" dirty="0"/>
          </a:p>
        </p:txBody>
      </p:sp>
      <p:sp>
        <p:nvSpPr>
          <p:cNvPr id="25" name="Slide Number Placeholder 0"/>
          <p:cNvSpPr>
            <a:spLocks noGrp="1"/>
          </p:cNvSpPr>
          <p:nvPr>
            <p:ph type="sldNum" sz="quarter" idx="4294967295"/>
          </p:nvPr>
        </p:nvSpPr>
        <p:spPr>
          <a:xfrm>
            <a:off x="1097280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FBFBF"/>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731520" y="457200"/>
            <a:ext cx="10698480" cy="822960"/>
          </a:xfrm>
          <a:prstGeom prst="rect">
            <a:avLst/>
          </a:prstGeom>
          <a:noFill/>
          <a:ln/>
        </p:spPr>
        <p:txBody>
          <a:bodyPr wrap="square" lIns="0" tIns="0" rIns="0" bIns="0" rtlCol="0" anchor="t"/>
          <a:lstStyle/>
          <a:p>
            <a:pPr algn="l" indent="0" marL="0">
              <a:buNone/>
            </a:pPr>
            <a:r>
              <a:rPr lang="en-US" sz="3200" b="1" dirty="0">
                <a:solidFill>
                  <a:srgbClr val="FFFFFF"/>
                </a:solidFill>
              </a:rPr>
              <a:t>Lab 2: Querying Claims Data</a:t>
            </a:r>
            <a:endParaRPr lang="en-US" sz="3200" dirty="0"/>
          </a:p>
        </p:txBody>
      </p:sp>
      <p:sp>
        <p:nvSpPr>
          <p:cNvPr id="3" name="Text 0"/>
          <p:cNvSpPr/>
          <p:nvPr>
            <p:ph idx="101" type="body" hasCustomPrompt="1"/>
          </p:nvPr>
        </p:nvSpPr>
        <p:spPr>
          <a:xfrm>
            <a:off x="731520" y="1554480"/>
            <a:ext cx="10698480" cy="4754880"/>
          </a:xfrm>
          <a:prstGeom prst="rect">
            <a:avLst/>
          </a:prstGeom>
          <a:noFill/>
          <a:ln/>
        </p:spPr>
        <p:txBody>
          <a:bodyPr wrap="square" rtlCol="0" anchor="t"/>
          <a:lstStyle/>
          <a:p>
            <a:pPr algn="l" marL="342900" indent="-342900">
              <a:spcAft>
                <a:spcPts val="400"/>
              </a:spcAft>
              <a:buSzPct val="100000"/>
              <a:buChar char="•"/>
            </a:pPr>
            <a:r>
              <a:rPr lang="en-US" sz="1800" dirty="0">
                <a:solidFill>
                  <a:srgbClr val="FFFFFF"/>
                </a:solidFill>
              </a:rPr>
              <a:t>Question: Understory Health's CFO asks: how much did payers pay us last year, and which payers are slowest to pay?</a:t>
            </a:r>
            <a:endParaRPr lang="en-US" sz="2400" dirty="0"/>
          </a:p>
          <a:p>
            <a:pPr algn="l" marL="342900" indent="-342900">
              <a:spcAft>
                <a:spcPts val="400"/>
              </a:spcAft>
              <a:buSzPct val="100000"/>
              <a:buChar char="•"/>
            </a:pPr>
            <a:r>
              <a:rPr lang="en-US" sz="1800" dirty="0">
                <a:solidFill>
                  <a:srgbClr val="FFFFFF"/>
                </a:solidFill>
              </a:rPr>
              <a:t>Tool: DBeaver · about 60 minutes</a:t>
            </a:r>
            <a:endParaRPr lang="en-US" sz="2400" dirty="0"/>
          </a:p>
          <a:p>
            <a:pPr algn="l" marL="342900" indent="-342900">
              <a:spcAft>
                <a:spcPts val="400"/>
              </a:spcAft>
              <a:buSzPct val="100000"/>
              <a:buChar char="•"/>
            </a:pPr>
            <a:r>
              <a:rPr lang="en-US" sz="1800" dirty="0">
                <a:solidFill>
                  <a:srgbClr val="FFFFFF"/>
                </a:solidFill>
              </a:rPr>
              <a:t>Tasks:</a:t>
            </a:r>
            <a:endParaRPr lang="en-US" sz="2400" dirty="0"/>
          </a:p>
          <a:p>
            <a:pPr algn="l" lvl="1" marL="685800" indent="-342900">
              <a:spcAft>
                <a:spcPts val="400"/>
              </a:spcAft>
              <a:buSzPct val="100000"/>
              <a:buChar char="•"/>
            </a:pPr>
            <a:r>
              <a:rPr lang="en-US" sz="1600" dirty="0">
                <a:solidFill>
                  <a:srgbClr val="FFFFFF"/>
                </a:solidFill>
              </a:rPr>
              <a:t>Size up 2025</a:t>
            </a:r>
            <a:endParaRPr lang="en-US" sz="2400" dirty="0"/>
          </a:p>
          <a:p>
            <a:pPr algn="l" lvl="1" marL="685800" indent="-342900">
              <a:spcAft>
                <a:spcPts val="400"/>
              </a:spcAft>
              <a:buSzPct val="100000"/>
              <a:buChar char="•"/>
            </a:pPr>
            <a:r>
              <a:rPr lang="en-US" sz="1600" dirty="0">
                <a:solidFill>
                  <a:srgbClr val="FFFFFF"/>
                </a:solidFill>
              </a:rPr>
              <a:t>Understory Regional Medical Center</a:t>
            </a:r>
            <a:endParaRPr lang="en-US" sz="2400" dirty="0"/>
          </a:p>
          <a:p>
            <a:pPr algn="l" lvl="1" marL="685800" indent="-342900">
              <a:spcAft>
                <a:spcPts val="400"/>
              </a:spcAft>
              <a:buSzPct val="100000"/>
              <a:buChar char="•"/>
            </a:pPr>
            <a:r>
              <a:rPr lang="en-US" sz="1600" dirty="0">
                <a:solidFill>
                  <a:srgbClr val="FFFFFF"/>
                </a:solidFill>
              </a:rPr>
              <a:t>Days to pay by payer</a:t>
            </a:r>
            <a:endParaRPr lang="en-US" sz="2400" dirty="0"/>
          </a:p>
          <a:p>
            <a:pPr algn="l" lvl="1" marL="685800" indent="-342900">
              <a:spcAft>
                <a:spcPts val="400"/>
              </a:spcAft>
              <a:buSzPct val="100000"/>
              <a:buChar char="•"/>
            </a:pPr>
            <a:r>
              <a:rPr lang="en-US" sz="1600" dirty="0">
                <a:solidFill>
                  <a:srgbClr val="FFFFFF"/>
                </a:solidFill>
              </a:rPr>
              <a:t>AI step: check an AI tool's answer</a:t>
            </a:r>
            <a:endParaRPr lang="en-US" sz="2400" dirty="0"/>
          </a:p>
          <a:p>
            <a:pPr algn="l" marL="342900" indent="-342900">
              <a:spcAft>
                <a:spcPts val="400"/>
              </a:spcAft>
              <a:buSzPct val="100000"/>
              <a:buChar char="•"/>
            </a:pPr>
            <a:r>
              <a:rPr lang="en-US" sz="1800" dirty="0">
                <a:solidFill>
                  <a:srgbClr val="FFFFFF"/>
                </a:solidFill>
              </a:rPr>
              <a:t>Deliverable: SQL file plus 3–5 sentences to the CFO: total paid, the payment-to-charge ratio and what it means, and the slowest and fastest payers.</a:t>
            </a:r>
            <a:endParaRPr lang="en-US" sz="2400" dirty="0"/>
          </a:p>
        </p:txBody>
      </p:sp>
      <p:sp>
        <p:nvSpPr>
          <p:cNvPr id="25" name="Slide Number Placeholder 0"/>
          <p:cNvSpPr>
            <a:spLocks noGrp="1"/>
          </p:cNvSpPr>
          <p:nvPr>
            <p:ph type="sldNum" sz="quarter" idx="4294967295"/>
          </p:nvPr>
        </p:nvSpPr>
        <p:spPr>
          <a:xfrm>
            <a:off x="1097280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FBFBF"/>
                </a:solidFill>
              </a:defRPr>
            </a:lvl1pPr>
          </a:lstStyle>
          <a:p>
            <a:pPr algn="r"/>
            <a:fld id="{F7021451-1387-4CA6-816F-3879F97B5CBC}" type="slidenum">
              <a:rPr b="0" lang="en-US"/>
              <a:t>11</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Week 2 Technical Seminar: Basic SQL Syntax</dc:title>
  <dc:subject>PptxGenJS Presentation</dc:subject>
  <dc:creator>Health-Data-Analytics</dc:creator>
  <cp:lastModifiedBy>Health-Data-Analytics</cp:lastModifiedBy>
  <cp:revision>1</cp:revision>
  <dcterms:created xsi:type="dcterms:W3CDTF">2026-10-13T20:23:19Z</dcterms:created>
  <dcterms:modified xsi:type="dcterms:W3CDTF">2026-10-13T20:23:19Z</dcterms:modified>
</cp:coreProperties>
</file>